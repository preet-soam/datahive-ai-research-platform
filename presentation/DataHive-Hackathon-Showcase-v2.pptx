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DataHive as a Java web application for research teams. The core story is an end-to-end supervised-learning workflow that preserves dataset context, model settings, status, logs and evaluation results.</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gap in an ordinary research workflow: teams may have a dataset but need structure around its source, training choices, results and collaboration. DataHive makes those records visible in one web workspace.</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organizing principle: the project is the access boundary and context connecting datasets, experiments and collaborators. Each stage produces records the next step can use.</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role boundary explicit. The Administrator owns platform access, projects, resource records, and monitoring. Researchers upload datasets, configure training, track experiments and collaborate. Administration is not the training workspace.</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path in the demo order. The seeded sample CSV is synthetic and exists for demonstration. A user can also upload their own compatible CSV.</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local dataset page shows the synthetic churn baseline with 160 rows, five columns and 2.6 KB. The application records row and column counts and exposes a column profile with types, missing and distinct values.</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exactly how DataHive trains. The model uses dataset values, fits on the training split, then evaluates on the holdout. Logistic regression handles binary classification; the CART decision tree supports multiple classes. The implementation uses deterministic, stratified splitting and fits preprocessing from training data.</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persists the experiment and run state, configuration, timestamped logs, duration and real calculated metrics. Accuracy, precision, recall and F1 are produced from the holdout; tree metrics are macro-averaged. Do not claim results before running the model.</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how access and collaboration work: project owner or authorized collaborators can use project research records. Collaboration adds existing researcher accounts. Profile management supports researcher details and photo.</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admin sections: users and roles, project ownership and lifecycle, compute/storage resource records, usage reports and activity history. Admins do not run training jobs. Resource records describe capacity but do not provision infrastructure.</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project structure and database connectivity for the Java Web rubric. JSP renders views, Servlets handle web routes, filters enforce authentication/roles, services implement CSV and training behavior, and DAO classes use JDBC to persist data. Local training runs in a bounded queue. Hugging Face Jobs is optional and requires server configuration and a public callback URL.</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H2 relational design. Users join projects through project_members. Projects contain datasets. Experiments reference project/dataset configuration and training_runs preserve status. Metrics and timestamped logs belong to runs. Usage and activity records support administration.</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clear about safe operation and current scope. Public deployment should use production credentials and persistent storage. The remote Jobs integration only works when configured and can incur charges. DataHive does not claim to provision compute, run notebooks or save deployable artifacts.</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marking rubric from the supplied hackathon brief. Explain evidence in the application rather than claiming a mark or score. The separate Java GUI rubric does not apply to this Java Web project.</a:t>
            </a:r>
          </a:p>
          <a:p>
            <a:endParaRPr/>
          </a:p>
          <a:p>
            <a:r>
              <a:t>Source: User-provided hackathon rubric screenshot and DataHive repository README.md / ROADMAP.md.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Rehearse this click order. If training is asynchronous, start it early and use the wait time to show the dataset profile and project page. Use a real run’s metrics and logs. Call out that the seed CSV is synthetic.</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a realistic roadmap. The current application supports CSV classification research and tracking, not notebooks or production model deployment. The proposed items are future development work, not features available in this build.</a:t>
            </a:r>
          </a:p>
          <a:p>
            <a:endParaRPr/>
          </a:p>
          <a:p>
            <a:r>
              <a:t>Source: DataHive README.md and ROADMAP.md in the project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58D09BC-5E53-4A8A-9FA6-ACBF34647BC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59F909B-C96D-4029-9E35-835C9130664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3D5875D-E6BB-4C71-B66A-509909E3368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A7254A3-C407-4D29-AC11-71FAC3C7739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659CCC2E-4CEA-428F-B030-072D93B594F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4DCEDEC-7552-48AB-BF15-2F4DB889918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38D566A-397B-49B7-9AEA-5DA46AA5B51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F094E990-8C0C-45BE-BE6E-8EBDCC3D2B4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0B47238-DFA2-4C85-95EC-8AB9093FA18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4CBEF9D-C156-48EF-A90A-CD8D8542CBF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D1A"/>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4F61B9F-D895-4446-A6FA-6680BB21A160}"/>
              </a:ext>
            </a:extLst>
          </p:cNvPr>
          <p:cNvSpPr>
            <a:spLocks noGrp="1"/>
          </p:cNvSpPr>
          <p:nvPr/>
        </p:nvSpPr>
        <p:spPr>
          <a:xfrm>
            <a:off x="609600" y="514350"/>
            <a:ext cx="3429000" cy="285750"/>
          </a:xfrm>
          <a:prstGeom prst="rect">
            <a:avLst/>
          </a:prstGeom>
          <a:noFill/>
          <a:ln w="0">
            <a:noFill/>
            <a:prstDash val="solid"/>
          </a:ln>
        </p:spPr>
        <p:txBody>
          <a:bodyPr wrap="square" lIns="0" tIns="0" rIns="0" bIns="0" anchor="t">
            <a:normAutofit/>
          </a:bodyPr>
          <a:lstStyle>
            <a:defPPr algn="l">
              <a:defRPr sz="1350" b="1">
                <a:solidFill>
                  <a:srgbClr val="A8E66B"/>
                </a:solidFill>
                <a:latin typeface="Arial"/>
                <a:ea typeface="Arial"/>
                <a:cs typeface="Arial"/>
              </a:defRPr>
            </a:defPPr>
          </a:lstStyle>
          <a:p>
            <a:pPr algn="l">
              <a:lnSpc>
                <a:spcPct val="105000"/>
              </a:lnSpc>
              <a:buNone/>
              <a:defRPr sz="1350" b="1">
                <a:solidFill>
                  <a:srgbClr val="A8E66B"/>
                </a:solidFill>
                <a:latin typeface="Arial"/>
                <a:ea typeface="Arial"/>
                <a:cs typeface="Arial"/>
              </a:defRPr>
            </a:pPr>
            <a:r>
              <a:rPr sz="1350" b="1">
                <a:solidFill>
                  <a:srgbClr val="A8E66B"/>
                </a:solidFill>
                <a:latin typeface="Arial"/>
                <a:ea typeface="Arial"/>
                <a:cs typeface="Arial"/>
              </a:rPr>
              <a:t>DATAHIVE</a:t>
            </a:r>
          </a:p>
        </p:txBody>
      </p:sp>
      <p:sp>
        <p:nvSpPr>
          <p:cNvPr id="2" name="Rectangle 1">
            <a:extLst>
              <a:ext uri="{FF2B5EF4-FFF2-40B4-BE49-F238E27FC236}">
                <a16:creationId xmlns:a16="http://schemas.microsoft.com/office/drawing/2014/main" id="{565ED3EE-2005-4293-9D02-84F708DB491E}"/>
              </a:ext>
            </a:extLst>
          </p:cNvPr>
          <p:cNvSpPr>
            <a:spLocks noGrp="1"/>
          </p:cNvSpPr>
          <p:nvPr/>
        </p:nvSpPr>
        <p:spPr>
          <a:xfrm>
            <a:off x="609600" y="1352550"/>
            <a:ext cx="6858000" cy="2571750"/>
          </a:xfrm>
          <a:prstGeom prst="rect">
            <a:avLst/>
          </a:prstGeom>
          <a:noFill/>
          <a:ln w="0">
            <a:noFill/>
            <a:prstDash val="solid"/>
          </a:ln>
        </p:spPr>
        <p:txBody>
          <a:bodyPr wrap="square" lIns="0" tIns="0" rIns="0" bIns="0" anchor="t">
            <a:normAutofit/>
          </a:bodyPr>
          <a:lstStyle>
            <a:defPPr algn="l">
              <a:defRPr sz="4650" b="1">
                <a:solidFill>
                  <a:srgbClr val="FFFFFF"/>
                </a:solidFill>
                <a:latin typeface="Arial"/>
                <a:ea typeface="Arial"/>
                <a:cs typeface="Arial"/>
              </a:defRPr>
            </a:defPPr>
          </a:lstStyle>
          <a:p>
            <a:pPr algn="l">
              <a:lnSpc>
                <a:spcPct val="96000"/>
              </a:lnSpc>
              <a:buNone/>
              <a:defRPr sz="4650" b="1">
                <a:solidFill>
                  <a:srgbClr val="FFFFFF"/>
                </a:solidFill>
                <a:latin typeface="Arial"/>
                <a:ea typeface="Arial"/>
                <a:cs typeface="Arial"/>
              </a:defRPr>
            </a:pPr>
            <a:r>
              <a:rPr sz="4650" b="1">
                <a:solidFill>
                  <a:srgbClr val="FFFFFF"/>
                </a:solidFill>
                <a:latin typeface="Arial"/>
                <a:ea typeface="Arial"/>
                <a:cs typeface="Arial"/>
              </a:rPr>
              <a:t>AI research,</a:t>
            </a:r>
          </a:p>
          <a:p>
            <a:pPr algn="l">
              <a:lnSpc>
                <a:spcPct val="96000"/>
              </a:lnSpc>
              <a:buNone/>
              <a:defRPr sz="4650" b="1">
                <a:solidFill>
                  <a:srgbClr val="FFFFFF"/>
                </a:solidFill>
                <a:latin typeface="Arial"/>
                <a:ea typeface="Arial"/>
                <a:cs typeface="Arial"/>
              </a:defRPr>
            </a:pPr>
            <a:r>
              <a:rPr sz="4650" b="1">
                <a:solidFill>
                  <a:srgbClr val="FFFFFF"/>
                </a:solidFill>
                <a:latin typeface="Arial"/>
                <a:ea typeface="Arial"/>
                <a:cs typeface="Arial"/>
              </a:rPr>
              <a:t>with a path to</a:t>
            </a:r>
          </a:p>
          <a:p>
            <a:pPr algn="l">
              <a:lnSpc>
                <a:spcPct val="96000"/>
              </a:lnSpc>
              <a:buNone/>
              <a:defRPr sz="4650" b="1">
                <a:solidFill>
                  <a:srgbClr val="FFFFFF"/>
                </a:solidFill>
                <a:latin typeface="Arial"/>
                <a:ea typeface="Arial"/>
                <a:cs typeface="Arial"/>
              </a:defRPr>
            </a:pPr>
            <a:r>
              <a:rPr sz="4650" b="1">
                <a:solidFill>
                  <a:srgbClr val="FFFFFF"/>
                </a:solidFill>
                <a:latin typeface="Arial"/>
                <a:ea typeface="Arial"/>
                <a:cs typeface="Arial"/>
              </a:rPr>
              <a:t>measured results.</a:t>
            </a:r>
          </a:p>
        </p:txBody>
      </p:sp>
      <p:sp>
        <p:nvSpPr>
          <p:cNvPr id="3" name="Rectangle 2">
            <a:extLst>
              <a:ext uri="{FF2B5EF4-FFF2-40B4-BE49-F238E27FC236}">
                <a16:creationId xmlns:a16="http://schemas.microsoft.com/office/drawing/2014/main" id="{BB59B87D-BD59-4297-A10D-DA9642B675FF}"/>
              </a:ext>
            </a:extLst>
          </p:cNvPr>
          <p:cNvSpPr>
            <a:spLocks noGrp="1"/>
          </p:cNvSpPr>
          <p:nvPr/>
        </p:nvSpPr>
        <p:spPr>
          <a:xfrm>
            <a:off x="647700" y="4191000"/>
            <a:ext cx="6477000" cy="666750"/>
          </a:xfrm>
          <a:prstGeom prst="rect">
            <a:avLst/>
          </a:prstGeom>
          <a:noFill/>
          <a:ln w="0">
            <a:noFill/>
            <a:prstDash val="solid"/>
          </a:ln>
        </p:spPr>
        <p:txBody>
          <a:bodyPr wrap="square" lIns="0" tIns="0" rIns="0" bIns="0" anchor="t">
            <a:normAutofit/>
          </a:bodyPr>
          <a:lstStyle>
            <a:defPPr algn="l">
              <a:defRPr sz="1725" b="0">
                <a:solidFill>
                  <a:srgbClr val="D0DDD4"/>
                </a:solidFill>
                <a:latin typeface="Arial"/>
                <a:ea typeface="Arial"/>
                <a:cs typeface="Arial"/>
              </a:defRPr>
            </a:defPPr>
          </a:lstStyle>
          <a:p>
            <a:pPr algn="l">
              <a:lnSpc>
                <a:spcPct val="115000"/>
              </a:lnSpc>
              <a:buNone/>
              <a:defRPr sz="1725" b="0">
                <a:solidFill>
                  <a:srgbClr val="D0DDD4"/>
                </a:solidFill>
                <a:latin typeface="Arial"/>
                <a:ea typeface="Arial"/>
                <a:cs typeface="Arial"/>
              </a:defRPr>
            </a:pPr>
            <a:r>
              <a:rPr sz="1725" b="0">
                <a:solidFill>
                  <a:srgbClr val="D0DDD4"/>
                </a:solidFill>
                <a:latin typeface="Arial"/>
                <a:ea typeface="Arial"/>
                <a:cs typeface="Arial"/>
              </a:rPr>
              <a:t>A Java web platform for dataset management, model training,</a:t>
            </a:r>
          </a:p>
          <a:p>
            <a:pPr algn="l">
              <a:lnSpc>
                <a:spcPct val="115000"/>
              </a:lnSpc>
              <a:buNone/>
              <a:defRPr sz="1725" b="0">
                <a:solidFill>
                  <a:srgbClr val="D0DDD4"/>
                </a:solidFill>
                <a:latin typeface="Arial"/>
                <a:ea typeface="Arial"/>
                <a:cs typeface="Arial"/>
              </a:defRPr>
            </a:pPr>
            <a:r>
              <a:rPr sz="1725" b="0">
                <a:solidFill>
                  <a:srgbClr val="D0DDD4"/>
                </a:solidFill>
                <a:latin typeface="Arial"/>
                <a:ea typeface="Arial"/>
                <a:cs typeface="Arial"/>
              </a:rPr>
              <a:t>experiment tracking and collaborative research.</a:t>
            </a:r>
          </a:p>
        </p:txBody>
      </p:sp>
      <p:sp>
        <p:nvSpPr>
          <p:cNvPr id="4" name="Rectangle 3">
            <a:extLst>
              <a:ext uri="{FF2B5EF4-FFF2-40B4-BE49-F238E27FC236}">
                <a16:creationId xmlns:a16="http://schemas.microsoft.com/office/drawing/2014/main" id="{9227924A-1B7D-436E-8810-CF33BE406366}"/>
              </a:ext>
            </a:extLst>
          </p:cNvPr>
          <p:cNvSpPr>
            <a:spLocks noGrp="1"/>
          </p:cNvSpPr>
          <p:nvPr/>
        </p:nvSpPr>
        <p:spPr>
          <a:xfrm>
            <a:off x="647700" y="5295900"/>
            <a:ext cx="4762500" cy="228600"/>
          </a:xfrm>
          <a:prstGeom prst="rect">
            <a:avLst/>
          </a:prstGeom>
          <a:noFill/>
          <a:ln w="0">
            <a:noFill/>
            <a:prstDash val="solid"/>
          </a:ln>
        </p:spPr>
        <p:txBody>
          <a:bodyPr wrap="square" lIns="0" tIns="0" rIns="0" bIns="0" anchor="t">
            <a:normAutofit/>
          </a:bodyPr>
          <a:lstStyle>
            <a:defPPr algn="l">
              <a:defRPr sz="1050" b="1">
                <a:solidFill>
                  <a:srgbClr val="A8E66B"/>
                </a:solidFill>
                <a:latin typeface="Arial"/>
                <a:ea typeface="Arial"/>
                <a:cs typeface="Arial"/>
              </a:defRPr>
            </a:defPPr>
          </a:lstStyle>
          <a:p>
            <a:pPr algn="l">
              <a:lnSpc>
                <a:spcPct val="105000"/>
              </a:lnSpc>
              <a:buNone/>
              <a:defRPr sz="1050" b="1">
                <a:solidFill>
                  <a:srgbClr val="A8E66B"/>
                </a:solidFill>
                <a:latin typeface="Arial"/>
                <a:ea typeface="Arial"/>
                <a:cs typeface="Arial"/>
              </a:defRPr>
            </a:pPr>
            <a:r>
              <a:rPr sz="1050" b="1">
                <a:solidFill>
                  <a:srgbClr val="A8E66B"/>
                </a:solidFill>
                <a:latin typeface="Arial"/>
                <a:ea typeface="Arial"/>
                <a:cs typeface="Arial"/>
              </a:rPr>
              <a:t>HACKATHON PROJECT  /  JAVA WEB</a:t>
            </a:r>
          </a:p>
        </p:txBody>
      </p:sp>
      <p:sp>
        <p:nvSpPr>
          <p:cNvPr id="5" name="Oval 4">
            <a:extLst>
              <a:ext uri="{FF2B5EF4-FFF2-40B4-BE49-F238E27FC236}">
                <a16:creationId xmlns:a16="http://schemas.microsoft.com/office/drawing/2014/main" id="{76E01841-7E8A-441B-89B5-07F34D817301}"/>
              </a:ext>
            </a:extLst>
          </p:cNvPr>
          <p:cNvSpPr>
            <a:spLocks noGrp="1"/>
          </p:cNvSpPr>
          <p:nvPr/>
        </p:nvSpPr>
        <p:spPr>
          <a:xfrm>
            <a:off x="685800" y="5924550"/>
            <a:ext cx="266700" cy="266700"/>
          </a:xfrm>
          <a:prstGeom prst="ellipse">
            <a:avLst/>
          </a:prstGeom>
          <a:solidFill>
            <a:srgbClr val="263A32"/>
          </a:solidFill>
          <a:ln w="0">
            <a:noFill/>
            <a:prstDash val="solid"/>
          </a:ln>
        </p:spPr>
      </p:sp>
      <p:sp>
        <p:nvSpPr>
          <p:cNvPr id="6" name="Rectangle 5">
            <a:extLst>
              <a:ext uri="{FF2B5EF4-FFF2-40B4-BE49-F238E27FC236}">
                <a16:creationId xmlns:a16="http://schemas.microsoft.com/office/drawing/2014/main" id="{F9CC04F9-F906-4CBE-BA46-72B71C2FE1B4}"/>
              </a:ext>
            </a:extLst>
          </p:cNvPr>
          <p:cNvSpPr>
            <a:spLocks noGrp="1"/>
          </p:cNvSpPr>
          <p:nvPr/>
        </p:nvSpPr>
        <p:spPr>
          <a:xfrm>
            <a:off x="685800" y="5981700"/>
            <a:ext cx="266700" cy="142875"/>
          </a:xfrm>
          <a:prstGeom prst="rect">
            <a:avLst/>
          </a:prstGeom>
          <a:noFill/>
          <a:ln w="0">
            <a:noFill/>
            <a:prstDash val="solid"/>
          </a:ln>
        </p:spPr>
        <p:txBody>
          <a:bodyPr wrap="square" lIns="0" tIns="0" rIns="0" bIns="0" anchor="t">
            <a:normAutofit/>
          </a:bodyPr>
          <a:lstStyle>
            <a:defPPr algn="ctr">
              <a:defRPr sz="750" b="1">
                <a:solidFill>
                  <a:srgbClr val="FFFFFF"/>
                </a:solidFill>
                <a:latin typeface="Arial"/>
                <a:ea typeface="Arial"/>
                <a:cs typeface="Arial"/>
              </a:defRPr>
            </a:defPPr>
          </a:lstStyle>
          <a:p>
            <a:pPr algn="ctr">
              <a:lnSpc>
                <a:spcPct val="105000"/>
              </a:lnSpc>
              <a:buNone/>
              <a:defRPr sz="750" b="1">
                <a:solidFill>
                  <a:srgbClr val="FFFFFF"/>
                </a:solidFill>
                <a:latin typeface="Arial"/>
                <a:ea typeface="Arial"/>
                <a:cs typeface="Arial"/>
              </a:defRPr>
            </a:pPr>
            <a:r>
              <a:rPr sz="750" b="1">
                <a:solidFill>
                  <a:srgbClr val="FFFFFF"/>
                </a:solidFill>
                <a:latin typeface="Arial"/>
                <a:ea typeface="Arial"/>
                <a:cs typeface="Arial"/>
              </a:rPr>
              <a:t>01</a:t>
            </a:r>
          </a:p>
        </p:txBody>
      </p:sp>
      <p:sp>
        <p:nvSpPr>
          <p:cNvPr id="7" name="Rectangle 6">
            <a:extLst>
              <a:ext uri="{FF2B5EF4-FFF2-40B4-BE49-F238E27FC236}">
                <a16:creationId xmlns:a16="http://schemas.microsoft.com/office/drawing/2014/main" id="{4C9F433B-D698-4F68-A245-9896669073C2}"/>
              </a:ext>
            </a:extLst>
          </p:cNvPr>
          <p:cNvSpPr>
            <a:spLocks noGrp="1"/>
          </p:cNvSpPr>
          <p:nvPr/>
        </p:nvSpPr>
        <p:spPr>
          <a:xfrm>
            <a:off x="1047750" y="5962650"/>
            <a:ext cx="990600" cy="171450"/>
          </a:xfrm>
          <a:prstGeom prst="rect">
            <a:avLst/>
          </a:prstGeom>
          <a:noFill/>
          <a:ln w="0">
            <a:noFill/>
            <a:prstDash val="solid"/>
          </a:ln>
        </p:spPr>
        <p:txBody>
          <a:bodyPr wrap="square" lIns="0" tIns="0" rIns="0" bIns="0" anchor="t">
            <a:normAutofit/>
          </a:bodyPr>
          <a:lstStyle>
            <a:defPPr algn="l">
              <a:defRPr sz="975" b="1">
                <a:solidFill>
                  <a:srgbClr val="D0DDD4"/>
                </a:solidFill>
                <a:latin typeface="Arial"/>
                <a:ea typeface="Arial"/>
                <a:cs typeface="Arial"/>
              </a:defRPr>
            </a:defPPr>
          </a:lstStyle>
          <a:p>
            <a:pPr algn="l">
              <a:lnSpc>
                <a:spcPct val="105000"/>
              </a:lnSpc>
              <a:buNone/>
              <a:defRPr sz="975" b="1">
                <a:solidFill>
                  <a:srgbClr val="D0DDD4"/>
                </a:solidFill>
                <a:latin typeface="Arial"/>
                <a:ea typeface="Arial"/>
                <a:cs typeface="Arial"/>
              </a:defRPr>
            </a:pPr>
            <a:r>
              <a:rPr sz="975" b="1">
                <a:solidFill>
                  <a:srgbClr val="D0DDD4"/>
                </a:solidFill>
                <a:latin typeface="Arial"/>
                <a:ea typeface="Arial"/>
                <a:cs typeface="Arial"/>
              </a:rPr>
              <a:t>PROJECT</a:t>
            </a:r>
          </a:p>
        </p:txBody>
      </p:sp>
      <p:cxnSp>
        <p:nvCxnSpPr>
          <p:cNvPr id="8" name="Connector: Elbow 7">
            <a:extLst>
              <a:ext uri="{FF2B5EF4-FFF2-40B4-BE49-F238E27FC236}">
                <a16:creationId xmlns:a16="http://schemas.microsoft.com/office/drawing/2014/main" id="{41D33F7C-0DE4-449B-89C0-B646568EECEB}"/>
              </a:ext>
            </a:extLst>
          </p:cNvPr>
          <p:cNvCxnSpPr/>
          <p:nvPr/>
        </p:nvCxnSpPr>
        <p:spPr>
          <a:xfrm>
            <a:off x="2047875" y="6057900"/>
            <a:ext cx="381000" cy="0"/>
          </a:xfrm>
          <a:prstGeom prst="bentConnector4">
            <a:avLst/>
          </a:prstGeom>
          <a:ln w="14288">
            <a:solidFill>
              <a:srgbClr val="617B6C"/>
            </a:solidFill>
            <a:prstDash val="solid"/>
            <a:tailEnd type="arrow" w="med" len="med"/>
          </a:ln>
        </p:spPr>
      </p:cxnSp>
      <p:sp>
        <p:nvSpPr>
          <p:cNvPr id="9" name="Oval 8">
            <a:extLst>
              <a:ext uri="{FF2B5EF4-FFF2-40B4-BE49-F238E27FC236}">
                <a16:creationId xmlns:a16="http://schemas.microsoft.com/office/drawing/2014/main" id="{F5ACD2E5-C860-4AB4-B943-2E12FB3F5369}"/>
              </a:ext>
            </a:extLst>
          </p:cNvPr>
          <p:cNvSpPr>
            <a:spLocks noGrp="1"/>
          </p:cNvSpPr>
          <p:nvPr/>
        </p:nvSpPr>
        <p:spPr>
          <a:xfrm>
            <a:off x="3352800" y="5924550"/>
            <a:ext cx="266700" cy="266700"/>
          </a:xfrm>
          <a:prstGeom prst="ellipse">
            <a:avLst/>
          </a:prstGeom>
          <a:solidFill>
            <a:srgbClr val="263A32"/>
          </a:solidFill>
          <a:ln w="0">
            <a:noFill/>
            <a:prstDash val="solid"/>
          </a:ln>
        </p:spPr>
      </p:sp>
      <p:sp>
        <p:nvSpPr>
          <p:cNvPr id="10" name="Rectangle 9">
            <a:extLst>
              <a:ext uri="{FF2B5EF4-FFF2-40B4-BE49-F238E27FC236}">
                <a16:creationId xmlns:a16="http://schemas.microsoft.com/office/drawing/2014/main" id="{0A2AA35F-C096-41B7-8E15-9AEBED31EA7C}"/>
              </a:ext>
            </a:extLst>
          </p:cNvPr>
          <p:cNvSpPr>
            <a:spLocks noGrp="1"/>
          </p:cNvSpPr>
          <p:nvPr/>
        </p:nvSpPr>
        <p:spPr>
          <a:xfrm>
            <a:off x="3352800" y="5981700"/>
            <a:ext cx="266700" cy="142875"/>
          </a:xfrm>
          <a:prstGeom prst="rect">
            <a:avLst/>
          </a:prstGeom>
          <a:noFill/>
          <a:ln w="0">
            <a:noFill/>
            <a:prstDash val="solid"/>
          </a:ln>
        </p:spPr>
        <p:txBody>
          <a:bodyPr wrap="square" lIns="0" tIns="0" rIns="0" bIns="0" anchor="t">
            <a:normAutofit/>
          </a:bodyPr>
          <a:lstStyle>
            <a:defPPr algn="ctr">
              <a:defRPr sz="750" b="1">
                <a:solidFill>
                  <a:srgbClr val="FFFFFF"/>
                </a:solidFill>
                <a:latin typeface="Arial"/>
                <a:ea typeface="Arial"/>
                <a:cs typeface="Arial"/>
              </a:defRPr>
            </a:defPPr>
          </a:lstStyle>
          <a:p>
            <a:pPr algn="ctr">
              <a:lnSpc>
                <a:spcPct val="105000"/>
              </a:lnSpc>
              <a:buNone/>
              <a:defRPr sz="750" b="1">
                <a:solidFill>
                  <a:srgbClr val="FFFFFF"/>
                </a:solidFill>
                <a:latin typeface="Arial"/>
                <a:ea typeface="Arial"/>
                <a:cs typeface="Arial"/>
              </a:defRPr>
            </a:pPr>
            <a:r>
              <a:rPr sz="750" b="1">
                <a:solidFill>
                  <a:srgbClr val="FFFFFF"/>
                </a:solidFill>
                <a:latin typeface="Arial"/>
                <a:ea typeface="Arial"/>
                <a:cs typeface="Arial"/>
              </a:rPr>
              <a:t>02</a:t>
            </a:r>
          </a:p>
        </p:txBody>
      </p:sp>
      <p:sp>
        <p:nvSpPr>
          <p:cNvPr id="11" name="Rectangle 10">
            <a:extLst>
              <a:ext uri="{FF2B5EF4-FFF2-40B4-BE49-F238E27FC236}">
                <a16:creationId xmlns:a16="http://schemas.microsoft.com/office/drawing/2014/main" id="{817623B1-49B0-4C13-B2AC-965596FAB5F2}"/>
              </a:ext>
            </a:extLst>
          </p:cNvPr>
          <p:cNvSpPr>
            <a:spLocks noGrp="1"/>
          </p:cNvSpPr>
          <p:nvPr/>
        </p:nvSpPr>
        <p:spPr>
          <a:xfrm>
            <a:off x="3714750" y="5962650"/>
            <a:ext cx="990600" cy="171450"/>
          </a:xfrm>
          <a:prstGeom prst="rect">
            <a:avLst/>
          </a:prstGeom>
          <a:noFill/>
          <a:ln w="0">
            <a:noFill/>
            <a:prstDash val="solid"/>
          </a:ln>
        </p:spPr>
        <p:txBody>
          <a:bodyPr wrap="square" lIns="0" tIns="0" rIns="0" bIns="0" anchor="t">
            <a:normAutofit/>
          </a:bodyPr>
          <a:lstStyle>
            <a:defPPr algn="l">
              <a:defRPr sz="975" b="1">
                <a:solidFill>
                  <a:srgbClr val="D0DDD4"/>
                </a:solidFill>
                <a:latin typeface="Arial"/>
                <a:ea typeface="Arial"/>
                <a:cs typeface="Arial"/>
              </a:defRPr>
            </a:defPPr>
          </a:lstStyle>
          <a:p>
            <a:pPr algn="l">
              <a:lnSpc>
                <a:spcPct val="105000"/>
              </a:lnSpc>
              <a:buNone/>
              <a:defRPr sz="975" b="1">
                <a:solidFill>
                  <a:srgbClr val="D0DDD4"/>
                </a:solidFill>
                <a:latin typeface="Arial"/>
                <a:ea typeface="Arial"/>
                <a:cs typeface="Arial"/>
              </a:defRPr>
            </a:pPr>
            <a:r>
              <a:rPr sz="975" b="1">
                <a:solidFill>
                  <a:srgbClr val="D0DDD4"/>
                </a:solidFill>
                <a:latin typeface="Arial"/>
                <a:ea typeface="Arial"/>
                <a:cs typeface="Arial"/>
              </a:rPr>
              <a:t>DATASET</a:t>
            </a:r>
          </a:p>
        </p:txBody>
      </p:sp>
      <p:cxnSp>
        <p:nvCxnSpPr>
          <p:cNvPr id="12" name="Connector: Elbow 11">
            <a:extLst>
              <a:ext uri="{FF2B5EF4-FFF2-40B4-BE49-F238E27FC236}">
                <a16:creationId xmlns:a16="http://schemas.microsoft.com/office/drawing/2014/main" id="{A3AF4493-7B16-428C-A362-CBBBE951A113}"/>
              </a:ext>
            </a:extLst>
          </p:cNvPr>
          <p:cNvCxnSpPr/>
          <p:nvPr/>
        </p:nvCxnSpPr>
        <p:spPr>
          <a:xfrm>
            <a:off x="4714875" y="6057900"/>
            <a:ext cx="381000" cy="0"/>
          </a:xfrm>
          <a:prstGeom prst="bentConnector4">
            <a:avLst/>
          </a:prstGeom>
          <a:ln w="14288">
            <a:solidFill>
              <a:srgbClr val="617B6C"/>
            </a:solidFill>
            <a:prstDash val="solid"/>
            <a:tailEnd type="arrow" w="med" len="med"/>
          </a:ln>
        </p:spPr>
      </p:cxnSp>
      <p:sp>
        <p:nvSpPr>
          <p:cNvPr id="13" name="Oval 12">
            <a:extLst>
              <a:ext uri="{FF2B5EF4-FFF2-40B4-BE49-F238E27FC236}">
                <a16:creationId xmlns:a16="http://schemas.microsoft.com/office/drawing/2014/main" id="{58BC0EA5-23B9-4A13-976C-F363E9CB0E41}"/>
              </a:ext>
            </a:extLst>
          </p:cNvPr>
          <p:cNvSpPr>
            <a:spLocks noGrp="1"/>
          </p:cNvSpPr>
          <p:nvPr/>
        </p:nvSpPr>
        <p:spPr>
          <a:xfrm>
            <a:off x="6019800" y="5924550"/>
            <a:ext cx="266700" cy="266700"/>
          </a:xfrm>
          <a:prstGeom prst="ellipse">
            <a:avLst/>
          </a:prstGeom>
          <a:solidFill>
            <a:srgbClr val="A8E66B"/>
          </a:solidFill>
          <a:ln w="0">
            <a:noFill/>
            <a:prstDash val="solid"/>
          </a:ln>
        </p:spPr>
      </p:sp>
      <p:sp>
        <p:nvSpPr>
          <p:cNvPr id="14" name="Rectangle 13">
            <a:extLst>
              <a:ext uri="{FF2B5EF4-FFF2-40B4-BE49-F238E27FC236}">
                <a16:creationId xmlns:a16="http://schemas.microsoft.com/office/drawing/2014/main" id="{C5FBB735-87A7-4202-9F87-5FA8F7C88E72}"/>
              </a:ext>
            </a:extLst>
          </p:cNvPr>
          <p:cNvSpPr>
            <a:spLocks noGrp="1"/>
          </p:cNvSpPr>
          <p:nvPr/>
        </p:nvSpPr>
        <p:spPr>
          <a:xfrm>
            <a:off x="6019800" y="5981700"/>
            <a:ext cx="266700" cy="142875"/>
          </a:xfrm>
          <a:prstGeom prst="rect">
            <a:avLst/>
          </a:prstGeom>
          <a:noFill/>
          <a:ln w="0">
            <a:noFill/>
            <a:prstDash val="solid"/>
          </a:ln>
        </p:spPr>
        <p:txBody>
          <a:bodyPr wrap="square" lIns="0" tIns="0" rIns="0" bIns="0" anchor="t">
            <a:normAutofit/>
          </a:bodyPr>
          <a:lstStyle>
            <a:defPPr algn="ctr">
              <a:defRPr sz="750" b="1">
                <a:solidFill>
                  <a:srgbClr val="101D1A"/>
                </a:solidFill>
                <a:latin typeface="Arial"/>
                <a:ea typeface="Arial"/>
                <a:cs typeface="Arial"/>
              </a:defRPr>
            </a:defPPr>
          </a:lstStyle>
          <a:p>
            <a:pPr algn="ctr">
              <a:lnSpc>
                <a:spcPct val="105000"/>
              </a:lnSpc>
              <a:buNone/>
              <a:defRPr sz="750" b="1">
                <a:solidFill>
                  <a:srgbClr val="101D1A"/>
                </a:solidFill>
                <a:latin typeface="Arial"/>
                <a:ea typeface="Arial"/>
                <a:cs typeface="Arial"/>
              </a:defRPr>
            </a:pPr>
            <a:r>
              <a:rPr sz="750" b="1">
                <a:solidFill>
                  <a:srgbClr val="101D1A"/>
                </a:solidFill>
                <a:latin typeface="Arial"/>
                <a:ea typeface="Arial"/>
                <a:cs typeface="Arial"/>
              </a:rPr>
              <a:t>03</a:t>
            </a:r>
          </a:p>
        </p:txBody>
      </p:sp>
      <p:sp>
        <p:nvSpPr>
          <p:cNvPr id="15" name="Rectangle 14">
            <a:extLst>
              <a:ext uri="{FF2B5EF4-FFF2-40B4-BE49-F238E27FC236}">
                <a16:creationId xmlns:a16="http://schemas.microsoft.com/office/drawing/2014/main" id="{9BE433F1-90CD-47FF-88D9-9E4B3117A53F}"/>
              </a:ext>
            </a:extLst>
          </p:cNvPr>
          <p:cNvSpPr>
            <a:spLocks noGrp="1"/>
          </p:cNvSpPr>
          <p:nvPr/>
        </p:nvSpPr>
        <p:spPr>
          <a:xfrm>
            <a:off x="6381750" y="5962650"/>
            <a:ext cx="990600" cy="171450"/>
          </a:xfrm>
          <a:prstGeom prst="rect">
            <a:avLst/>
          </a:prstGeom>
          <a:noFill/>
          <a:ln w="0">
            <a:noFill/>
            <a:prstDash val="solid"/>
          </a:ln>
        </p:spPr>
        <p:txBody>
          <a:bodyPr wrap="square" lIns="0" tIns="0" rIns="0" bIns="0" anchor="t">
            <a:normAutofit/>
          </a:bodyPr>
          <a:lstStyle>
            <a:defPPr algn="l">
              <a:defRPr sz="975" b="1">
                <a:solidFill>
                  <a:srgbClr val="D0DDD4"/>
                </a:solidFill>
                <a:latin typeface="Arial"/>
                <a:ea typeface="Arial"/>
                <a:cs typeface="Arial"/>
              </a:defRPr>
            </a:defPPr>
          </a:lstStyle>
          <a:p>
            <a:pPr algn="l">
              <a:lnSpc>
                <a:spcPct val="105000"/>
              </a:lnSpc>
              <a:buNone/>
              <a:defRPr sz="975" b="1">
                <a:solidFill>
                  <a:srgbClr val="D0DDD4"/>
                </a:solidFill>
                <a:latin typeface="Arial"/>
                <a:ea typeface="Arial"/>
                <a:cs typeface="Arial"/>
              </a:defRPr>
            </a:pPr>
            <a:r>
              <a:rPr sz="975" b="1">
                <a:solidFill>
                  <a:srgbClr val="D0DDD4"/>
                </a:solidFill>
                <a:latin typeface="Arial"/>
                <a:ea typeface="Arial"/>
                <a:cs typeface="Arial"/>
              </a:rPr>
              <a:t>TRAIN</a:t>
            </a:r>
          </a:p>
        </p:txBody>
      </p:sp>
      <p:cxnSp>
        <p:nvCxnSpPr>
          <p:cNvPr id="16" name="Connector: Elbow 15">
            <a:extLst>
              <a:ext uri="{FF2B5EF4-FFF2-40B4-BE49-F238E27FC236}">
                <a16:creationId xmlns:a16="http://schemas.microsoft.com/office/drawing/2014/main" id="{FECDFD9C-F241-4EF1-84C6-B2F66E8F65FD}"/>
              </a:ext>
            </a:extLst>
          </p:cNvPr>
          <p:cNvCxnSpPr/>
          <p:nvPr/>
        </p:nvCxnSpPr>
        <p:spPr>
          <a:xfrm>
            <a:off x="7381875" y="6057900"/>
            <a:ext cx="381000" cy="0"/>
          </a:xfrm>
          <a:prstGeom prst="bentConnector4">
            <a:avLst/>
          </a:prstGeom>
          <a:ln w="14288">
            <a:solidFill>
              <a:srgbClr val="617B6C"/>
            </a:solidFill>
            <a:prstDash val="solid"/>
            <a:tailEnd type="arrow" w="med" len="med"/>
          </a:ln>
        </p:spPr>
      </p:cxnSp>
      <p:sp>
        <p:nvSpPr>
          <p:cNvPr id="17" name="Oval 16">
            <a:extLst>
              <a:ext uri="{FF2B5EF4-FFF2-40B4-BE49-F238E27FC236}">
                <a16:creationId xmlns:a16="http://schemas.microsoft.com/office/drawing/2014/main" id="{FE358112-4246-4E20-9101-238971D8A182}"/>
              </a:ext>
            </a:extLst>
          </p:cNvPr>
          <p:cNvSpPr>
            <a:spLocks noGrp="1"/>
          </p:cNvSpPr>
          <p:nvPr/>
        </p:nvSpPr>
        <p:spPr>
          <a:xfrm>
            <a:off x="8686800" y="5924550"/>
            <a:ext cx="266700" cy="266700"/>
          </a:xfrm>
          <a:prstGeom prst="ellipse">
            <a:avLst/>
          </a:prstGeom>
          <a:solidFill>
            <a:srgbClr val="263A32"/>
          </a:solidFill>
          <a:ln w="0">
            <a:noFill/>
            <a:prstDash val="solid"/>
          </a:ln>
        </p:spPr>
      </p:sp>
      <p:sp>
        <p:nvSpPr>
          <p:cNvPr id="18" name="Rectangle 17">
            <a:extLst>
              <a:ext uri="{FF2B5EF4-FFF2-40B4-BE49-F238E27FC236}">
                <a16:creationId xmlns:a16="http://schemas.microsoft.com/office/drawing/2014/main" id="{0D23C25D-4735-44D5-8588-58C85A6E280F}"/>
              </a:ext>
            </a:extLst>
          </p:cNvPr>
          <p:cNvSpPr>
            <a:spLocks noGrp="1"/>
          </p:cNvSpPr>
          <p:nvPr/>
        </p:nvSpPr>
        <p:spPr>
          <a:xfrm>
            <a:off x="8686800" y="5981700"/>
            <a:ext cx="266700" cy="142875"/>
          </a:xfrm>
          <a:prstGeom prst="rect">
            <a:avLst/>
          </a:prstGeom>
          <a:noFill/>
          <a:ln w="0">
            <a:noFill/>
            <a:prstDash val="solid"/>
          </a:ln>
        </p:spPr>
        <p:txBody>
          <a:bodyPr wrap="square" lIns="0" tIns="0" rIns="0" bIns="0" anchor="t">
            <a:normAutofit/>
          </a:bodyPr>
          <a:lstStyle>
            <a:defPPr algn="ctr">
              <a:defRPr sz="750" b="1">
                <a:solidFill>
                  <a:srgbClr val="FFFFFF"/>
                </a:solidFill>
                <a:latin typeface="Arial"/>
                <a:ea typeface="Arial"/>
                <a:cs typeface="Arial"/>
              </a:defRPr>
            </a:defPPr>
          </a:lstStyle>
          <a:p>
            <a:pPr algn="ctr">
              <a:lnSpc>
                <a:spcPct val="105000"/>
              </a:lnSpc>
              <a:buNone/>
              <a:defRPr sz="750" b="1">
                <a:solidFill>
                  <a:srgbClr val="FFFFFF"/>
                </a:solidFill>
                <a:latin typeface="Arial"/>
                <a:ea typeface="Arial"/>
                <a:cs typeface="Arial"/>
              </a:defRPr>
            </a:pPr>
            <a:r>
              <a:rPr sz="750" b="1">
                <a:solidFill>
                  <a:srgbClr val="FFFFFF"/>
                </a:solidFill>
                <a:latin typeface="Arial"/>
                <a:ea typeface="Arial"/>
                <a:cs typeface="Arial"/>
              </a:rPr>
              <a:t>04</a:t>
            </a:r>
          </a:p>
        </p:txBody>
      </p:sp>
      <p:sp>
        <p:nvSpPr>
          <p:cNvPr id="19" name="Rectangle 18">
            <a:extLst>
              <a:ext uri="{FF2B5EF4-FFF2-40B4-BE49-F238E27FC236}">
                <a16:creationId xmlns:a16="http://schemas.microsoft.com/office/drawing/2014/main" id="{4DE36EFA-6A5B-4E49-ADC6-86DBABA317AB}"/>
              </a:ext>
            </a:extLst>
          </p:cNvPr>
          <p:cNvSpPr>
            <a:spLocks noGrp="1"/>
          </p:cNvSpPr>
          <p:nvPr/>
        </p:nvSpPr>
        <p:spPr>
          <a:xfrm>
            <a:off x="9048750" y="5962650"/>
            <a:ext cx="990600" cy="171450"/>
          </a:xfrm>
          <a:prstGeom prst="rect">
            <a:avLst/>
          </a:prstGeom>
          <a:noFill/>
          <a:ln w="0">
            <a:noFill/>
            <a:prstDash val="solid"/>
          </a:ln>
        </p:spPr>
        <p:txBody>
          <a:bodyPr wrap="square" lIns="0" tIns="0" rIns="0" bIns="0" anchor="t">
            <a:normAutofit/>
          </a:bodyPr>
          <a:lstStyle>
            <a:defPPr algn="l">
              <a:defRPr sz="975" b="1">
                <a:solidFill>
                  <a:srgbClr val="D0DDD4"/>
                </a:solidFill>
                <a:latin typeface="Arial"/>
                <a:ea typeface="Arial"/>
                <a:cs typeface="Arial"/>
              </a:defRPr>
            </a:defPPr>
          </a:lstStyle>
          <a:p>
            <a:pPr algn="l">
              <a:lnSpc>
                <a:spcPct val="105000"/>
              </a:lnSpc>
              <a:buNone/>
              <a:defRPr sz="975" b="1">
                <a:solidFill>
                  <a:srgbClr val="D0DDD4"/>
                </a:solidFill>
                <a:latin typeface="Arial"/>
                <a:ea typeface="Arial"/>
                <a:cs typeface="Arial"/>
              </a:defRPr>
            </a:pPr>
            <a:r>
              <a:rPr sz="975" b="1">
                <a:solidFill>
                  <a:srgbClr val="D0DDD4"/>
                </a:solidFill>
                <a:latin typeface="Arial"/>
                <a:ea typeface="Arial"/>
                <a:cs typeface="Arial"/>
              </a:rPr>
              <a:t>EVIDENCE</a:t>
            </a:r>
          </a:p>
        </p:txBody>
      </p:sp>
    </p:spTree>
    <p:extLst>
      <p:ext uri="{BB962C8B-B14F-4D97-AF65-F5344CB8AC3E}">
        <p14:creationId xmlns:p14="http://schemas.microsoft.com/office/powerpoint/2010/main" val="16797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0B1F190-8394-4787-BB49-586BBF67D64D}"/>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01 / PROBLEM</a:t>
            </a:r>
          </a:p>
        </p:txBody>
      </p:sp>
      <p:sp>
        <p:nvSpPr>
          <p:cNvPr id="2" name="Rectangle 1">
            <a:extLst>
              <a:ext uri="{FF2B5EF4-FFF2-40B4-BE49-F238E27FC236}">
                <a16:creationId xmlns:a16="http://schemas.microsoft.com/office/drawing/2014/main" id="{970B8979-0BDD-403C-B460-E7A124D36956}"/>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Research work gets split across files and tools</a:t>
            </a:r>
          </a:p>
        </p:txBody>
      </p:sp>
      <p:sp>
        <p:nvSpPr>
          <p:cNvPr id="3" name="Rectangle 2">
            <a:extLst>
              <a:ext uri="{FF2B5EF4-FFF2-40B4-BE49-F238E27FC236}">
                <a16:creationId xmlns:a16="http://schemas.microsoft.com/office/drawing/2014/main" id="{944B3E10-B035-48EB-91FA-2F9593F4EDD0}"/>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A model result is hard to trust when the dataset, settings and evidence live apart.</a:t>
            </a:r>
          </a:p>
        </p:txBody>
      </p:sp>
      <p:sp>
        <p:nvSpPr>
          <p:cNvPr id="4" name="Rectangle 3">
            <a:extLst>
              <a:ext uri="{FF2B5EF4-FFF2-40B4-BE49-F238E27FC236}">
                <a16:creationId xmlns:a16="http://schemas.microsoft.com/office/drawing/2014/main" id="{A7177F07-64D6-4074-8ABA-D2F56C4C34F7}"/>
              </a:ext>
            </a:extLst>
          </p:cNvPr>
          <p:cNvSpPr>
            <a:spLocks noGrp="1"/>
          </p:cNvSpPr>
          <p:nvPr/>
        </p:nvSpPr>
        <p:spPr>
          <a:xfrm>
            <a:off x="628650" y="2333625"/>
            <a:ext cx="704850" cy="476250"/>
          </a:xfrm>
          <a:prstGeom prst="rect">
            <a:avLst/>
          </a:prstGeom>
          <a:noFill/>
          <a:ln w="0">
            <a:noFill/>
            <a:prstDash val="solid"/>
          </a:ln>
        </p:spPr>
        <p:txBody>
          <a:bodyPr wrap="square" lIns="0" tIns="0" rIns="0" bIns="0" anchor="t">
            <a:normAutofit/>
          </a:bodyPr>
          <a:lstStyle>
            <a:defPPr algn="l">
              <a:defRPr sz="2550" b="1">
                <a:solidFill>
                  <a:srgbClr val="148A78"/>
                </a:solidFill>
                <a:latin typeface="Arial"/>
                <a:ea typeface="Arial"/>
                <a:cs typeface="Arial"/>
              </a:defRPr>
            </a:defPPr>
          </a:lstStyle>
          <a:p>
            <a:pPr algn="l">
              <a:lnSpc>
                <a:spcPct val="105000"/>
              </a:lnSpc>
              <a:buNone/>
              <a:defRPr sz="2550" b="1">
                <a:solidFill>
                  <a:srgbClr val="148A78"/>
                </a:solidFill>
                <a:latin typeface="Arial"/>
                <a:ea typeface="Arial"/>
                <a:cs typeface="Arial"/>
              </a:defRPr>
            </a:pPr>
            <a:r>
              <a:rPr sz="2550" b="1">
                <a:solidFill>
                  <a:srgbClr val="148A78"/>
                </a:solidFill>
                <a:latin typeface="Arial"/>
                <a:ea typeface="Arial"/>
                <a:cs typeface="Arial"/>
              </a:rPr>
              <a:t>01</a:t>
            </a:r>
          </a:p>
        </p:txBody>
      </p:sp>
      <p:sp>
        <p:nvSpPr>
          <p:cNvPr id="5" name="Rectangle 4">
            <a:extLst>
              <a:ext uri="{FF2B5EF4-FFF2-40B4-BE49-F238E27FC236}">
                <a16:creationId xmlns:a16="http://schemas.microsoft.com/office/drawing/2014/main" id="{425D620E-C2A2-431A-93B0-B1F9632EB8C2}"/>
              </a:ext>
            </a:extLst>
          </p:cNvPr>
          <p:cNvSpPr>
            <a:spLocks noGrp="1"/>
          </p:cNvSpPr>
          <p:nvPr/>
        </p:nvSpPr>
        <p:spPr>
          <a:xfrm>
            <a:off x="1428750" y="2362200"/>
            <a:ext cx="1714500" cy="285750"/>
          </a:xfrm>
          <a:prstGeom prst="rect">
            <a:avLst/>
          </a:prstGeom>
          <a:noFill/>
          <a:ln w="0">
            <a:noFill/>
            <a:prstDash val="solid"/>
          </a:ln>
        </p:spPr>
        <p:txBody>
          <a:bodyPr wrap="square" lIns="0" tIns="0" rIns="0" bIns="0" anchor="t">
            <a:normAutofit/>
          </a:bodyPr>
          <a:lstStyle>
            <a:defPPr algn="l">
              <a:defRPr sz="1125" b="1">
                <a:solidFill>
                  <a:srgbClr val="62736B"/>
                </a:solidFill>
                <a:latin typeface="Arial"/>
                <a:ea typeface="Arial"/>
                <a:cs typeface="Arial"/>
              </a:defRPr>
            </a:defPPr>
          </a:lstStyle>
          <a:p>
            <a:pPr algn="l">
              <a:lnSpc>
                <a:spcPct val="105000"/>
              </a:lnSpc>
              <a:buNone/>
              <a:defRPr sz="1125" b="1">
                <a:solidFill>
                  <a:srgbClr val="62736B"/>
                </a:solidFill>
                <a:latin typeface="Arial"/>
                <a:ea typeface="Arial"/>
                <a:cs typeface="Arial"/>
              </a:defRPr>
            </a:pPr>
            <a:r>
              <a:rPr sz="1125" b="1">
                <a:solidFill>
                  <a:srgbClr val="62736B"/>
                </a:solidFill>
                <a:latin typeface="Arial"/>
                <a:ea typeface="Arial"/>
                <a:cs typeface="Arial"/>
              </a:rPr>
              <a:t>DATA</a:t>
            </a:r>
          </a:p>
        </p:txBody>
      </p:sp>
      <p:sp>
        <p:nvSpPr>
          <p:cNvPr id="6" name="Rectangle 5">
            <a:extLst>
              <a:ext uri="{FF2B5EF4-FFF2-40B4-BE49-F238E27FC236}">
                <a16:creationId xmlns:a16="http://schemas.microsoft.com/office/drawing/2014/main" id="{ED2E3CE2-DEC8-4888-8166-62208C551585}"/>
              </a:ext>
            </a:extLst>
          </p:cNvPr>
          <p:cNvSpPr>
            <a:spLocks noGrp="1"/>
          </p:cNvSpPr>
          <p:nvPr/>
        </p:nvSpPr>
        <p:spPr>
          <a:xfrm>
            <a:off x="3333750" y="2333625"/>
            <a:ext cx="7667625" cy="514350"/>
          </a:xfrm>
          <a:prstGeom prst="rect">
            <a:avLst/>
          </a:prstGeom>
          <a:noFill/>
          <a:ln w="0">
            <a:noFill/>
            <a:prstDash val="solid"/>
          </a:ln>
        </p:spPr>
        <p:txBody>
          <a:bodyPr wrap="square" lIns="0" tIns="0" rIns="0" bIns="0" anchor="t">
            <a:normAutofit fontScale="94923"/>
          </a:bodyPr>
          <a:lstStyle>
            <a:defPPr algn="l">
              <a:defRPr sz="1800" b="1">
                <a:solidFill>
                  <a:srgbClr val="14241F"/>
                </a:solidFill>
                <a:latin typeface="Arial"/>
                <a:ea typeface="Arial"/>
                <a:cs typeface="Arial"/>
              </a:defRPr>
            </a:defPPr>
          </a:lstStyle>
          <a:p>
            <a:pPr algn="l">
              <a:lnSpc>
                <a:spcPct val="105000"/>
              </a:lnSpc>
              <a:buNone/>
              <a:defRPr sz="1800" b="1">
                <a:solidFill>
                  <a:srgbClr val="14241F"/>
                </a:solidFill>
                <a:latin typeface="Arial"/>
                <a:ea typeface="Arial"/>
                <a:cs typeface="Arial"/>
              </a:defRPr>
            </a:pPr>
            <a:r>
              <a:rPr sz="1800" b="1">
                <a:solidFill>
                  <a:srgbClr val="14241F"/>
                </a:solidFill>
                <a:latin typeface="Arial"/>
                <a:ea typeface="Arial"/>
                <a:cs typeface="Arial"/>
              </a:rPr>
              <a:t>A CSV arrives with unclear columns, missing values or no project context.</a:t>
            </a:r>
          </a:p>
        </p:txBody>
      </p:sp>
      <p:sp>
        <p:nvSpPr>
          <p:cNvPr id="7" name="Straight Connector 6">
            <a:extLst>
              <a:ext uri="{FF2B5EF4-FFF2-40B4-BE49-F238E27FC236}">
                <a16:creationId xmlns:a16="http://schemas.microsoft.com/office/drawing/2014/main" id="{3F2919B9-32E6-4564-924C-266AED8633B6}"/>
              </a:ext>
            </a:extLst>
          </p:cNvPr>
          <p:cNvSpPr>
            <a:spLocks noGrp="1"/>
          </p:cNvSpPr>
          <p:nvPr/>
        </p:nvSpPr>
        <p:spPr>
          <a:xfrm>
            <a:off x="1428750" y="2933700"/>
            <a:ext cx="9715500" cy="0"/>
          </a:xfrm>
          <a:prstGeom prst="line">
            <a:avLst/>
          </a:prstGeom>
          <a:noFill/>
          <a:ln w="9525">
            <a:solidFill>
              <a:srgbClr val="D4DBD0"/>
            </a:solidFill>
            <a:prstDash val="solid"/>
          </a:ln>
        </p:spPr>
      </p:sp>
      <p:sp>
        <p:nvSpPr>
          <p:cNvPr id="8" name="Rectangle 7">
            <a:extLst>
              <a:ext uri="{FF2B5EF4-FFF2-40B4-BE49-F238E27FC236}">
                <a16:creationId xmlns:a16="http://schemas.microsoft.com/office/drawing/2014/main" id="{D2942725-21F1-437F-93FE-3D1FEC95ABAF}"/>
              </a:ext>
            </a:extLst>
          </p:cNvPr>
          <p:cNvSpPr>
            <a:spLocks noGrp="1"/>
          </p:cNvSpPr>
          <p:nvPr/>
        </p:nvSpPr>
        <p:spPr>
          <a:xfrm>
            <a:off x="628650" y="3476625"/>
            <a:ext cx="704850" cy="476250"/>
          </a:xfrm>
          <a:prstGeom prst="rect">
            <a:avLst/>
          </a:prstGeom>
          <a:noFill/>
          <a:ln w="0">
            <a:noFill/>
            <a:prstDash val="solid"/>
          </a:ln>
        </p:spPr>
        <p:txBody>
          <a:bodyPr wrap="square" lIns="0" tIns="0" rIns="0" bIns="0" anchor="t">
            <a:normAutofit/>
          </a:bodyPr>
          <a:lstStyle>
            <a:defPPr algn="l">
              <a:defRPr sz="2550" b="1">
                <a:solidFill>
                  <a:srgbClr val="E79B54"/>
                </a:solidFill>
                <a:latin typeface="Arial"/>
                <a:ea typeface="Arial"/>
                <a:cs typeface="Arial"/>
              </a:defRPr>
            </a:defPPr>
          </a:lstStyle>
          <a:p>
            <a:pPr algn="l">
              <a:lnSpc>
                <a:spcPct val="105000"/>
              </a:lnSpc>
              <a:buNone/>
              <a:defRPr sz="2550" b="1">
                <a:solidFill>
                  <a:srgbClr val="E79B54"/>
                </a:solidFill>
                <a:latin typeface="Arial"/>
                <a:ea typeface="Arial"/>
                <a:cs typeface="Arial"/>
              </a:defRPr>
            </a:pPr>
            <a:r>
              <a:rPr sz="2550" b="1">
                <a:solidFill>
                  <a:srgbClr val="E79B54"/>
                </a:solidFill>
                <a:latin typeface="Arial"/>
                <a:ea typeface="Arial"/>
                <a:cs typeface="Arial"/>
              </a:rPr>
              <a:t>02</a:t>
            </a:r>
          </a:p>
        </p:txBody>
      </p:sp>
      <p:sp>
        <p:nvSpPr>
          <p:cNvPr id="9" name="Rectangle 8">
            <a:extLst>
              <a:ext uri="{FF2B5EF4-FFF2-40B4-BE49-F238E27FC236}">
                <a16:creationId xmlns:a16="http://schemas.microsoft.com/office/drawing/2014/main" id="{5420B420-5D89-4CE8-8A0C-6462B4FEF873}"/>
              </a:ext>
            </a:extLst>
          </p:cNvPr>
          <p:cNvSpPr>
            <a:spLocks noGrp="1"/>
          </p:cNvSpPr>
          <p:nvPr/>
        </p:nvSpPr>
        <p:spPr>
          <a:xfrm>
            <a:off x="1428750" y="3505200"/>
            <a:ext cx="1714500" cy="285750"/>
          </a:xfrm>
          <a:prstGeom prst="rect">
            <a:avLst/>
          </a:prstGeom>
          <a:noFill/>
          <a:ln w="0">
            <a:noFill/>
            <a:prstDash val="solid"/>
          </a:ln>
        </p:spPr>
        <p:txBody>
          <a:bodyPr wrap="square" lIns="0" tIns="0" rIns="0" bIns="0" anchor="t">
            <a:normAutofit/>
          </a:bodyPr>
          <a:lstStyle>
            <a:defPPr algn="l">
              <a:defRPr sz="1125" b="1">
                <a:solidFill>
                  <a:srgbClr val="62736B"/>
                </a:solidFill>
                <a:latin typeface="Arial"/>
                <a:ea typeface="Arial"/>
                <a:cs typeface="Arial"/>
              </a:defRPr>
            </a:defPPr>
          </a:lstStyle>
          <a:p>
            <a:pPr algn="l">
              <a:lnSpc>
                <a:spcPct val="105000"/>
              </a:lnSpc>
              <a:buNone/>
              <a:defRPr sz="1125" b="1">
                <a:solidFill>
                  <a:srgbClr val="62736B"/>
                </a:solidFill>
                <a:latin typeface="Arial"/>
                <a:ea typeface="Arial"/>
                <a:cs typeface="Arial"/>
              </a:defRPr>
            </a:pPr>
            <a:r>
              <a:rPr sz="1125" b="1">
                <a:solidFill>
                  <a:srgbClr val="62736B"/>
                </a:solidFill>
                <a:latin typeface="Arial"/>
                <a:ea typeface="Arial"/>
                <a:cs typeface="Arial"/>
              </a:rPr>
              <a:t>TRAINING</a:t>
            </a:r>
          </a:p>
        </p:txBody>
      </p:sp>
      <p:sp>
        <p:nvSpPr>
          <p:cNvPr id="10" name="Rectangle 9">
            <a:extLst>
              <a:ext uri="{FF2B5EF4-FFF2-40B4-BE49-F238E27FC236}">
                <a16:creationId xmlns:a16="http://schemas.microsoft.com/office/drawing/2014/main" id="{E58BAF58-1591-4455-B286-4BBDC9887EC0}"/>
              </a:ext>
            </a:extLst>
          </p:cNvPr>
          <p:cNvSpPr>
            <a:spLocks noGrp="1"/>
          </p:cNvSpPr>
          <p:nvPr/>
        </p:nvSpPr>
        <p:spPr>
          <a:xfrm>
            <a:off x="3333750" y="3476625"/>
            <a:ext cx="7667625" cy="514350"/>
          </a:xfrm>
          <a:prstGeom prst="rect">
            <a:avLst/>
          </a:prstGeom>
          <a:noFill/>
          <a:ln w="0">
            <a:noFill/>
            <a:prstDash val="solid"/>
          </a:ln>
        </p:spPr>
        <p:txBody>
          <a:bodyPr wrap="square" lIns="0" tIns="0" rIns="0" bIns="0" anchor="t">
            <a:normAutofit fontScale="93002"/>
          </a:bodyPr>
          <a:lstStyle>
            <a:defPPr algn="l">
              <a:defRPr sz="1800" b="1">
                <a:solidFill>
                  <a:srgbClr val="14241F"/>
                </a:solidFill>
                <a:latin typeface="Arial"/>
                <a:ea typeface="Arial"/>
                <a:cs typeface="Arial"/>
              </a:defRPr>
            </a:defPPr>
          </a:lstStyle>
          <a:p>
            <a:pPr algn="l">
              <a:lnSpc>
                <a:spcPct val="105000"/>
              </a:lnSpc>
              <a:buNone/>
              <a:defRPr sz="1800" b="1">
                <a:solidFill>
                  <a:srgbClr val="14241F"/>
                </a:solidFill>
                <a:latin typeface="Arial"/>
                <a:ea typeface="Arial"/>
                <a:cs typeface="Arial"/>
              </a:defRPr>
            </a:pPr>
            <a:r>
              <a:rPr sz="1800" b="1">
                <a:solidFill>
                  <a:srgbClr val="14241F"/>
                </a:solidFill>
                <a:latin typeface="Arial"/>
                <a:ea typeface="Arial"/>
                <a:cs typeface="Arial"/>
              </a:rPr>
              <a:t>Model settings are copied between scripts, with little visibility into what ran.</a:t>
            </a:r>
          </a:p>
        </p:txBody>
      </p:sp>
      <p:sp>
        <p:nvSpPr>
          <p:cNvPr id="11" name="Straight Connector 10">
            <a:extLst>
              <a:ext uri="{FF2B5EF4-FFF2-40B4-BE49-F238E27FC236}">
                <a16:creationId xmlns:a16="http://schemas.microsoft.com/office/drawing/2014/main" id="{42152DC0-D993-4980-96BB-4240B21F77A3}"/>
              </a:ext>
            </a:extLst>
          </p:cNvPr>
          <p:cNvSpPr>
            <a:spLocks noGrp="1"/>
          </p:cNvSpPr>
          <p:nvPr/>
        </p:nvSpPr>
        <p:spPr>
          <a:xfrm>
            <a:off x="1428750" y="4076700"/>
            <a:ext cx="9715500" cy="0"/>
          </a:xfrm>
          <a:prstGeom prst="line">
            <a:avLst/>
          </a:prstGeom>
          <a:noFill/>
          <a:ln w="9525">
            <a:solidFill>
              <a:srgbClr val="D4DBD0"/>
            </a:solidFill>
            <a:prstDash val="solid"/>
          </a:ln>
        </p:spPr>
      </p:sp>
      <p:sp>
        <p:nvSpPr>
          <p:cNvPr id="12" name="Rectangle 11">
            <a:extLst>
              <a:ext uri="{FF2B5EF4-FFF2-40B4-BE49-F238E27FC236}">
                <a16:creationId xmlns:a16="http://schemas.microsoft.com/office/drawing/2014/main" id="{218522A0-2D6E-42A5-ACA4-AC8D907B1551}"/>
              </a:ext>
            </a:extLst>
          </p:cNvPr>
          <p:cNvSpPr>
            <a:spLocks noGrp="1"/>
          </p:cNvSpPr>
          <p:nvPr/>
        </p:nvSpPr>
        <p:spPr>
          <a:xfrm>
            <a:off x="628650" y="4619625"/>
            <a:ext cx="704850" cy="476250"/>
          </a:xfrm>
          <a:prstGeom prst="rect">
            <a:avLst/>
          </a:prstGeom>
          <a:noFill/>
          <a:ln w="0">
            <a:noFill/>
            <a:prstDash val="solid"/>
          </a:ln>
        </p:spPr>
        <p:txBody>
          <a:bodyPr wrap="square" lIns="0" tIns="0" rIns="0" bIns="0" anchor="t">
            <a:normAutofit/>
          </a:bodyPr>
          <a:lstStyle>
            <a:defPPr algn="l">
              <a:defRPr sz="2550" b="1">
                <a:solidFill>
                  <a:srgbClr val="678ED4"/>
                </a:solidFill>
                <a:latin typeface="Arial"/>
                <a:ea typeface="Arial"/>
                <a:cs typeface="Arial"/>
              </a:defRPr>
            </a:defPPr>
          </a:lstStyle>
          <a:p>
            <a:pPr algn="l">
              <a:lnSpc>
                <a:spcPct val="105000"/>
              </a:lnSpc>
              <a:buNone/>
              <a:defRPr sz="2550" b="1">
                <a:solidFill>
                  <a:srgbClr val="678ED4"/>
                </a:solidFill>
                <a:latin typeface="Arial"/>
                <a:ea typeface="Arial"/>
                <a:cs typeface="Arial"/>
              </a:defRPr>
            </a:pPr>
            <a:r>
              <a:rPr sz="2550" b="1">
                <a:solidFill>
                  <a:srgbClr val="678ED4"/>
                </a:solidFill>
                <a:latin typeface="Arial"/>
                <a:ea typeface="Arial"/>
                <a:cs typeface="Arial"/>
              </a:rPr>
              <a:t>03</a:t>
            </a:r>
          </a:p>
        </p:txBody>
      </p:sp>
      <p:sp>
        <p:nvSpPr>
          <p:cNvPr id="13" name="Rectangle 12">
            <a:extLst>
              <a:ext uri="{FF2B5EF4-FFF2-40B4-BE49-F238E27FC236}">
                <a16:creationId xmlns:a16="http://schemas.microsoft.com/office/drawing/2014/main" id="{E225137E-3CE5-46E1-A29B-7422720D5D51}"/>
              </a:ext>
            </a:extLst>
          </p:cNvPr>
          <p:cNvSpPr>
            <a:spLocks noGrp="1"/>
          </p:cNvSpPr>
          <p:nvPr/>
        </p:nvSpPr>
        <p:spPr>
          <a:xfrm>
            <a:off x="1428750" y="4648200"/>
            <a:ext cx="1714500" cy="285750"/>
          </a:xfrm>
          <a:prstGeom prst="rect">
            <a:avLst/>
          </a:prstGeom>
          <a:noFill/>
          <a:ln w="0">
            <a:noFill/>
            <a:prstDash val="solid"/>
          </a:ln>
        </p:spPr>
        <p:txBody>
          <a:bodyPr wrap="square" lIns="0" tIns="0" rIns="0" bIns="0" anchor="t">
            <a:normAutofit/>
          </a:bodyPr>
          <a:lstStyle>
            <a:defPPr algn="l">
              <a:defRPr sz="1125" b="1">
                <a:solidFill>
                  <a:srgbClr val="62736B"/>
                </a:solidFill>
                <a:latin typeface="Arial"/>
                <a:ea typeface="Arial"/>
                <a:cs typeface="Arial"/>
              </a:defRPr>
            </a:defPPr>
          </a:lstStyle>
          <a:p>
            <a:pPr algn="l">
              <a:lnSpc>
                <a:spcPct val="105000"/>
              </a:lnSpc>
              <a:buNone/>
              <a:defRPr sz="1125" b="1">
                <a:solidFill>
                  <a:srgbClr val="62736B"/>
                </a:solidFill>
                <a:latin typeface="Arial"/>
                <a:ea typeface="Arial"/>
                <a:cs typeface="Arial"/>
              </a:defRPr>
            </a:pPr>
            <a:r>
              <a:rPr sz="1125" b="1">
                <a:solidFill>
                  <a:srgbClr val="62736B"/>
                </a:solidFill>
                <a:latin typeface="Arial"/>
                <a:ea typeface="Arial"/>
                <a:cs typeface="Arial"/>
              </a:rPr>
              <a:t>EVIDENCE</a:t>
            </a:r>
          </a:p>
        </p:txBody>
      </p:sp>
      <p:sp>
        <p:nvSpPr>
          <p:cNvPr id="14" name="Rectangle 13">
            <a:extLst>
              <a:ext uri="{FF2B5EF4-FFF2-40B4-BE49-F238E27FC236}">
                <a16:creationId xmlns:a16="http://schemas.microsoft.com/office/drawing/2014/main" id="{66BC0CC8-4AA2-441E-8FDC-B4B1DCE273E4}"/>
              </a:ext>
            </a:extLst>
          </p:cNvPr>
          <p:cNvSpPr>
            <a:spLocks noGrp="1"/>
          </p:cNvSpPr>
          <p:nvPr/>
        </p:nvSpPr>
        <p:spPr>
          <a:xfrm>
            <a:off x="3333750" y="4619625"/>
            <a:ext cx="7667625" cy="514350"/>
          </a:xfrm>
          <a:prstGeom prst="rect">
            <a:avLst/>
          </a:prstGeom>
          <a:noFill/>
          <a:ln w="0">
            <a:noFill/>
            <a:prstDash val="solid"/>
          </a:ln>
        </p:spPr>
        <p:txBody>
          <a:bodyPr wrap="square" lIns="0" tIns="0" rIns="0" bIns="0" anchor="t">
            <a:normAutofit/>
          </a:bodyPr>
          <a:lstStyle>
            <a:defPPr algn="l">
              <a:defRPr sz="1800" b="1">
                <a:solidFill>
                  <a:srgbClr val="14241F"/>
                </a:solidFill>
                <a:latin typeface="Arial"/>
                <a:ea typeface="Arial"/>
                <a:cs typeface="Arial"/>
              </a:defRPr>
            </a:defPPr>
          </a:lstStyle>
          <a:p>
            <a:pPr algn="l">
              <a:lnSpc>
                <a:spcPct val="105000"/>
              </a:lnSpc>
              <a:buNone/>
              <a:defRPr sz="1800" b="1">
                <a:solidFill>
                  <a:srgbClr val="14241F"/>
                </a:solidFill>
                <a:latin typeface="Arial"/>
                <a:ea typeface="Arial"/>
                <a:cs typeface="Arial"/>
              </a:defRPr>
            </a:pPr>
            <a:r>
              <a:rPr sz="1800" b="1">
                <a:solidFill>
                  <a:srgbClr val="14241F"/>
                </a:solidFill>
                <a:latin typeface="Arial"/>
                <a:ea typeface="Arial"/>
                <a:cs typeface="Arial"/>
              </a:rPr>
              <a:t>Metrics and logs become difficult to compare or share with a team.</a:t>
            </a:r>
          </a:p>
        </p:txBody>
      </p:sp>
      <p:sp>
        <p:nvSpPr>
          <p:cNvPr id="15" name="Straight Connector 14">
            <a:extLst>
              <a:ext uri="{FF2B5EF4-FFF2-40B4-BE49-F238E27FC236}">
                <a16:creationId xmlns:a16="http://schemas.microsoft.com/office/drawing/2014/main" id="{E8490FB3-D377-43B3-A9FD-6747D26EE595}"/>
              </a:ext>
            </a:extLst>
          </p:cNvPr>
          <p:cNvSpPr>
            <a:spLocks noGrp="1"/>
          </p:cNvSpPr>
          <p:nvPr/>
        </p:nvSpPr>
        <p:spPr>
          <a:xfrm>
            <a:off x="1428750" y="5219700"/>
            <a:ext cx="9715500" cy="0"/>
          </a:xfrm>
          <a:prstGeom prst="line">
            <a:avLst/>
          </a:prstGeom>
          <a:noFill/>
          <a:ln w="9525">
            <a:solidFill>
              <a:srgbClr val="D4DBD0"/>
            </a:solidFill>
            <a:prstDash val="solid"/>
          </a:ln>
        </p:spPr>
      </p:sp>
      <p:sp>
        <p:nvSpPr>
          <p:cNvPr id="16" name="Rectangle 15">
            <a:extLst>
              <a:ext uri="{FF2B5EF4-FFF2-40B4-BE49-F238E27FC236}">
                <a16:creationId xmlns:a16="http://schemas.microsoft.com/office/drawing/2014/main" id="{747CE56D-B5D1-4407-A96A-420527DB2FAA}"/>
              </a:ext>
            </a:extLst>
          </p:cNvPr>
          <p:cNvSpPr>
            <a:spLocks noGrp="1"/>
          </p:cNvSpPr>
          <p:nvPr/>
        </p:nvSpPr>
        <p:spPr>
          <a:xfrm>
            <a:off x="1428750" y="5857875"/>
            <a:ext cx="8953500" cy="323850"/>
          </a:xfrm>
          <a:prstGeom prst="rect">
            <a:avLst/>
          </a:prstGeom>
          <a:noFill/>
          <a:ln w="0">
            <a:noFill/>
            <a:prstDash val="solid"/>
          </a:ln>
        </p:spPr>
        <p:txBody>
          <a:bodyPr wrap="square" lIns="0" tIns="0" rIns="0" bIns="0" anchor="t">
            <a:normAutofit/>
          </a:bodyPr>
          <a:lstStyle>
            <a:defPPr algn="l">
              <a:defRPr sz="1650" b="1">
                <a:solidFill>
                  <a:srgbClr val="148A78"/>
                </a:solidFill>
                <a:latin typeface="Arial"/>
                <a:ea typeface="Arial"/>
                <a:cs typeface="Arial"/>
              </a:defRPr>
            </a:defPPr>
          </a:lstStyle>
          <a:p>
            <a:pPr algn="l">
              <a:lnSpc>
                <a:spcPct val="105000"/>
              </a:lnSpc>
              <a:buNone/>
              <a:defRPr sz="1650" b="1">
                <a:solidFill>
                  <a:srgbClr val="148A78"/>
                </a:solidFill>
                <a:latin typeface="Arial"/>
                <a:ea typeface="Arial"/>
                <a:cs typeface="Arial"/>
              </a:defRPr>
            </a:pPr>
            <a:r>
              <a:rPr sz="1650" b="1">
                <a:solidFill>
                  <a:srgbClr val="148A78"/>
                </a:solidFill>
                <a:latin typeface="Arial"/>
                <a:ea typeface="Arial"/>
                <a:cs typeface="Arial"/>
              </a:rPr>
              <a:t>DataHive keeps each step attached to a research project and its history.</a:t>
            </a:r>
          </a:p>
        </p:txBody>
      </p:sp>
    </p:spTree>
    <p:extLst>
      <p:ext uri="{BB962C8B-B14F-4D97-AF65-F5344CB8AC3E}">
        <p14:creationId xmlns:p14="http://schemas.microsoft.com/office/powerpoint/2010/main" val="1855954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03AE813-69BB-43CF-B800-1B74652E9B48}"/>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02 / SOLUTION</a:t>
            </a:r>
          </a:p>
        </p:txBody>
      </p:sp>
      <p:sp>
        <p:nvSpPr>
          <p:cNvPr id="2" name="Rectangle 1">
            <a:extLst>
              <a:ext uri="{FF2B5EF4-FFF2-40B4-BE49-F238E27FC236}">
                <a16:creationId xmlns:a16="http://schemas.microsoft.com/office/drawing/2014/main" id="{B90DB417-F2D8-40CA-A661-5CD7C61F0AE2}"/>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One workspace connects the research lifecycle</a:t>
            </a:r>
          </a:p>
        </p:txBody>
      </p:sp>
      <p:sp>
        <p:nvSpPr>
          <p:cNvPr id="3" name="Rectangle 2">
            <a:extLst>
              <a:ext uri="{FF2B5EF4-FFF2-40B4-BE49-F238E27FC236}">
                <a16:creationId xmlns:a16="http://schemas.microsoft.com/office/drawing/2014/main" id="{AC286EFD-71D0-4A30-8C86-2644CAF5769E}"/>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Projects provide the shared context for data, runs and collaboration.</a:t>
            </a:r>
          </a:p>
        </p:txBody>
      </p:sp>
      <p:sp>
        <p:nvSpPr>
          <p:cNvPr id="4" name="Rectangle 3">
            <a:extLst>
              <a:ext uri="{FF2B5EF4-FFF2-40B4-BE49-F238E27FC236}">
                <a16:creationId xmlns:a16="http://schemas.microsoft.com/office/drawing/2014/main" id="{200EF377-48EF-4A0A-8DDE-D5FCFD6349B6}"/>
              </a:ext>
            </a:extLst>
          </p:cNvPr>
          <p:cNvSpPr>
            <a:spLocks noGrp="1"/>
          </p:cNvSpPr>
          <p:nvPr/>
        </p:nvSpPr>
        <p:spPr>
          <a:xfrm>
            <a:off x="571500" y="2686050"/>
            <a:ext cx="2076450" cy="323850"/>
          </a:xfrm>
          <a:prstGeom prst="rect">
            <a:avLst/>
          </a:prstGeom>
          <a:noFill/>
          <a:ln w="0">
            <a:noFill/>
            <a:prstDash val="solid"/>
          </a:ln>
        </p:spPr>
        <p:txBody>
          <a:bodyPr wrap="square" lIns="0" tIns="0" rIns="0" bIns="0" anchor="t">
            <a:normAutofit fontScale="87045"/>
          </a:bodyPr>
          <a:lstStyle>
            <a:defPPr algn="l">
              <a:defRPr sz="2325" b="1">
                <a:solidFill>
                  <a:srgbClr val="14241F"/>
                </a:solidFill>
                <a:latin typeface="Arial"/>
                <a:ea typeface="Arial"/>
                <a:cs typeface="Arial"/>
              </a:defRPr>
            </a:defPPr>
          </a:lstStyle>
          <a:p>
            <a:pPr algn="l">
              <a:lnSpc>
                <a:spcPct val="105000"/>
              </a:lnSpc>
              <a:buNone/>
              <a:defRPr sz="2325" b="1">
                <a:solidFill>
                  <a:srgbClr val="14241F"/>
                </a:solidFill>
                <a:latin typeface="Arial"/>
                <a:ea typeface="Arial"/>
                <a:cs typeface="Arial"/>
              </a:defRPr>
            </a:pPr>
            <a:r>
              <a:rPr sz="2325" b="1">
                <a:solidFill>
                  <a:srgbClr val="14241F"/>
                </a:solidFill>
                <a:latin typeface="Arial"/>
                <a:ea typeface="Arial"/>
                <a:cs typeface="Arial"/>
              </a:rPr>
              <a:t>01</a:t>
            </a:r>
          </a:p>
        </p:txBody>
      </p:sp>
      <p:sp>
        <p:nvSpPr>
          <p:cNvPr id="5" name="Straight Connector 4">
            <a:extLst>
              <a:ext uri="{FF2B5EF4-FFF2-40B4-BE49-F238E27FC236}">
                <a16:creationId xmlns:a16="http://schemas.microsoft.com/office/drawing/2014/main" id="{D0F5BB0A-32D8-42F5-9A4F-E8169B1AB8D2}"/>
              </a:ext>
            </a:extLst>
          </p:cNvPr>
          <p:cNvSpPr>
            <a:spLocks noGrp="1"/>
          </p:cNvSpPr>
          <p:nvPr/>
        </p:nvSpPr>
        <p:spPr>
          <a:xfrm>
            <a:off x="571500" y="3152775"/>
            <a:ext cx="2076450" cy="0"/>
          </a:xfrm>
          <a:prstGeom prst="line">
            <a:avLst/>
          </a:prstGeom>
          <a:noFill/>
          <a:ln w="28575">
            <a:solidFill>
              <a:srgbClr val="D4DBD0"/>
            </a:solidFill>
            <a:prstDash val="solid"/>
          </a:ln>
        </p:spPr>
      </p:sp>
      <p:sp>
        <p:nvSpPr>
          <p:cNvPr id="6" name="Rectangle 5">
            <a:extLst>
              <a:ext uri="{FF2B5EF4-FFF2-40B4-BE49-F238E27FC236}">
                <a16:creationId xmlns:a16="http://schemas.microsoft.com/office/drawing/2014/main" id="{89799661-C159-454C-A687-6BC546DB0225}"/>
              </a:ext>
            </a:extLst>
          </p:cNvPr>
          <p:cNvSpPr>
            <a:spLocks noGrp="1"/>
          </p:cNvSpPr>
          <p:nvPr/>
        </p:nvSpPr>
        <p:spPr>
          <a:xfrm>
            <a:off x="571500" y="3314700"/>
            <a:ext cx="2076450" cy="20955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PROJECT</a:t>
            </a:r>
          </a:p>
        </p:txBody>
      </p:sp>
      <p:sp>
        <p:nvSpPr>
          <p:cNvPr id="7" name="Rectangle 6">
            <a:extLst>
              <a:ext uri="{FF2B5EF4-FFF2-40B4-BE49-F238E27FC236}">
                <a16:creationId xmlns:a16="http://schemas.microsoft.com/office/drawing/2014/main" id="{E470F7DA-102C-4A1B-909E-90C33943DFF5}"/>
              </a:ext>
            </a:extLst>
          </p:cNvPr>
          <p:cNvSpPr>
            <a:spLocks noGrp="1"/>
          </p:cNvSpPr>
          <p:nvPr/>
        </p:nvSpPr>
        <p:spPr>
          <a:xfrm>
            <a:off x="571500" y="3638550"/>
            <a:ext cx="2076450" cy="742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A research goal, owner and team</a:t>
            </a:r>
          </a:p>
        </p:txBody>
      </p:sp>
      <p:cxnSp>
        <p:nvCxnSpPr>
          <p:cNvPr id="8" name="Connector: Elbow 7">
            <a:extLst>
              <a:ext uri="{FF2B5EF4-FFF2-40B4-BE49-F238E27FC236}">
                <a16:creationId xmlns:a16="http://schemas.microsoft.com/office/drawing/2014/main" id="{DD9E9A5E-634A-4F43-B78E-4F79681494B9}"/>
              </a:ext>
            </a:extLst>
          </p:cNvPr>
          <p:cNvCxnSpPr/>
          <p:nvPr/>
        </p:nvCxnSpPr>
        <p:spPr>
          <a:xfrm>
            <a:off x="2638425" y="3076575"/>
            <a:ext cx="123825" cy="0"/>
          </a:xfrm>
          <a:prstGeom prst="bentConnector4">
            <a:avLst/>
          </a:prstGeom>
          <a:ln w="14288">
            <a:solidFill>
              <a:srgbClr val="148A78"/>
            </a:solidFill>
            <a:prstDash val="solid"/>
            <a:tailEnd type="arrow" w="med" len="med"/>
          </a:ln>
        </p:spPr>
      </p:cxnSp>
      <p:sp>
        <p:nvSpPr>
          <p:cNvPr id="9" name="Rectangle 8">
            <a:extLst>
              <a:ext uri="{FF2B5EF4-FFF2-40B4-BE49-F238E27FC236}">
                <a16:creationId xmlns:a16="http://schemas.microsoft.com/office/drawing/2014/main" id="{CBF72CD5-D93E-406C-9753-4C9B044A4CD6}"/>
              </a:ext>
            </a:extLst>
          </p:cNvPr>
          <p:cNvSpPr>
            <a:spLocks noGrp="1"/>
          </p:cNvSpPr>
          <p:nvPr/>
        </p:nvSpPr>
        <p:spPr>
          <a:xfrm>
            <a:off x="2819400" y="2686050"/>
            <a:ext cx="2076450" cy="323850"/>
          </a:xfrm>
          <a:prstGeom prst="rect">
            <a:avLst/>
          </a:prstGeom>
          <a:noFill/>
          <a:ln w="0">
            <a:noFill/>
            <a:prstDash val="solid"/>
          </a:ln>
        </p:spPr>
        <p:txBody>
          <a:bodyPr wrap="square" lIns="0" tIns="0" rIns="0" bIns="0" anchor="t">
            <a:normAutofit fontScale="87045"/>
          </a:bodyPr>
          <a:lstStyle>
            <a:defPPr algn="l">
              <a:defRPr sz="2325" b="1">
                <a:solidFill>
                  <a:srgbClr val="14241F"/>
                </a:solidFill>
                <a:latin typeface="Arial"/>
                <a:ea typeface="Arial"/>
                <a:cs typeface="Arial"/>
              </a:defRPr>
            </a:defPPr>
          </a:lstStyle>
          <a:p>
            <a:pPr algn="l">
              <a:lnSpc>
                <a:spcPct val="105000"/>
              </a:lnSpc>
              <a:buNone/>
              <a:defRPr sz="2325" b="1">
                <a:solidFill>
                  <a:srgbClr val="14241F"/>
                </a:solidFill>
                <a:latin typeface="Arial"/>
                <a:ea typeface="Arial"/>
                <a:cs typeface="Arial"/>
              </a:defRPr>
            </a:pPr>
            <a:r>
              <a:rPr sz="2325" b="1">
                <a:solidFill>
                  <a:srgbClr val="14241F"/>
                </a:solidFill>
                <a:latin typeface="Arial"/>
                <a:ea typeface="Arial"/>
                <a:cs typeface="Arial"/>
              </a:rPr>
              <a:t>02</a:t>
            </a:r>
          </a:p>
        </p:txBody>
      </p:sp>
      <p:sp>
        <p:nvSpPr>
          <p:cNvPr id="10" name="Straight Connector 9">
            <a:extLst>
              <a:ext uri="{FF2B5EF4-FFF2-40B4-BE49-F238E27FC236}">
                <a16:creationId xmlns:a16="http://schemas.microsoft.com/office/drawing/2014/main" id="{5AD2AC8A-7555-44DB-B0DC-D44340336902}"/>
              </a:ext>
            </a:extLst>
          </p:cNvPr>
          <p:cNvSpPr>
            <a:spLocks noGrp="1"/>
          </p:cNvSpPr>
          <p:nvPr/>
        </p:nvSpPr>
        <p:spPr>
          <a:xfrm>
            <a:off x="2819400" y="3152775"/>
            <a:ext cx="2076450" cy="0"/>
          </a:xfrm>
          <a:prstGeom prst="line">
            <a:avLst/>
          </a:prstGeom>
          <a:noFill/>
          <a:ln w="28575">
            <a:solidFill>
              <a:srgbClr val="D4DBD0"/>
            </a:solidFill>
            <a:prstDash val="solid"/>
          </a:ln>
        </p:spPr>
      </p:sp>
      <p:sp>
        <p:nvSpPr>
          <p:cNvPr id="11" name="Rectangle 10">
            <a:extLst>
              <a:ext uri="{FF2B5EF4-FFF2-40B4-BE49-F238E27FC236}">
                <a16:creationId xmlns:a16="http://schemas.microsoft.com/office/drawing/2014/main" id="{12664EEF-38B3-4A33-8ABD-2166E698BA80}"/>
              </a:ext>
            </a:extLst>
          </p:cNvPr>
          <p:cNvSpPr>
            <a:spLocks noGrp="1"/>
          </p:cNvSpPr>
          <p:nvPr/>
        </p:nvSpPr>
        <p:spPr>
          <a:xfrm>
            <a:off x="2819400" y="3314700"/>
            <a:ext cx="2076450" cy="20955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DATASET</a:t>
            </a:r>
          </a:p>
        </p:txBody>
      </p:sp>
      <p:sp>
        <p:nvSpPr>
          <p:cNvPr id="12" name="Rectangle 11">
            <a:extLst>
              <a:ext uri="{FF2B5EF4-FFF2-40B4-BE49-F238E27FC236}">
                <a16:creationId xmlns:a16="http://schemas.microsoft.com/office/drawing/2014/main" id="{316AC84D-CC8F-4A87-829B-6B89A54D8C33}"/>
              </a:ext>
            </a:extLst>
          </p:cNvPr>
          <p:cNvSpPr>
            <a:spLocks noGrp="1"/>
          </p:cNvSpPr>
          <p:nvPr/>
        </p:nvSpPr>
        <p:spPr>
          <a:xfrm>
            <a:off x="2819400" y="3638550"/>
            <a:ext cx="2076450" cy="742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A validated CSV and its profile</a:t>
            </a:r>
          </a:p>
        </p:txBody>
      </p:sp>
      <p:cxnSp>
        <p:nvCxnSpPr>
          <p:cNvPr id="13" name="Connector: Elbow 12">
            <a:extLst>
              <a:ext uri="{FF2B5EF4-FFF2-40B4-BE49-F238E27FC236}">
                <a16:creationId xmlns:a16="http://schemas.microsoft.com/office/drawing/2014/main" id="{85677F86-D32F-4F2A-891B-EA573EAFB8D9}"/>
              </a:ext>
            </a:extLst>
          </p:cNvPr>
          <p:cNvCxnSpPr/>
          <p:nvPr/>
        </p:nvCxnSpPr>
        <p:spPr>
          <a:xfrm>
            <a:off x="4886325" y="3076575"/>
            <a:ext cx="123825" cy="0"/>
          </a:xfrm>
          <a:prstGeom prst="bentConnector4">
            <a:avLst/>
          </a:prstGeom>
          <a:ln w="14288">
            <a:solidFill>
              <a:srgbClr val="148A78"/>
            </a:solidFill>
            <a:prstDash val="solid"/>
            <a:tailEnd type="arrow" w="med" len="med"/>
          </a:ln>
        </p:spPr>
      </p:cxnSp>
      <p:sp>
        <p:nvSpPr>
          <p:cNvPr id="14" name="Rectangle 13">
            <a:extLst>
              <a:ext uri="{FF2B5EF4-FFF2-40B4-BE49-F238E27FC236}">
                <a16:creationId xmlns:a16="http://schemas.microsoft.com/office/drawing/2014/main" id="{A1288059-1B8D-4AFE-B32D-E6A774271D9C}"/>
              </a:ext>
            </a:extLst>
          </p:cNvPr>
          <p:cNvSpPr>
            <a:spLocks noGrp="1"/>
          </p:cNvSpPr>
          <p:nvPr/>
        </p:nvSpPr>
        <p:spPr>
          <a:xfrm>
            <a:off x="5067300" y="2686050"/>
            <a:ext cx="2076450" cy="323850"/>
          </a:xfrm>
          <a:prstGeom prst="rect">
            <a:avLst/>
          </a:prstGeom>
          <a:noFill/>
          <a:ln w="0">
            <a:noFill/>
            <a:prstDash val="solid"/>
          </a:ln>
        </p:spPr>
        <p:txBody>
          <a:bodyPr wrap="square" lIns="0" tIns="0" rIns="0" bIns="0" anchor="t">
            <a:normAutofit fontScale="87045"/>
          </a:bodyPr>
          <a:lstStyle>
            <a:defPPr algn="l">
              <a:defRPr sz="2325" b="1">
                <a:solidFill>
                  <a:srgbClr val="14241F"/>
                </a:solidFill>
                <a:latin typeface="Arial"/>
                <a:ea typeface="Arial"/>
                <a:cs typeface="Arial"/>
              </a:defRPr>
            </a:defPPr>
          </a:lstStyle>
          <a:p>
            <a:pPr algn="l">
              <a:lnSpc>
                <a:spcPct val="105000"/>
              </a:lnSpc>
              <a:buNone/>
              <a:defRPr sz="2325" b="1">
                <a:solidFill>
                  <a:srgbClr val="14241F"/>
                </a:solidFill>
                <a:latin typeface="Arial"/>
                <a:ea typeface="Arial"/>
                <a:cs typeface="Arial"/>
              </a:defRPr>
            </a:pPr>
            <a:r>
              <a:rPr sz="2325" b="1">
                <a:solidFill>
                  <a:srgbClr val="14241F"/>
                </a:solidFill>
                <a:latin typeface="Arial"/>
                <a:ea typeface="Arial"/>
                <a:cs typeface="Arial"/>
              </a:rPr>
              <a:t>03</a:t>
            </a:r>
          </a:p>
        </p:txBody>
      </p:sp>
      <p:sp>
        <p:nvSpPr>
          <p:cNvPr id="15" name="Straight Connector 14">
            <a:extLst>
              <a:ext uri="{FF2B5EF4-FFF2-40B4-BE49-F238E27FC236}">
                <a16:creationId xmlns:a16="http://schemas.microsoft.com/office/drawing/2014/main" id="{5D3CF7A6-FABA-47A6-AB3B-878C8C4E0F6D}"/>
              </a:ext>
            </a:extLst>
          </p:cNvPr>
          <p:cNvSpPr>
            <a:spLocks noGrp="1"/>
          </p:cNvSpPr>
          <p:nvPr/>
        </p:nvSpPr>
        <p:spPr>
          <a:xfrm>
            <a:off x="5067300" y="3152775"/>
            <a:ext cx="2076450" cy="0"/>
          </a:xfrm>
          <a:prstGeom prst="line">
            <a:avLst/>
          </a:prstGeom>
          <a:noFill/>
          <a:ln w="28575">
            <a:solidFill>
              <a:srgbClr val="D4DBD0"/>
            </a:solidFill>
            <a:prstDash val="solid"/>
          </a:ln>
        </p:spPr>
      </p:sp>
      <p:sp>
        <p:nvSpPr>
          <p:cNvPr id="16" name="Rectangle 15">
            <a:extLst>
              <a:ext uri="{FF2B5EF4-FFF2-40B4-BE49-F238E27FC236}">
                <a16:creationId xmlns:a16="http://schemas.microsoft.com/office/drawing/2014/main" id="{E07629C8-1DA6-40CC-8E25-6110275AB828}"/>
              </a:ext>
            </a:extLst>
          </p:cNvPr>
          <p:cNvSpPr>
            <a:spLocks noGrp="1"/>
          </p:cNvSpPr>
          <p:nvPr/>
        </p:nvSpPr>
        <p:spPr>
          <a:xfrm>
            <a:off x="5067300" y="3314700"/>
            <a:ext cx="2076450" cy="20955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EXPERIMENT</a:t>
            </a:r>
          </a:p>
        </p:txBody>
      </p:sp>
      <p:sp>
        <p:nvSpPr>
          <p:cNvPr id="17" name="Rectangle 16">
            <a:extLst>
              <a:ext uri="{FF2B5EF4-FFF2-40B4-BE49-F238E27FC236}">
                <a16:creationId xmlns:a16="http://schemas.microsoft.com/office/drawing/2014/main" id="{45AD6770-7FD9-472C-95DE-A1F23B552E07}"/>
              </a:ext>
            </a:extLst>
          </p:cNvPr>
          <p:cNvSpPr>
            <a:spLocks noGrp="1"/>
          </p:cNvSpPr>
          <p:nvPr/>
        </p:nvSpPr>
        <p:spPr>
          <a:xfrm>
            <a:off x="5067300" y="3638550"/>
            <a:ext cx="2076450" cy="742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Model choice and training settings</a:t>
            </a:r>
          </a:p>
        </p:txBody>
      </p:sp>
      <p:cxnSp>
        <p:nvCxnSpPr>
          <p:cNvPr id="18" name="Connector: Elbow 17">
            <a:extLst>
              <a:ext uri="{FF2B5EF4-FFF2-40B4-BE49-F238E27FC236}">
                <a16:creationId xmlns:a16="http://schemas.microsoft.com/office/drawing/2014/main" id="{4875FC4D-AD38-48E5-B6EE-5FF69D46012F}"/>
              </a:ext>
            </a:extLst>
          </p:cNvPr>
          <p:cNvCxnSpPr/>
          <p:nvPr/>
        </p:nvCxnSpPr>
        <p:spPr>
          <a:xfrm>
            <a:off x="7134225" y="3076575"/>
            <a:ext cx="123825" cy="0"/>
          </a:xfrm>
          <a:prstGeom prst="bentConnector4">
            <a:avLst/>
          </a:prstGeom>
          <a:ln w="14288">
            <a:solidFill>
              <a:srgbClr val="148A78"/>
            </a:solidFill>
            <a:prstDash val="solid"/>
            <a:tailEnd type="arrow" w="med" len="med"/>
          </a:ln>
        </p:spPr>
      </p:cxnSp>
      <p:sp>
        <p:nvSpPr>
          <p:cNvPr id="19" name="Rectangle 18">
            <a:extLst>
              <a:ext uri="{FF2B5EF4-FFF2-40B4-BE49-F238E27FC236}">
                <a16:creationId xmlns:a16="http://schemas.microsoft.com/office/drawing/2014/main" id="{DA42DCBA-B63B-4B71-8732-A12DC5A4764E}"/>
              </a:ext>
            </a:extLst>
          </p:cNvPr>
          <p:cNvSpPr>
            <a:spLocks noGrp="1"/>
          </p:cNvSpPr>
          <p:nvPr/>
        </p:nvSpPr>
        <p:spPr>
          <a:xfrm>
            <a:off x="7315200" y="2686050"/>
            <a:ext cx="2076450" cy="323850"/>
          </a:xfrm>
          <a:prstGeom prst="rect">
            <a:avLst/>
          </a:prstGeom>
          <a:noFill/>
          <a:ln w="0">
            <a:noFill/>
            <a:prstDash val="solid"/>
          </a:ln>
        </p:spPr>
        <p:txBody>
          <a:bodyPr wrap="square" lIns="0" tIns="0" rIns="0" bIns="0" anchor="t">
            <a:normAutofit fontScale="87045"/>
          </a:bodyPr>
          <a:lstStyle>
            <a:defPPr algn="l">
              <a:defRPr sz="2325" b="1">
                <a:solidFill>
                  <a:srgbClr val="148A78"/>
                </a:solidFill>
                <a:latin typeface="Arial"/>
                <a:ea typeface="Arial"/>
                <a:cs typeface="Arial"/>
              </a:defRPr>
            </a:defPPr>
          </a:lstStyle>
          <a:p>
            <a:pPr algn="l">
              <a:lnSpc>
                <a:spcPct val="105000"/>
              </a:lnSpc>
              <a:buNone/>
              <a:defRPr sz="2325" b="1">
                <a:solidFill>
                  <a:srgbClr val="148A78"/>
                </a:solidFill>
                <a:latin typeface="Arial"/>
                <a:ea typeface="Arial"/>
                <a:cs typeface="Arial"/>
              </a:defRPr>
            </a:pPr>
            <a:r>
              <a:rPr sz="2325" b="1">
                <a:solidFill>
                  <a:srgbClr val="148A78"/>
                </a:solidFill>
                <a:latin typeface="Arial"/>
                <a:ea typeface="Arial"/>
                <a:cs typeface="Arial"/>
              </a:rPr>
              <a:t>04</a:t>
            </a:r>
          </a:p>
        </p:txBody>
      </p:sp>
      <p:sp>
        <p:nvSpPr>
          <p:cNvPr id="20" name="Straight Connector 19">
            <a:extLst>
              <a:ext uri="{FF2B5EF4-FFF2-40B4-BE49-F238E27FC236}">
                <a16:creationId xmlns:a16="http://schemas.microsoft.com/office/drawing/2014/main" id="{136B1CD9-3D80-4D5C-A87C-7F42E2B4F47E}"/>
              </a:ext>
            </a:extLst>
          </p:cNvPr>
          <p:cNvSpPr>
            <a:spLocks noGrp="1"/>
          </p:cNvSpPr>
          <p:nvPr/>
        </p:nvSpPr>
        <p:spPr>
          <a:xfrm>
            <a:off x="7315200" y="3152775"/>
            <a:ext cx="2076450" cy="0"/>
          </a:xfrm>
          <a:prstGeom prst="line">
            <a:avLst/>
          </a:prstGeom>
          <a:noFill/>
          <a:ln w="28575">
            <a:solidFill>
              <a:srgbClr val="39C4A4"/>
            </a:solidFill>
            <a:prstDash val="solid"/>
          </a:ln>
        </p:spPr>
      </p:sp>
      <p:sp>
        <p:nvSpPr>
          <p:cNvPr id="21" name="Rectangle 20">
            <a:extLst>
              <a:ext uri="{FF2B5EF4-FFF2-40B4-BE49-F238E27FC236}">
                <a16:creationId xmlns:a16="http://schemas.microsoft.com/office/drawing/2014/main" id="{673C85B7-796A-4045-BC8E-55D9CC3316E6}"/>
              </a:ext>
            </a:extLst>
          </p:cNvPr>
          <p:cNvSpPr>
            <a:spLocks noGrp="1"/>
          </p:cNvSpPr>
          <p:nvPr/>
        </p:nvSpPr>
        <p:spPr>
          <a:xfrm>
            <a:off x="7315200" y="3314700"/>
            <a:ext cx="2076450" cy="20955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RESULT</a:t>
            </a:r>
          </a:p>
        </p:txBody>
      </p:sp>
      <p:sp>
        <p:nvSpPr>
          <p:cNvPr id="22" name="Rectangle 21">
            <a:extLst>
              <a:ext uri="{FF2B5EF4-FFF2-40B4-BE49-F238E27FC236}">
                <a16:creationId xmlns:a16="http://schemas.microsoft.com/office/drawing/2014/main" id="{87A1719B-81EF-4B9D-A051-F685D217BC97}"/>
              </a:ext>
            </a:extLst>
          </p:cNvPr>
          <p:cNvSpPr>
            <a:spLocks noGrp="1"/>
          </p:cNvSpPr>
          <p:nvPr/>
        </p:nvSpPr>
        <p:spPr>
          <a:xfrm>
            <a:off x="7315200" y="3638550"/>
            <a:ext cx="2076450" cy="742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Run status, logs and held-out metrics</a:t>
            </a:r>
          </a:p>
        </p:txBody>
      </p:sp>
      <p:cxnSp>
        <p:nvCxnSpPr>
          <p:cNvPr id="23" name="Connector: Elbow 22">
            <a:extLst>
              <a:ext uri="{FF2B5EF4-FFF2-40B4-BE49-F238E27FC236}">
                <a16:creationId xmlns:a16="http://schemas.microsoft.com/office/drawing/2014/main" id="{BA704054-C7F3-4C9B-8052-0161B9F7B7EB}"/>
              </a:ext>
            </a:extLst>
          </p:cNvPr>
          <p:cNvCxnSpPr/>
          <p:nvPr/>
        </p:nvCxnSpPr>
        <p:spPr>
          <a:xfrm>
            <a:off x="9382125" y="3076575"/>
            <a:ext cx="123825" cy="0"/>
          </a:xfrm>
          <a:prstGeom prst="bentConnector4">
            <a:avLst/>
          </a:prstGeom>
          <a:ln w="14288">
            <a:solidFill>
              <a:srgbClr val="148A78"/>
            </a:solidFill>
            <a:prstDash val="solid"/>
            <a:tailEnd type="arrow" w="med" len="med"/>
          </a:ln>
        </p:spPr>
      </p:cxnSp>
      <p:sp>
        <p:nvSpPr>
          <p:cNvPr id="24" name="Rectangle 23">
            <a:extLst>
              <a:ext uri="{FF2B5EF4-FFF2-40B4-BE49-F238E27FC236}">
                <a16:creationId xmlns:a16="http://schemas.microsoft.com/office/drawing/2014/main" id="{387CA07E-DFE1-4714-B5A8-C00C43C0836C}"/>
              </a:ext>
            </a:extLst>
          </p:cNvPr>
          <p:cNvSpPr>
            <a:spLocks noGrp="1"/>
          </p:cNvSpPr>
          <p:nvPr/>
        </p:nvSpPr>
        <p:spPr>
          <a:xfrm>
            <a:off x="9563100" y="2686050"/>
            <a:ext cx="2076450" cy="323850"/>
          </a:xfrm>
          <a:prstGeom prst="rect">
            <a:avLst/>
          </a:prstGeom>
          <a:noFill/>
          <a:ln w="0">
            <a:noFill/>
            <a:prstDash val="solid"/>
          </a:ln>
        </p:spPr>
        <p:txBody>
          <a:bodyPr wrap="square" lIns="0" tIns="0" rIns="0" bIns="0" anchor="t">
            <a:normAutofit fontScale="87045"/>
          </a:bodyPr>
          <a:lstStyle>
            <a:defPPr algn="l">
              <a:defRPr sz="2325" b="1">
                <a:solidFill>
                  <a:srgbClr val="14241F"/>
                </a:solidFill>
                <a:latin typeface="Arial"/>
                <a:ea typeface="Arial"/>
                <a:cs typeface="Arial"/>
              </a:defRPr>
            </a:defPPr>
          </a:lstStyle>
          <a:p>
            <a:pPr algn="l">
              <a:lnSpc>
                <a:spcPct val="105000"/>
              </a:lnSpc>
              <a:buNone/>
              <a:defRPr sz="2325" b="1">
                <a:solidFill>
                  <a:srgbClr val="14241F"/>
                </a:solidFill>
                <a:latin typeface="Arial"/>
                <a:ea typeface="Arial"/>
                <a:cs typeface="Arial"/>
              </a:defRPr>
            </a:pPr>
            <a:r>
              <a:rPr sz="2325" b="1">
                <a:solidFill>
                  <a:srgbClr val="14241F"/>
                </a:solidFill>
                <a:latin typeface="Arial"/>
                <a:ea typeface="Arial"/>
                <a:cs typeface="Arial"/>
              </a:rPr>
              <a:t>05</a:t>
            </a:r>
          </a:p>
        </p:txBody>
      </p:sp>
      <p:sp>
        <p:nvSpPr>
          <p:cNvPr id="25" name="Straight Connector 24">
            <a:extLst>
              <a:ext uri="{FF2B5EF4-FFF2-40B4-BE49-F238E27FC236}">
                <a16:creationId xmlns:a16="http://schemas.microsoft.com/office/drawing/2014/main" id="{2EF0D4B0-F5DB-4ED9-A43E-0DA22803843D}"/>
              </a:ext>
            </a:extLst>
          </p:cNvPr>
          <p:cNvSpPr>
            <a:spLocks noGrp="1"/>
          </p:cNvSpPr>
          <p:nvPr/>
        </p:nvSpPr>
        <p:spPr>
          <a:xfrm>
            <a:off x="9563100" y="3152775"/>
            <a:ext cx="2076450" cy="0"/>
          </a:xfrm>
          <a:prstGeom prst="line">
            <a:avLst/>
          </a:prstGeom>
          <a:noFill/>
          <a:ln w="28575">
            <a:solidFill>
              <a:srgbClr val="D4DBD0"/>
            </a:solidFill>
            <a:prstDash val="solid"/>
          </a:ln>
        </p:spPr>
      </p:sp>
      <p:sp>
        <p:nvSpPr>
          <p:cNvPr id="26" name="Rectangle 25">
            <a:extLst>
              <a:ext uri="{FF2B5EF4-FFF2-40B4-BE49-F238E27FC236}">
                <a16:creationId xmlns:a16="http://schemas.microsoft.com/office/drawing/2014/main" id="{D909028D-C120-4124-8A55-B2B85CB43E92}"/>
              </a:ext>
            </a:extLst>
          </p:cNvPr>
          <p:cNvSpPr>
            <a:spLocks noGrp="1"/>
          </p:cNvSpPr>
          <p:nvPr/>
        </p:nvSpPr>
        <p:spPr>
          <a:xfrm>
            <a:off x="9563100" y="3314700"/>
            <a:ext cx="2076450" cy="20955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TEAM</a:t>
            </a:r>
          </a:p>
        </p:txBody>
      </p:sp>
      <p:sp>
        <p:nvSpPr>
          <p:cNvPr id="27" name="Rectangle 26">
            <a:extLst>
              <a:ext uri="{FF2B5EF4-FFF2-40B4-BE49-F238E27FC236}">
                <a16:creationId xmlns:a16="http://schemas.microsoft.com/office/drawing/2014/main" id="{15C44ED9-5765-49F8-8434-A4DA4B7DC55B}"/>
              </a:ext>
            </a:extLst>
          </p:cNvPr>
          <p:cNvSpPr>
            <a:spLocks noGrp="1"/>
          </p:cNvSpPr>
          <p:nvPr/>
        </p:nvSpPr>
        <p:spPr>
          <a:xfrm>
            <a:off x="9563100" y="3638550"/>
            <a:ext cx="2076450" cy="742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Shared access to project research</a:t>
            </a:r>
          </a:p>
        </p:txBody>
      </p:sp>
      <p:sp>
        <p:nvSpPr>
          <p:cNvPr id="28" name="Rectangle 27">
            <a:extLst>
              <a:ext uri="{FF2B5EF4-FFF2-40B4-BE49-F238E27FC236}">
                <a16:creationId xmlns:a16="http://schemas.microsoft.com/office/drawing/2014/main" id="{AE96A59C-024C-4107-9A7C-27B15AC9B663}"/>
              </a:ext>
            </a:extLst>
          </p:cNvPr>
          <p:cNvSpPr>
            <a:spLocks noGrp="1"/>
          </p:cNvSpPr>
          <p:nvPr/>
        </p:nvSpPr>
        <p:spPr>
          <a:xfrm>
            <a:off x="628650" y="4953000"/>
            <a:ext cx="10382250" cy="381000"/>
          </a:xfrm>
          <a:prstGeom prst="rect">
            <a:avLst/>
          </a:prstGeom>
          <a:noFill/>
          <a:ln w="0">
            <a:noFill/>
            <a:prstDash val="solid"/>
          </a:ln>
        </p:spPr>
        <p:txBody>
          <a:bodyPr wrap="square" lIns="0" tIns="0" rIns="0" bIns="0" anchor="t">
            <a:normAutofit/>
          </a:bodyPr>
          <a:lstStyle>
            <a:defPPr algn="l">
              <a:defRPr sz="1650" b="0">
                <a:solidFill>
                  <a:srgbClr val="62736B"/>
                </a:solidFill>
                <a:latin typeface="Arial"/>
                <a:ea typeface="Arial"/>
                <a:cs typeface="Arial"/>
              </a:defRPr>
            </a:defPPr>
          </a:lstStyle>
          <a:p>
            <a:pPr algn="l">
              <a:lnSpc>
                <a:spcPct val="105000"/>
              </a:lnSpc>
              <a:buNone/>
              <a:defRPr sz="1650" b="0">
                <a:solidFill>
                  <a:srgbClr val="62736B"/>
                </a:solidFill>
                <a:latin typeface="Arial"/>
                <a:ea typeface="Arial"/>
                <a:cs typeface="Arial"/>
              </a:defRPr>
            </a:pPr>
            <a:r>
              <a:rPr sz="1650" b="0">
                <a:solidFill>
                  <a:srgbClr val="62736B"/>
                </a:solidFill>
                <a:latin typeface="Arial"/>
                <a:ea typeface="Arial"/>
                <a:cs typeface="Arial"/>
              </a:rPr>
              <a:t>The browser shows the work. Java services apply rules. JDBC stores the research record.</a:t>
            </a:r>
          </a:p>
        </p:txBody>
      </p:sp>
    </p:spTree>
    <p:extLst>
      <p:ext uri="{BB962C8B-B14F-4D97-AF65-F5344CB8AC3E}">
        <p14:creationId xmlns:p14="http://schemas.microsoft.com/office/powerpoint/2010/main" val="609406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5B87604-82C0-4FA5-B81E-176C88E16EF3}"/>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03 / ROLES</a:t>
            </a:r>
          </a:p>
        </p:txBody>
      </p:sp>
      <p:sp>
        <p:nvSpPr>
          <p:cNvPr id="2" name="Rectangle 1">
            <a:extLst>
              <a:ext uri="{FF2B5EF4-FFF2-40B4-BE49-F238E27FC236}">
                <a16:creationId xmlns:a16="http://schemas.microsoft.com/office/drawing/2014/main" id="{2582D138-1EB9-4981-8F63-DE0C73D5EAC7}"/>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Administration and research have different jobs</a:t>
            </a:r>
          </a:p>
        </p:txBody>
      </p:sp>
      <p:sp>
        <p:nvSpPr>
          <p:cNvPr id="3" name="Rectangle 2">
            <a:extLst>
              <a:ext uri="{FF2B5EF4-FFF2-40B4-BE49-F238E27FC236}">
                <a16:creationId xmlns:a16="http://schemas.microsoft.com/office/drawing/2014/main" id="{A4A78BE6-98B5-4544-BCEE-AB847EC5D194}"/>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Admins govern the platform. Researchers conduct the model work.</a:t>
            </a:r>
          </a:p>
        </p:txBody>
      </p:sp>
      <p:sp>
        <p:nvSpPr>
          <p:cNvPr id="4" name="Straight Connector 3">
            <a:extLst>
              <a:ext uri="{FF2B5EF4-FFF2-40B4-BE49-F238E27FC236}">
                <a16:creationId xmlns:a16="http://schemas.microsoft.com/office/drawing/2014/main" id="{E5BD24CF-BDE4-45CC-A9BA-BDC2B445BDDC}"/>
              </a:ext>
            </a:extLst>
          </p:cNvPr>
          <p:cNvSpPr>
            <a:spLocks noGrp="1"/>
          </p:cNvSpPr>
          <p:nvPr/>
        </p:nvSpPr>
        <p:spPr>
          <a:xfrm>
            <a:off x="6057900" y="2247900"/>
            <a:ext cx="0" cy="3714750"/>
          </a:xfrm>
          <a:prstGeom prst="line">
            <a:avLst/>
          </a:prstGeom>
          <a:noFill/>
          <a:ln w="19050">
            <a:solidFill>
              <a:srgbClr val="D4DBD0"/>
            </a:solidFill>
            <a:prstDash val="solid"/>
          </a:ln>
        </p:spPr>
      </p:sp>
      <p:sp>
        <p:nvSpPr>
          <p:cNvPr id="5" name="Rectangle 4">
            <a:extLst>
              <a:ext uri="{FF2B5EF4-FFF2-40B4-BE49-F238E27FC236}">
                <a16:creationId xmlns:a16="http://schemas.microsoft.com/office/drawing/2014/main" id="{D1F1638D-6026-4D56-94CF-5C021627BA0A}"/>
              </a:ext>
            </a:extLst>
          </p:cNvPr>
          <p:cNvSpPr>
            <a:spLocks noGrp="1"/>
          </p:cNvSpPr>
          <p:nvPr/>
        </p:nvSpPr>
        <p:spPr>
          <a:xfrm>
            <a:off x="666750" y="2324100"/>
            <a:ext cx="4762500" cy="333375"/>
          </a:xfrm>
          <a:prstGeom prst="rect">
            <a:avLst/>
          </a:prstGeom>
          <a:noFill/>
          <a:ln w="0">
            <a:noFill/>
            <a:prstDash val="solid"/>
          </a:ln>
        </p:spPr>
        <p:txBody>
          <a:bodyPr wrap="square" lIns="0" tIns="0" rIns="0" bIns="0" anchor="t">
            <a:normAutofit/>
          </a:bodyPr>
          <a:lstStyle>
            <a:defPPr algn="l">
              <a:defRPr sz="1275" b="1">
                <a:solidFill>
                  <a:srgbClr val="148A78"/>
                </a:solidFill>
                <a:latin typeface="Arial"/>
                <a:ea typeface="Arial"/>
                <a:cs typeface="Arial"/>
              </a:defRPr>
            </a:defPPr>
          </a:lstStyle>
          <a:p>
            <a:pPr algn="l">
              <a:lnSpc>
                <a:spcPct val="105000"/>
              </a:lnSpc>
              <a:buNone/>
              <a:defRPr sz="1275" b="1">
                <a:solidFill>
                  <a:srgbClr val="148A78"/>
                </a:solidFill>
                <a:latin typeface="Arial"/>
                <a:ea typeface="Arial"/>
                <a:cs typeface="Arial"/>
              </a:defRPr>
            </a:pPr>
            <a:r>
              <a:rPr sz="1275" b="1">
                <a:solidFill>
                  <a:srgbClr val="148A78"/>
                </a:solidFill>
                <a:latin typeface="Arial"/>
                <a:ea typeface="Arial"/>
                <a:cs typeface="Arial"/>
              </a:rPr>
              <a:t>ADMINISTRATOR</a:t>
            </a:r>
          </a:p>
        </p:txBody>
      </p:sp>
      <p:sp>
        <p:nvSpPr>
          <p:cNvPr id="6" name="Rectangle 5">
            <a:extLst>
              <a:ext uri="{FF2B5EF4-FFF2-40B4-BE49-F238E27FC236}">
                <a16:creationId xmlns:a16="http://schemas.microsoft.com/office/drawing/2014/main" id="{682C392D-01DA-4BA7-A019-94ABA6324A8E}"/>
              </a:ext>
            </a:extLst>
          </p:cNvPr>
          <p:cNvSpPr>
            <a:spLocks noGrp="1"/>
          </p:cNvSpPr>
          <p:nvPr/>
        </p:nvSpPr>
        <p:spPr>
          <a:xfrm>
            <a:off x="666750" y="2809875"/>
            <a:ext cx="4762500" cy="1000125"/>
          </a:xfrm>
          <a:prstGeom prst="rect">
            <a:avLst/>
          </a:prstGeom>
          <a:noFill/>
          <a:ln w="0">
            <a:noFill/>
            <a:prstDash val="solid"/>
          </a:ln>
        </p:spPr>
        <p:txBody>
          <a:bodyPr wrap="square" lIns="0" tIns="0" rIns="0" bIns="0" anchor="t">
            <a:normAutofit/>
          </a:bodyPr>
          <a:lstStyle>
            <a:defPPr algn="l">
              <a:defRPr sz="2850" b="1">
                <a:solidFill>
                  <a:srgbClr val="14241F"/>
                </a:solidFill>
                <a:latin typeface="Arial"/>
                <a:ea typeface="Arial"/>
                <a:cs typeface="Arial"/>
              </a:defRPr>
            </a:defPPr>
          </a:lstStyle>
          <a:p>
            <a:pPr algn="l">
              <a:lnSpc>
                <a:spcPct val="105000"/>
              </a:lnSpc>
              <a:buNone/>
              <a:defRPr sz="2850" b="1">
                <a:solidFill>
                  <a:srgbClr val="14241F"/>
                </a:solidFill>
                <a:latin typeface="Arial"/>
                <a:ea typeface="Arial"/>
                <a:cs typeface="Arial"/>
              </a:defRPr>
            </a:pPr>
            <a:r>
              <a:rPr sz="2850" b="1">
                <a:solidFill>
                  <a:srgbClr val="14241F"/>
                </a:solidFill>
                <a:latin typeface="Arial"/>
                <a:ea typeface="Arial"/>
                <a:cs typeface="Arial"/>
              </a:rPr>
              <a:t>Platform</a:t>
            </a:r>
          </a:p>
          <a:p>
            <a:pPr algn="l">
              <a:lnSpc>
                <a:spcPct val="105000"/>
              </a:lnSpc>
              <a:buNone/>
              <a:defRPr sz="2850" b="1">
                <a:solidFill>
                  <a:srgbClr val="14241F"/>
                </a:solidFill>
                <a:latin typeface="Arial"/>
                <a:ea typeface="Arial"/>
                <a:cs typeface="Arial"/>
              </a:defRPr>
            </a:pPr>
            <a:r>
              <a:rPr sz="2850" b="1">
                <a:solidFill>
                  <a:srgbClr val="14241F"/>
                </a:solidFill>
                <a:latin typeface="Arial"/>
                <a:ea typeface="Arial"/>
                <a:cs typeface="Arial"/>
              </a:rPr>
              <a:t>management</a:t>
            </a:r>
          </a:p>
        </p:txBody>
      </p:sp>
      <p:sp>
        <p:nvSpPr>
          <p:cNvPr id="7" name="Rectangle 6">
            <a:extLst>
              <a:ext uri="{FF2B5EF4-FFF2-40B4-BE49-F238E27FC236}">
                <a16:creationId xmlns:a16="http://schemas.microsoft.com/office/drawing/2014/main" id="{A057B1C5-E5E7-4EDA-AFE2-6D802463E305}"/>
              </a:ext>
            </a:extLst>
          </p:cNvPr>
          <p:cNvSpPr>
            <a:spLocks noGrp="1"/>
          </p:cNvSpPr>
          <p:nvPr/>
        </p:nvSpPr>
        <p:spPr>
          <a:xfrm>
            <a:off x="704850" y="4076700"/>
            <a:ext cx="361950" cy="22860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01</a:t>
            </a:r>
          </a:p>
        </p:txBody>
      </p:sp>
      <p:sp>
        <p:nvSpPr>
          <p:cNvPr id="8" name="Rectangle 7">
            <a:extLst>
              <a:ext uri="{FF2B5EF4-FFF2-40B4-BE49-F238E27FC236}">
                <a16:creationId xmlns:a16="http://schemas.microsoft.com/office/drawing/2014/main" id="{F2560A5A-17D9-4289-9525-66E2B5D5CD72}"/>
              </a:ext>
            </a:extLst>
          </p:cNvPr>
          <p:cNvSpPr>
            <a:spLocks noGrp="1"/>
          </p:cNvSpPr>
          <p:nvPr/>
        </p:nvSpPr>
        <p:spPr>
          <a:xfrm>
            <a:off x="1162050" y="405765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Manage accounts and role access</a:t>
            </a:r>
          </a:p>
        </p:txBody>
      </p:sp>
      <p:sp>
        <p:nvSpPr>
          <p:cNvPr id="9" name="Rectangle 8">
            <a:extLst>
              <a:ext uri="{FF2B5EF4-FFF2-40B4-BE49-F238E27FC236}">
                <a16:creationId xmlns:a16="http://schemas.microsoft.com/office/drawing/2014/main" id="{3B2D076F-5F08-4C7A-8FB1-AFC07D4D9D8C}"/>
              </a:ext>
            </a:extLst>
          </p:cNvPr>
          <p:cNvSpPr>
            <a:spLocks noGrp="1"/>
          </p:cNvSpPr>
          <p:nvPr/>
        </p:nvSpPr>
        <p:spPr>
          <a:xfrm>
            <a:off x="704850" y="4514850"/>
            <a:ext cx="361950" cy="22860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02</a:t>
            </a:r>
          </a:p>
        </p:txBody>
      </p:sp>
      <p:sp>
        <p:nvSpPr>
          <p:cNvPr id="10" name="Rectangle 9">
            <a:extLst>
              <a:ext uri="{FF2B5EF4-FFF2-40B4-BE49-F238E27FC236}">
                <a16:creationId xmlns:a16="http://schemas.microsoft.com/office/drawing/2014/main" id="{0554E5A3-CBA6-4A31-BA41-69602256CB10}"/>
              </a:ext>
            </a:extLst>
          </p:cNvPr>
          <p:cNvSpPr>
            <a:spLocks noGrp="1"/>
          </p:cNvSpPr>
          <p:nvPr/>
        </p:nvSpPr>
        <p:spPr>
          <a:xfrm>
            <a:off x="1162050" y="449580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Create, update, archive or restore research projects</a:t>
            </a:r>
          </a:p>
        </p:txBody>
      </p:sp>
      <p:sp>
        <p:nvSpPr>
          <p:cNvPr id="11" name="Rectangle 10">
            <a:extLst>
              <a:ext uri="{FF2B5EF4-FFF2-40B4-BE49-F238E27FC236}">
                <a16:creationId xmlns:a16="http://schemas.microsoft.com/office/drawing/2014/main" id="{35C93BBD-0870-4DF6-9254-0A518D7F8527}"/>
              </a:ext>
            </a:extLst>
          </p:cNvPr>
          <p:cNvSpPr>
            <a:spLocks noGrp="1"/>
          </p:cNvSpPr>
          <p:nvPr/>
        </p:nvSpPr>
        <p:spPr>
          <a:xfrm>
            <a:off x="704850" y="4953000"/>
            <a:ext cx="361950" cy="22860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03</a:t>
            </a:r>
          </a:p>
        </p:txBody>
      </p:sp>
      <p:sp>
        <p:nvSpPr>
          <p:cNvPr id="12" name="Rectangle 11">
            <a:extLst>
              <a:ext uri="{FF2B5EF4-FFF2-40B4-BE49-F238E27FC236}">
                <a16:creationId xmlns:a16="http://schemas.microsoft.com/office/drawing/2014/main" id="{1C93F8B2-6AEE-4BAA-99A4-B99762D0B020}"/>
              </a:ext>
            </a:extLst>
          </p:cNvPr>
          <p:cNvSpPr>
            <a:spLocks noGrp="1"/>
          </p:cNvSpPr>
          <p:nvPr/>
        </p:nvSpPr>
        <p:spPr>
          <a:xfrm>
            <a:off x="1162050" y="493395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Maintain compute and storage records</a:t>
            </a:r>
          </a:p>
        </p:txBody>
      </p:sp>
      <p:sp>
        <p:nvSpPr>
          <p:cNvPr id="13" name="Rectangle 12">
            <a:extLst>
              <a:ext uri="{FF2B5EF4-FFF2-40B4-BE49-F238E27FC236}">
                <a16:creationId xmlns:a16="http://schemas.microsoft.com/office/drawing/2014/main" id="{9494E96D-B34F-45FB-BF1B-262C755A6C02}"/>
              </a:ext>
            </a:extLst>
          </p:cNvPr>
          <p:cNvSpPr>
            <a:spLocks noGrp="1"/>
          </p:cNvSpPr>
          <p:nvPr/>
        </p:nvSpPr>
        <p:spPr>
          <a:xfrm>
            <a:off x="704850" y="5391150"/>
            <a:ext cx="361950" cy="22860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04</a:t>
            </a:r>
          </a:p>
        </p:txBody>
      </p:sp>
      <p:sp>
        <p:nvSpPr>
          <p:cNvPr id="14" name="Rectangle 13">
            <a:extLst>
              <a:ext uri="{FF2B5EF4-FFF2-40B4-BE49-F238E27FC236}">
                <a16:creationId xmlns:a16="http://schemas.microsoft.com/office/drawing/2014/main" id="{63336C0A-9D95-40B6-8303-08ED7656CB3D}"/>
              </a:ext>
            </a:extLst>
          </p:cNvPr>
          <p:cNvSpPr>
            <a:spLocks noGrp="1"/>
          </p:cNvSpPr>
          <p:nvPr/>
        </p:nvSpPr>
        <p:spPr>
          <a:xfrm>
            <a:off x="1162050" y="537210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Review usage reports and the activity log</a:t>
            </a:r>
          </a:p>
        </p:txBody>
      </p:sp>
      <p:sp>
        <p:nvSpPr>
          <p:cNvPr id="15" name="Rectangle 14">
            <a:extLst>
              <a:ext uri="{FF2B5EF4-FFF2-40B4-BE49-F238E27FC236}">
                <a16:creationId xmlns:a16="http://schemas.microsoft.com/office/drawing/2014/main" id="{432AB8A0-95CE-400E-98BB-18CF61E67F79}"/>
              </a:ext>
            </a:extLst>
          </p:cNvPr>
          <p:cNvSpPr>
            <a:spLocks noGrp="1"/>
          </p:cNvSpPr>
          <p:nvPr/>
        </p:nvSpPr>
        <p:spPr>
          <a:xfrm>
            <a:off x="6553200" y="2324100"/>
            <a:ext cx="4762500" cy="333375"/>
          </a:xfrm>
          <a:prstGeom prst="rect">
            <a:avLst/>
          </a:prstGeom>
          <a:noFill/>
          <a:ln w="0">
            <a:noFill/>
            <a:prstDash val="solid"/>
          </a:ln>
        </p:spPr>
        <p:txBody>
          <a:bodyPr wrap="square" lIns="0" tIns="0" rIns="0" bIns="0" anchor="t">
            <a:normAutofit/>
          </a:bodyPr>
          <a:lstStyle>
            <a:defPPr algn="l">
              <a:defRPr sz="1275" b="1">
                <a:solidFill>
                  <a:srgbClr val="E79B54"/>
                </a:solidFill>
                <a:latin typeface="Arial"/>
                <a:ea typeface="Arial"/>
                <a:cs typeface="Arial"/>
              </a:defRPr>
            </a:defPPr>
          </a:lstStyle>
          <a:p>
            <a:pPr algn="l">
              <a:lnSpc>
                <a:spcPct val="105000"/>
              </a:lnSpc>
              <a:buNone/>
              <a:defRPr sz="1275" b="1">
                <a:solidFill>
                  <a:srgbClr val="E79B54"/>
                </a:solidFill>
                <a:latin typeface="Arial"/>
                <a:ea typeface="Arial"/>
                <a:cs typeface="Arial"/>
              </a:defRPr>
            </a:pPr>
            <a:r>
              <a:rPr sz="1275" b="1">
                <a:solidFill>
                  <a:srgbClr val="E79B54"/>
                </a:solidFill>
                <a:latin typeface="Arial"/>
                <a:ea typeface="Arial"/>
                <a:cs typeface="Arial"/>
              </a:rPr>
              <a:t>RESEARCHER</a:t>
            </a:r>
          </a:p>
        </p:txBody>
      </p:sp>
      <p:sp>
        <p:nvSpPr>
          <p:cNvPr id="16" name="Rectangle 15">
            <a:extLst>
              <a:ext uri="{FF2B5EF4-FFF2-40B4-BE49-F238E27FC236}">
                <a16:creationId xmlns:a16="http://schemas.microsoft.com/office/drawing/2014/main" id="{0B3AE3CE-770A-4281-A546-4451E50A5023}"/>
              </a:ext>
            </a:extLst>
          </p:cNvPr>
          <p:cNvSpPr>
            <a:spLocks noGrp="1"/>
          </p:cNvSpPr>
          <p:nvPr/>
        </p:nvSpPr>
        <p:spPr>
          <a:xfrm>
            <a:off x="6553200" y="2809875"/>
            <a:ext cx="4762500" cy="1000125"/>
          </a:xfrm>
          <a:prstGeom prst="rect">
            <a:avLst/>
          </a:prstGeom>
          <a:noFill/>
          <a:ln w="0">
            <a:noFill/>
            <a:prstDash val="solid"/>
          </a:ln>
        </p:spPr>
        <p:txBody>
          <a:bodyPr wrap="square" lIns="0" tIns="0" rIns="0" bIns="0" anchor="t">
            <a:normAutofit/>
          </a:bodyPr>
          <a:lstStyle>
            <a:defPPr algn="l">
              <a:defRPr sz="2850" b="1">
                <a:solidFill>
                  <a:srgbClr val="14241F"/>
                </a:solidFill>
                <a:latin typeface="Arial"/>
                <a:ea typeface="Arial"/>
                <a:cs typeface="Arial"/>
              </a:defRPr>
            </a:defPPr>
          </a:lstStyle>
          <a:p>
            <a:pPr algn="l">
              <a:lnSpc>
                <a:spcPct val="105000"/>
              </a:lnSpc>
              <a:buNone/>
              <a:defRPr sz="2850" b="1">
                <a:solidFill>
                  <a:srgbClr val="14241F"/>
                </a:solidFill>
                <a:latin typeface="Arial"/>
                <a:ea typeface="Arial"/>
                <a:cs typeface="Arial"/>
              </a:defRPr>
            </a:pPr>
            <a:r>
              <a:rPr sz="2850" b="1">
                <a:solidFill>
                  <a:srgbClr val="14241F"/>
                </a:solidFill>
                <a:latin typeface="Arial"/>
                <a:ea typeface="Arial"/>
                <a:cs typeface="Arial"/>
              </a:rPr>
              <a:t>Research</a:t>
            </a:r>
          </a:p>
          <a:p>
            <a:pPr algn="l">
              <a:lnSpc>
                <a:spcPct val="105000"/>
              </a:lnSpc>
              <a:buNone/>
              <a:defRPr sz="2850" b="1">
                <a:solidFill>
                  <a:srgbClr val="14241F"/>
                </a:solidFill>
                <a:latin typeface="Arial"/>
                <a:ea typeface="Arial"/>
                <a:cs typeface="Arial"/>
              </a:defRPr>
            </a:pPr>
            <a:r>
              <a:rPr sz="2850" b="1">
                <a:solidFill>
                  <a:srgbClr val="14241F"/>
                </a:solidFill>
                <a:latin typeface="Arial"/>
                <a:ea typeface="Arial"/>
                <a:cs typeface="Arial"/>
              </a:rPr>
              <a:t>workspace</a:t>
            </a:r>
          </a:p>
        </p:txBody>
      </p:sp>
      <p:sp>
        <p:nvSpPr>
          <p:cNvPr id="17" name="Rectangle 16">
            <a:extLst>
              <a:ext uri="{FF2B5EF4-FFF2-40B4-BE49-F238E27FC236}">
                <a16:creationId xmlns:a16="http://schemas.microsoft.com/office/drawing/2014/main" id="{2837B1DF-1DDD-4438-BBED-FEBBFED9B28E}"/>
              </a:ext>
            </a:extLst>
          </p:cNvPr>
          <p:cNvSpPr>
            <a:spLocks noGrp="1"/>
          </p:cNvSpPr>
          <p:nvPr/>
        </p:nvSpPr>
        <p:spPr>
          <a:xfrm>
            <a:off x="6591300" y="4076700"/>
            <a:ext cx="361950" cy="228600"/>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01</a:t>
            </a:r>
          </a:p>
        </p:txBody>
      </p:sp>
      <p:sp>
        <p:nvSpPr>
          <p:cNvPr id="18" name="Rectangle 17">
            <a:extLst>
              <a:ext uri="{FF2B5EF4-FFF2-40B4-BE49-F238E27FC236}">
                <a16:creationId xmlns:a16="http://schemas.microsoft.com/office/drawing/2014/main" id="{E6C44A3D-B962-40F7-9D5A-466414E42FD4}"/>
              </a:ext>
            </a:extLst>
          </p:cNvPr>
          <p:cNvSpPr>
            <a:spLocks noGrp="1"/>
          </p:cNvSpPr>
          <p:nvPr/>
        </p:nvSpPr>
        <p:spPr>
          <a:xfrm>
            <a:off x="7048500" y="405765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Create projects and manage CSV datasets</a:t>
            </a:r>
          </a:p>
        </p:txBody>
      </p:sp>
      <p:sp>
        <p:nvSpPr>
          <p:cNvPr id="19" name="Rectangle 18">
            <a:extLst>
              <a:ext uri="{FF2B5EF4-FFF2-40B4-BE49-F238E27FC236}">
                <a16:creationId xmlns:a16="http://schemas.microsoft.com/office/drawing/2014/main" id="{85835356-F9F6-41FD-A937-3CEBCF4D1A9C}"/>
              </a:ext>
            </a:extLst>
          </p:cNvPr>
          <p:cNvSpPr>
            <a:spLocks noGrp="1"/>
          </p:cNvSpPr>
          <p:nvPr/>
        </p:nvSpPr>
        <p:spPr>
          <a:xfrm>
            <a:off x="6591300" y="4514850"/>
            <a:ext cx="361950" cy="228600"/>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02</a:t>
            </a:r>
          </a:p>
        </p:txBody>
      </p:sp>
      <p:sp>
        <p:nvSpPr>
          <p:cNvPr id="20" name="Rectangle 19">
            <a:extLst>
              <a:ext uri="{FF2B5EF4-FFF2-40B4-BE49-F238E27FC236}">
                <a16:creationId xmlns:a16="http://schemas.microsoft.com/office/drawing/2014/main" id="{DF92AC1C-9DC5-47A9-9E79-27520C857FE7}"/>
              </a:ext>
            </a:extLst>
          </p:cNvPr>
          <p:cNvSpPr>
            <a:spLocks noGrp="1"/>
          </p:cNvSpPr>
          <p:nvPr/>
        </p:nvSpPr>
        <p:spPr>
          <a:xfrm>
            <a:off x="7048500" y="449580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Configure and start model training</a:t>
            </a:r>
          </a:p>
        </p:txBody>
      </p:sp>
      <p:sp>
        <p:nvSpPr>
          <p:cNvPr id="21" name="Rectangle 20">
            <a:extLst>
              <a:ext uri="{FF2B5EF4-FFF2-40B4-BE49-F238E27FC236}">
                <a16:creationId xmlns:a16="http://schemas.microsoft.com/office/drawing/2014/main" id="{04F54306-EE06-450E-9F36-A8B9011436D4}"/>
              </a:ext>
            </a:extLst>
          </p:cNvPr>
          <p:cNvSpPr>
            <a:spLocks noGrp="1"/>
          </p:cNvSpPr>
          <p:nvPr/>
        </p:nvSpPr>
        <p:spPr>
          <a:xfrm>
            <a:off x="6591300" y="4953000"/>
            <a:ext cx="361950" cy="228600"/>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03</a:t>
            </a:r>
          </a:p>
        </p:txBody>
      </p:sp>
      <p:sp>
        <p:nvSpPr>
          <p:cNvPr id="22" name="Rectangle 21">
            <a:extLst>
              <a:ext uri="{FF2B5EF4-FFF2-40B4-BE49-F238E27FC236}">
                <a16:creationId xmlns:a16="http://schemas.microsoft.com/office/drawing/2014/main" id="{6DAD685D-354C-47C6-8480-16F3744661F9}"/>
              </a:ext>
            </a:extLst>
          </p:cNvPr>
          <p:cNvSpPr>
            <a:spLocks noGrp="1"/>
          </p:cNvSpPr>
          <p:nvPr/>
        </p:nvSpPr>
        <p:spPr>
          <a:xfrm>
            <a:off x="7048500" y="493395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Track experiments, logs and evaluation metrics</a:t>
            </a:r>
          </a:p>
        </p:txBody>
      </p:sp>
      <p:sp>
        <p:nvSpPr>
          <p:cNvPr id="23" name="Rectangle 22">
            <a:extLst>
              <a:ext uri="{FF2B5EF4-FFF2-40B4-BE49-F238E27FC236}">
                <a16:creationId xmlns:a16="http://schemas.microsoft.com/office/drawing/2014/main" id="{E0296CCC-B11E-4F55-BCEC-5983BAFAFCA9}"/>
              </a:ext>
            </a:extLst>
          </p:cNvPr>
          <p:cNvSpPr>
            <a:spLocks noGrp="1"/>
          </p:cNvSpPr>
          <p:nvPr/>
        </p:nvSpPr>
        <p:spPr>
          <a:xfrm>
            <a:off x="6591300" y="5391150"/>
            <a:ext cx="361950" cy="228600"/>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04</a:t>
            </a:r>
          </a:p>
        </p:txBody>
      </p:sp>
      <p:sp>
        <p:nvSpPr>
          <p:cNvPr id="24" name="Rectangle 23">
            <a:extLst>
              <a:ext uri="{FF2B5EF4-FFF2-40B4-BE49-F238E27FC236}">
                <a16:creationId xmlns:a16="http://schemas.microsoft.com/office/drawing/2014/main" id="{350B517F-6EAD-4984-9801-A47DD6FA94D0}"/>
              </a:ext>
            </a:extLst>
          </p:cNvPr>
          <p:cNvSpPr>
            <a:spLocks noGrp="1"/>
          </p:cNvSpPr>
          <p:nvPr/>
        </p:nvSpPr>
        <p:spPr>
          <a:xfrm>
            <a:off x="7048500" y="5372100"/>
            <a:ext cx="4333875" cy="3048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Collaborate with project members and update profile</a:t>
            </a:r>
          </a:p>
        </p:txBody>
      </p:sp>
    </p:spTree>
    <p:extLst>
      <p:ext uri="{BB962C8B-B14F-4D97-AF65-F5344CB8AC3E}">
        <p14:creationId xmlns:p14="http://schemas.microsoft.com/office/powerpoint/2010/main" val="1718173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E82D3EF-22B6-4553-9E7A-2E9BCD26D2A8}"/>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04 / RESEARCH WORKFLOW</a:t>
            </a:r>
          </a:p>
        </p:txBody>
      </p:sp>
      <p:sp>
        <p:nvSpPr>
          <p:cNvPr id="2" name="Rectangle 1">
            <a:extLst>
              <a:ext uri="{FF2B5EF4-FFF2-40B4-BE49-F238E27FC236}">
                <a16:creationId xmlns:a16="http://schemas.microsoft.com/office/drawing/2014/main" id="{FFB42947-6701-4746-9FF7-4428072A6C7D}"/>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A study stays connected from upload to review</a:t>
            </a:r>
          </a:p>
        </p:txBody>
      </p:sp>
      <p:sp>
        <p:nvSpPr>
          <p:cNvPr id="3" name="Rectangle 2">
            <a:extLst>
              <a:ext uri="{FF2B5EF4-FFF2-40B4-BE49-F238E27FC236}">
                <a16:creationId xmlns:a16="http://schemas.microsoft.com/office/drawing/2014/main" id="{83FC6948-6028-466F-A243-C42B2F6B327C}"/>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Example: a researcher investigates customer churn using a project CSV.</a:t>
            </a:r>
          </a:p>
        </p:txBody>
      </p:sp>
      <p:sp>
        <p:nvSpPr>
          <p:cNvPr id="4" name="Oval 3">
            <a:extLst>
              <a:ext uri="{FF2B5EF4-FFF2-40B4-BE49-F238E27FC236}">
                <a16:creationId xmlns:a16="http://schemas.microsoft.com/office/drawing/2014/main" id="{806A49A5-3A8B-4DD8-BC70-AFB6658ECFF2}"/>
              </a:ext>
            </a:extLst>
          </p:cNvPr>
          <p:cNvSpPr>
            <a:spLocks noGrp="1"/>
          </p:cNvSpPr>
          <p:nvPr/>
        </p:nvSpPr>
        <p:spPr>
          <a:xfrm>
            <a:off x="685800" y="2228850"/>
            <a:ext cx="400050" cy="400050"/>
          </a:xfrm>
          <a:prstGeom prst="ellipse">
            <a:avLst/>
          </a:prstGeom>
          <a:solidFill>
            <a:srgbClr val="148A78"/>
          </a:solidFill>
          <a:ln w="0">
            <a:noFill/>
            <a:prstDash val="solid"/>
          </a:ln>
        </p:spPr>
      </p:sp>
      <p:sp>
        <p:nvSpPr>
          <p:cNvPr id="5" name="Rectangle 4">
            <a:extLst>
              <a:ext uri="{FF2B5EF4-FFF2-40B4-BE49-F238E27FC236}">
                <a16:creationId xmlns:a16="http://schemas.microsoft.com/office/drawing/2014/main" id="{8CB334A3-5669-41AC-8799-21F525FF7F51}"/>
              </a:ext>
            </a:extLst>
          </p:cNvPr>
          <p:cNvSpPr>
            <a:spLocks noGrp="1"/>
          </p:cNvSpPr>
          <p:nvPr/>
        </p:nvSpPr>
        <p:spPr>
          <a:xfrm>
            <a:off x="685800" y="2333625"/>
            <a:ext cx="400050" cy="190500"/>
          </a:xfrm>
          <a:prstGeom prst="rect">
            <a:avLst/>
          </a:prstGeom>
          <a:noFill/>
          <a:ln w="0">
            <a:noFill/>
            <a:prstDash val="solid"/>
          </a:ln>
        </p:spPr>
        <p:txBody>
          <a:bodyPr wrap="square" lIns="0" tIns="0" rIns="0" bIns="0" anchor="t">
            <a:normAutofit/>
          </a:bodyPr>
          <a:lstStyle>
            <a:defPPr algn="ctr">
              <a:defRPr sz="975" b="1">
                <a:solidFill>
                  <a:srgbClr val="FFFFFF"/>
                </a:solidFill>
                <a:latin typeface="Arial"/>
                <a:ea typeface="Arial"/>
                <a:cs typeface="Arial"/>
              </a:defRPr>
            </a:defP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01</a:t>
            </a:r>
          </a:p>
        </p:txBody>
      </p:sp>
      <p:sp>
        <p:nvSpPr>
          <p:cNvPr id="6" name="Rectangle 5">
            <a:extLst>
              <a:ext uri="{FF2B5EF4-FFF2-40B4-BE49-F238E27FC236}">
                <a16:creationId xmlns:a16="http://schemas.microsoft.com/office/drawing/2014/main" id="{067946BB-B54E-44C5-B8A0-4607BE54862C}"/>
              </a:ext>
            </a:extLst>
          </p:cNvPr>
          <p:cNvSpPr>
            <a:spLocks noGrp="1"/>
          </p:cNvSpPr>
          <p:nvPr/>
        </p:nvSpPr>
        <p:spPr>
          <a:xfrm>
            <a:off x="1333500" y="2200275"/>
            <a:ext cx="25717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Create a project</a:t>
            </a:r>
          </a:p>
        </p:txBody>
      </p:sp>
      <p:sp>
        <p:nvSpPr>
          <p:cNvPr id="7" name="Rectangle 6">
            <a:extLst>
              <a:ext uri="{FF2B5EF4-FFF2-40B4-BE49-F238E27FC236}">
                <a16:creationId xmlns:a16="http://schemas.microsoft.com/office/drawing/2014/main" id="{F93ECB90-EF42-4A87-A167-E6C262F43A29}"/>
              </a:ext>
            </a:extLst>
          </p:cNvPr>
          <p:cNvSpPr>
            <a:spLocks noGrp="1"/>
          </p:cNvSpPr>
          <p:nvPr/>
        </p:nvSpPr>
        <p:spPr>
          <a:xfrm>
            <a:off x="4000500" y="2200275"/>
            <a:ext cx="7239000" cy="45720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Add a title, question and project owner.</a:t>
            </a:r>
          </a:p>
        </p:txBody>
      </p:sp>
      <p:sp>
        <p:nvSpPr>
          <p:cNvPr id="8" name="Straight Connector 7">
            <a:extLst>
              <a:ext uri="{FF2B5EF4-FFF2-40B4-BE49-F238E27FC236}">
                <a16:creationId xmlns:a16="http://schemas.microsoft.com/office/drawing/2014/main" id="{24DE0741-7EB8-4354-9C4D-8C0C10F92F9A}"/>
              </a:ext>
            </a:extLst>
          </p:cNvPr>
          <p:cNvSpPr>
            <a:spLocks noGrp="1"/>
          </p:cNvSpPr>
          <p:nvPr/>
        </p:nvSpPr>
        <p:spPr>
          <a:xfrm>
            <a:off x="885825" y="2695575"/>
            <a:ext cx="0" cy="266700"/>
          </a:xfrm>
          <a:prstGeom prst="line">
            <a:avLst/>
          </a:prstGeom>
          <a:noFill/>
          <a:ln w="19050">
            <a:solidFill>
              <a:srgbClr val="D4DBD0"/>
            </a:solidFill>
            <a:prstDash val="solid"/>
          </a:ln>
        </p:spPr>
      </p:sp>
      <p:sp>
        <p:nvSpPr>
          <p:cNvPr id="9" name="Oval 8">
            <a:extLst>
              <a:ext uri="{FF2B5EF4-FFF2-40B4-BE49-F238E27FC236}">
                <a16:creationId xmlns:a16="http://schemas.microsoft.com/office/drawing/2014/main" id="{23497B7F-5772-4C9F-A1AF-413A1B3DF4A3}"/>
              </a:ext>
            </a:extLst>
          </p:cNvPr>
          <p:cNvSpPr>
            <a:spLocks noGrp="1"/>
          </p:cNvSpPr>
          <p:nvPr/>
        </p:nvSpPr>
        <p:spPr>
          <a:xfrm>
            <a:off x="685800" y="3028950"/>
            <a:ext cx="400050" cy="400050"/>
          </a:xfrm>
          <a:prstGeom prst="ellipse">
            <a:avLst/>
          </a:prstGeom>
          <a:solidFill>
            <a:srgbClr val="39C4A4"/>
          </a:solidFill>
          <a:ln w="0">
            <a:noFill/>
            <a:prstDash val="solid"/>
          </a:ln>
        </p:spPr>
      </p:sp>
      <p:sp>
        <p:nvSpPr>
          <p:cNvPr id="10" name="Rectangle 9">
            <a:extLst>
              <a:ext uri="{FF2B5EF4-FFF2-40B4-BE49-F238E27FC236}">
                <a16:creationId xmlns:a16="http://schemas.microsoft.com/office/drawing/2014/main" id="{46A7B926-69EE-46D8-8AE7-C3BF98DB4045}"/>
              </a:ext>
            </a:extLst>
          </p:cNvPr>
          <p:cNvSpPr>
            <a:spLocks noGrp="1"/>
          </p:cNvSpPr>
          <p:nvPr/>
        </p:nvSpPr>
        <p:spPr>
          <a:xfrm>
            <a:off x="685800" y="3133725"/>
            <a:ext cx="400050" cy="190500"/>
          </a:xfrm>
          <a:prstGeom prst="rect">
            <a:avLst/>
          </a:prstGeom>
          <a:noFill/>
          <a:ln w="0">
            <a:noFill/>
            <a:prstDash val="solid"/>
          </a:ln>
        </p:spPr>
        <p:txBody>
          <a:bodyPr wrap="square" lIns="0" tIns="0" rIns="0" bIns="0" anchor="t">
            <a:normAutofit/>
          </a:bodyPr>
          <a:lstStyle>
            <a:defPPr algn="ctr">
              <a:defRPr sz="975" b="1">
                <a:solidFill>
                  <a:srgbClr val="FFFFFF"/>
                </a:solidFill>
                <a:latin typeface="Arial"/>
                <a:ea typeface="Arial"/>
                <a:cs typeface="Arial"/>
              </a:defRPr>
            </a:defP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02</a:t>
            </a:r>
          </a:p>
        </p:txBody>
      </p:sp>
      <p:sp>
        <p:nvSpPr>
          <p:cNvPr id="11" name="Rectangle 10">
            <a:extLst>
              <a:ext uri="{FF2B5EF4-FFF2-40B4-BE49-F238E27FC236}">
                <a16:creationId xmlns:a16="http://schemas.microsoft.com/office/drawing/2014/main" id="{70CBD327-ADDB-4EA9-B9D1-815745311669}"/>
              </a:ext>
            </a:extLst>
          </p:cNvPr>
          <p:cNvSpPr>
            <a:spLocks noGrp="1"/>
          </p:cNvSpPr>
          <p:nvPr/>
        </p:nvSpPr>
        <p:spPr>
          <a:xfrm>
            <a:off x="1333500" y="3000375"/>
            <a:ext cx="25717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Profile the data</a:t>
            </a:r>
          </a:p>
        </p:txBody>
      </p:sp>
      <p:sp>
        <p:nvSpPr>
          <p:cNvPr id="12" name="Rectangle 11">
            <a:extLst>
              <a:ext uri="{FF2B5EF4-FFF2-40B4-BE49-F238E27FC236}">
                <a16:creationId xmlns:a16="http://schemas.microsoft.com/office/drawing/2014/main" id="{2454F12B-2178-4942-A13E-DCD76C60EBB0}"/>
              </a:ext>
            </a:extLst>
          </p:cNvPr>
          <p:cNvSpPr>
            <a:spLocks noGrp="1"/>
          </p:cNvSpPr>
          <p:nvPr/>
        </p:nvSpPr>
        <p:spPr>
          <a:xfrm>
            <a:off x="4000500" y="3000375"/>
            <a:ext cx="7239000" cy="45720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Upload CSV, inspect columns and missing values.</a:t>
            </a:r>
          </a:p>
        </p:txBody>
      </p:sp>
      <p:sp>
        <p:nvSpPr>
          <p:cNvPr id="13" name="Straight Connector 12">
            <a:extLst>
              <a:ext uri="{FF2B5EF4-FFF2-40B4-BE49-F238E27FC236}">
                <a16:creationId xmlns:a16="http://schemas.microsoft.com/office/drawing/2014/main" id="{2F40AE1F-9457-4C63-A66D-9344922F2C1B}"/>
              </a:ext>
            </a:extLst>
          </p:cNvPr>
          <p:cNvSpPr>
            <a:spLocks noGrp="1"/>
          </p:cNvSpPr>
          <p:nvPr/>
        </p:nvSpPr>
        <p:spPr>
          <a:xfrm>
            <a:off x="885825" y="3495675"/>
            <a:ext cx="0" cy="266700"/>
          </a:xfrm>
          <a:prstGeom prst="line">
            <a:avLst/>
          </a:prstGeom>
          <a:noFill/>
          <a:ln w="19050">
            <a:solidFill>
              <a:srgbClr val="D4DBD0"/>
            </a:solidFill>
            <a:prstDash val="solid"/>
          </a:ln>
        </p:spPr>
      </p:sp>
      <p:sp>
        <p:nvSpPr>
          <p:cNvPr id="14" name="Oval 13">
            <a:extLst>
              <a:ext uri="{FF2B5EF4-FFF2-40B4-BE49-F238E27FC236}">
                <a16:creationId xmlns:a16="http://schemas.microsoft.com/office/drawing/2014/main" id="{652427A5-625C-434C-A40D-3D2E0C9A86E1}"/>
              </a:ext>
            </a:extLst>
          </p:cNvPr>
          <p:cNvSpPr>
            <a:spLocks noGrp="1"/>
          </p:cNvSpPr>
          <p:nvPr/>
        </p:nvSpPr>
        <p:spPr>
          <a:xfrm>
            <a:off x="685800" y="3829050"/>
            <a:ext cx="400050" cy="400050"/>
          </a:xfrm>
          <a:prstGeom prst="ellipse">
            <a:avLst/>
          </a:prstGeom>
          <a:solidFill>
            <a:srgbClr val="E79B54"/>
          </a:solidFill>
          <a:ln w="0">
            <a:noFill/>
            <a:prstDash val="solid"/>
          </a:ln>
        </p:spPr>
      </p:sp>
      <p:sp>
        <p:nvSpPr>
          <p:cNvPr id="15" name="Rectangle 14">
            <a:extLst>
              <a:ext uri="{FF2B5EF4-FFF2-40B4-BE49-F238E27FC236}">
                <a16:creationId xmlns:a16="http://schemas.microsoft.com/office/drawing/2014/main" id="{7C8F1505-832D-4BCF-B2A9-D01C3E5B0C23}"/>
              </a:ext>
            </a:extLst>
          </p:cNvPr>
          <p:cNvSpPr>
            <a:spLocks noGrp="1"/>
          </p:cNvSpPr>
          <p:nvPr/>
        </p:nvSpPr>
        <p:spPr>
          <a:xfrm>
            <a:off x="685800" y="3933825"/>
            <a:ext cx="400050" cy="190500"/>
          </a:xfrm>
          <a:prstGeom prst="rect">
            <a:avLst/>
          </a:prstGeom>
          <a:noFill/>
          <a:ln w="0">
            <a:noFill/>
            <a:prstDash val="solid"/>
          </a:ln>
        </p:spPr>
        <p:txBody>
          <a:bodyPr wrap="square" lIns="0" tIns="0" rIns="0" bIns="0" anchor="t">
            <a:normAutofit/>
          </a:bodyPr>
          <a:lstStyle>
            <a:defPPr algn="ctr">
              <a:defRPr sz="975" b="1">
                <a:solidFill>
                  <a:srgbClr val="FFFFFF"/>
                </a:solidFill>
                <a:latin typeface="Arial"/>
                <a:ea typeface="Arial"/>
                <a:cs typeface="Arial"/>
              </a:defRPr>
            </a:defP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03</a:t>
            </a:r>
          </a:p>
        </p:txBody>
      </p:sp>
      <p:sp>
        <p:nvSpPr>
          <p:cNvPr id="16" name="Rectangle 15">
            <a:extLst>
              <a:ext uri="{FF2B5EF4-FFF2-40B4-BE49-F238E27FC236}">
                <a16:creationId xmlns:a16="http://schemas.microsoft.com/office/drawing/2014/main" id="{C1EAE9DD-705A-44F2-9600-52D4952B4E02}"/>
              </a:ext>
            </a:extLst>
          </p:cNvPr>
          <p:cNvSpPr>
            <a:spLocks noGrp="1"/>
          </p:cNvSpPr>
          <p:nvPr/>
        </p:nvSpPr>
        <p:spPr>
          <a:xfrm>
            <a:off x="1333500" y="3800475"/>
            <a:ext cx="25717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Configure a run</a:t>
            </a:r>
          </a:p>
        </p:txBody>
      </p:sp>
      <p:sp>
        <p:nvSpPr>
          <p:cNvPr id="17" name="Rectangle 16">
            <a:extLst>
              <a:ext uri="{FF2B5EF4-FFF2-40B4-BE49-F238E27FC236}">
                <a16:creationId xmlns:a16="http://schemas.microsoft.com/office/drawing/2014/main" id="{A01413C8-36F1-4FC0-85BA-F8B5DBF72FA0}"/>
              </a:ext>
            </a:extLst>
          </p:cNvPr>
          <p:cNvSpPr>
            <a:spLocks noGrp="1"/>
          </p:cNvSpPr>
          <p:nvPr/>
        </p:nvSpPr>
        <p:spPr>
          <a:xfrm>
            <a:off x="4000500" y="3800475"/>
            <a:ext cx="7239000" cy="45720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Select target, numeric features and model settings.</a:t>
            </a:r>
          </a:p>
        </p:txBody>
      </p:sp>
      <p:sp>
        <p:nvSpPr>
          <p:cNvPr id="18" name="Straight Connector 17">
            <a:extLst>
              <a:ext uri="{FF2B5EF4-FFF2-40B4-BE49-F238E27FC236}">
                <a16:creationId xmlns:a16="http://schemas.microsoft.com/office/drawing/2014/main" id="{DB6265D3-6B34-4CBC-A7F7-9BC4B0210A46}"/>
              </a:ext>
            </a:extLst>
          </p:cNvPr>
          <p:cNvSpPr>
            <a:spLocks noGrp="1"/>
          </p:cNvSpPr>
          <p:nvPr/>
        </p:nvSpPr>
        <p:spPr>
          <a:xfrm>
            <a:off x="885825" y="4295775"/>
            <a:ext cx="0" cy="266700"/>
          </a:xfrm>
          <a:prstGeom prst="line">
            <a:avLst/>
          </a:prstGeom>
          <a:noFill/>
          <a:ln w="19050">
            <a:solidFill>
              <a:srgbClr val="D4DBD0"/>
            </a:solidFill>
            <a:prstDash val="solid"/>
          </a:ln>
        </p:spPr>
      </p:sp>
      <p:sp>
        <p:nvSpPr>
          <p:cNvPr id="19" name="Oval 18">
            <a:extLst>
              <a:ext uri="{FF2B5EF4-FFF2-40B4-BE49-F238E27FC236}">
                <a16:creationId xmlns:a16="http://schemas.microsoft.com/office/drawing/2014/main" id="{ADD422DD-B9D3-4E4D-B3A5-CF181B3BAE14}"/>
              </a:ext>
            </a:extLst>
          </p:cNvPr>
          <p:cNvSpPr>
            <a:spLocks noGrp="1"/>
          </p:cNvSpPr>
          <p:nvPr/>
        </p:nvSpPr>
        <p:spPr>
          <a:xfrm>
            <a:off x="685800" y="4629150"/>
            <a:ext cx="400050" cy="400050"/>
          </a:xfrm>
          <a:prstGeom prst="ellipse">
            <a:avLst/>
          </a:prstGeom>
          <a:solidFill>
            <a:srgbClr val="678ED4"/>
          </a:solidFill>
          <a:ln w="0">
            <a:noFill/>
            <a:prstDash val="solid"/>
          </a:ln>
        </p:spPr>
      </p:sp>
      <p:sp>
        <p:nvSpPr>
          <p:cNvPr id="20" name="Rectangle 19">
            <a:extLst>
              <a:ext uri="{FF2B5EF4-FFF2-40B4-BE49-F238E27FC236}">
                <a16:creationId xmlns:a16="http://schemas.microsoft.com/office/drawing/2014/main" id="{2F525D68-D77F-45A8-9FAC-C9F6DA13D065}"/>
              </a:ext>
            </a:extLst>
          </p:cNvPr>
          <p:cNvSpPr>
            <a:spLocks noGrp="1"/>
          </p:cNvSpPr>
          <p:nvPr/>
        </p:nvSpPr>
        <p:spPr>
          <a:xfrm>
            <a:off x="685800" y="4733925"/>
            <a:ext cx="400050" cy="190500"/>
          </a:xfrm>
          <a:prstGeom prst="rect">
            <a:avLst/>
          </a:prstGeom>
          <a:noFill/>
          <a:ln w="0">
            <a:noFill/>
            <a:prstDash val="solid"/>
          </a:ln>
        </p:spPr>
        <p:txBody>
          <a:bodyPr wrap="square" lIns="0" tIns="0" rIns="0" bIns="0" anchor="t">
            <a:normAutofit/>
          </a:bodyPr>
          <a:lstStyle>
            <a:defPPr algn="ctr">
              <a:defRPr sz="975" b="1">
                <a:solidFill>
                  <a:srgbClr val="FFFFFF"/>
                </a:solidFill>
                <a:latin typeface="Arial"/>
                <a:ea typeface="Arial"/>
                <a:cs typeface="Arial"/>
              </a:defRPr>
            </a:defP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04</a:t>
            </a:r>
          </a:p>
        </p:txBody>
      </p:sp>
      <p:sp>
        <p:nvSpPr>
          <p:cNvPr id="21" name="Rectangle 20">
            <a:extLst>
              <a:ext uri="{FF2B5EF4-FFF2-40B4-BE49-F238E27FC236}">
                <a16:creationId xmlns:a16="http://schemas.microsoft.com/office/drawing/2014/main" id="{4A8F9529-6E8E-48BE-8F8A-048BE032117B}"/>
              </a:ext>
            </a:extLst>
          </p:cNvPr>
          <p:cNvSpPr>
            <a:spLocks noGrp="1"/>
          </p:cNvSpPr>
          <p:nvPr/>
        </p:nvSpPr>
        <p:spPr>
          <a:xfrm>
            <a:off x="1333500" y="4600575"/>
            <a:ext cx="25717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Review evidence</a:t>
            </a:r>
          </a:p>
        </p:txBody>
      </p:sp>
      <p:sp>
        <p:nvSpPr>
          <p:cNvPr id="22" name="Rectangle 21">
            <a:extLst>
              <a:ext uri="{FF2B5EF4-FFF2-40B4-BE49-F238E27FC236}">
                <a16:creationId xmlns:a16="http://schemas.microsoft.com/office/drawing/2014/main" id="{E194CD60-97B7-4A29-8943-DF5C9E74DD88}"/>
              </a:ext>
            </a:extLst>
          </p:cNvPr>
          <p:cNvSpPr>
            <a:spLocks noGrp="1"/>
          </p:cNvSpPr>
          <p:nvPr/>
        </p:nvSpPr>
        <p:spPr>
          <a:xfrm>
            <a:off x="4000500" y="4600575"/>
            <a:ext cx="7239000" cy="45720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Check logs, status and held-out metrics.</a:t>
            </a:r>
          </a:p>
        </p:txBody>
      </p:sp>
      <p:sp>
        <p:nvSpPr>
          <p:cNvPr id="23" name="Straight Connector 22">
            <a:extLst>
              <a:ext uri="{FF2B5EF4-FFF2-40B4-BE49-F238E27FC236}">
                <a16:creationId xmlns:a16="http://schemas.microsoft.com/office/drawing/2014/main" id="{253513BB-C716-49D4-9F8A-A1C2F699448D}"/>
              </a:ext>
            </a:extLst>
          </p:cNvPr>
          <p:cNvSpPr>
            <a:spLocks noGrp="1"/>
          </p:cNvSpPr>
          <p:nvPr/>
        </p:nvSpPr>
        <p:spPr>
          <a:xfrm>
            <a:off x="885825" y="5095875"/>
            <a:ext cx="0" cy="266700"/>
          </a:xfrm>
          <a:prstGeom prst="line">
            <a:avLst/>
          </a:prstGeom>
          <a:noFill/>
          <a:ln w="19050">
            <a:solidFill>
              <a:srgbClr val="D4DBD0"/>
            </a:solidFill>
            <a:prstDash val="solid"/>
          </a:ln>
        </p:spPr>
      </p:sp>
      <p:sp>
        <p:nvSpPr>
          <p:cNvPr id="24" name="Oval 23">
            <a:extLst>
              <a:ext uri="{FF2B5EF4-FFF2-40B4-BE49-F238E27FC236}">
                <a16:creationId xmlns:a16="http://schemas.microsoft.com/office/drawing/2014/main" id="{28060CED-82EF-48F0-96B3-F073D31D52E8}"/>
              </a:ext>
            </a:extLst>
          </p:cNvPr>
          <p:cNvSpPr>
            <a:spLocks noGrp="1"/>
          </p:cNvSpPr>
          <p:nvPr/>
        </p:nvSpPr>
        <p:spPr>
          <a:xfrm>
            <a:off x="685800" y="5429250"/>
            <a:ext cx="400050" cy="400050"/>
          </a:xfrm>
          <a:prstGeom prst="ellipse">
            <a:avLst/>
          </a:prstGeom>
          <a:solidFill>
            <a:srgbClr val="148A78"/>
          </a:solidFill>
          <a:ln w="0">
            <a:noFill/>
            <a:prstDash val="solid"/>
          </a:ln>
        </p:spPr>
      </p:sp>
      <p:sp>
        <p:nvSpPr>
          <p:cNvPr id="25" name="Rectangle 24">
            <a:extLst>
              <a:ext uri="{FF2B5EF4-FFF2-40B4-BE49-F238E27FC236}">
                <a16:creationId xmlns:a16="http://schemas.microsoft.com/office/drawing/2014/main" id="{3C9CE736-3D17-4F03-A565-50B441E81045}"/>
              </a:ext>
            </a:extLst>
          </p:cNvPr>
          <p:cNvSpPr>
            <a:spLocks noGrp="1"/>
          </p:cNvSpPr>
          <p:nvPr/>
        </p:nvSpPr>
        <p:spPr>
          <a:xfrm>
            <a:off x="685800" y="5534025"/>
            <a:ext cx="400050" cy="190500"/>
          </a:xfrm>
          <a:prstGeom prst="rect">
            <a:avLst/>
          </a:prstGeom>
          <a:noFill/>
          <a:ln w="0">
            <a:noFill/>
            <a:prstDash val="solid"/>
          </a:ln>
        </p:spPr>
        <p:txBody>
          <a:bodyPr wrap="square" lIns="0" tIns="0" rIns="0" bIns="0" anchor="t">
            <a:normAutofit/>
          </a:bodyPr>
          <a:lstStyle>
            <a:defPPr algn="ctr">
              <a:defRPr sz="975" b="1">
                <a:solidFill>
                  <a:srgbClr val="FFFFFF"/>
                </a:solidFill>
                <a:latin typeface="Arial"/>
                <a:ea typeface="Arial"/>
                <a:cs typeface="Arial"/>
              </a:defRPr>
            </a:defP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05</a:t>
            </a:r>
          </a:p>
        </p:txBody>
      </p:sp>
      <p:sp>
        <p:nvSpPr>
          <p:cNvPr id="26" name="Rectangle 25">
            <a:extLst>
              <a:ext uri="{FF2B5EF4-FFF2-40B4-BE49-F238E27FC236}">
                <a16:creationId xmlns:a16="http://schemas.microsoft.com/office/drawing/2014/main" id="{DC9DD105-9F88-45C1-8AFC-3D879C518CF5}"/>
              </a:ext>
            </a:extLst>
          </p:cNvPr>
          <p:cNvSpPr>
            <a:spLocks noGrp="1"/>
          </p:cNvSpPr>
          <p:nvPr/>
        </p:nvSpPr>
        <p:spPr>
          <a:xfrm>
            <a:off x="1333500" y="5400675"/>
            <a:ext cx="25717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Share the work</a:t>
            </a:r>
          </a:p>
        </p:txBody>
      </p:sp>
      <p:sp>
        <p:nvSpPr>
          <p:cNvPr id="27" name="Rectangle 26">
            <a:extLst>
              <a:ext uri="{FF2B5EF4-FFF2-40B4-BE49-F238E27FC236}">
                <a16:creationId xmlns:a16="http://schemas.microsoft.com/office/drawing/2014/main" id="{D0512FE9-CDDF-444C-92A0-A153E7570DDC}"/>
              </a:ext>
            </a:extLst>
          </p:cNvPr>
          <p:cNvSpPr>
            <a:spLocks noGrp="1"/>
          </p:cNvSpPr>
          <p:nvPr/>
        </p:nvSpPr>
        <p:spPr>
          <a:xfrm>
            <a:off x="4000500" y="5400675"/>
            <a:ext cx="7239000" cy="45720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Add project researchers and compare completed runs.</a:t>
            </a:r>
          </a:p>
        </p:txBody>
      </p:sp>
    </p:spTree>
    <p:extLst>
      <p:ext uri="{BB962C8B-B14F-4D97-AF65-F5344CB8AC3E}">
        <p14:creationId xmlns:p14="http://schemas.microsoft.com/office/powerpoint/2010/main" val="126852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2F9215-70FB-4C33-95FF-79A59181A7EF}"/>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05 / DATASET MANAGEMENT</a:t>
            </a:r>
          </a:p>
        </p:txBody>
      </p:sp>
      <p:sp>
        <p:nvSpPr>
          <p:cNvPr id="2" name="Rectangle 1">
            <a:extLst>
              <a:ext uri="{FF2B5EF4-FFF2-40B4-BE49-F238E27FC236}">
                <a16:creationId xmlns:a16="http://schemas.microsoft.com/office/drawing/2014/main" id="{0425B99B-CC7B-46C8-862F-E5A175DDF781}"/>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A CSV becomes a profiled research asset</a:t>
            </a:r>
          </a:p>
        </p:txBody>
      </p:sp>
      <p:sp>
        <p:nvSpPr>
          <p:cNvPr id="3" name="Rectangle 2">
            <a:extLst>
              <a:ext uri="{FF2B5EF4-FFF2-40B4-BE49-F238E27FC236}">
                <a16:creationId xmlns:a16="http://schemas.microsoft.com/office/drawing/2014/main" id="{BA6A48E6-CB75-44EA-AC14-421D4ED38847}"/>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The dataset belongs to a project and stays visible to its authorized researchers.</a:t>
            </a:r>
          </a:p>
        </p:txBody>
      </p:sp>
      <p:sp>
        <p:nvSpPr>
          <p:cNvPr id="4" name="Rectangle 3">
            <a:extLst>
              <a:ext uri="{FF2B5EF4-FFF2-40B4-BE49-F238E27FC236}">
                <a16:creationId xmlns:a16="http://schemas.microsoft.com/office/drawing/2014/main" id="{DED40A95-B02C-407A-8781-EBB2A969A036}"/>
              </a:ext>
            </a:extLst>
          </p:cNvPr>
          <p:cNvSpPr>
            <a:spLocks noGrp="1"/>
          </p:cNvSpPr>
          <p:nvPr/>
        </p:nvSpPr>
        <p:spPr>
          <a:xfrm>
            <a:off x="685800" y="2333625"/>
            <a:ext cx="2381250" cy="228600"/>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UPLOAD</a:t>
            </a:r>
          </a:p>
        </p:txBody>
      </p:sp>
      <p:sp>
        <p:nvSpPr>
          <p:cNvPr id="5" name="Rectangle 4">
            <a:extLst>
              <a:ext uri="{FF2B5EF4-FFF2-40B4-BE49-F238E27FC236}">
                <a16:creationId xmlns:a16="http://schemas.microsoft.com/office/drawing/2014/main" id="{A9983FA9-B281-4AE7-84A5-FC0C94058857}"/>
              </a:ext>
            </a:extLst>
          </p:cNvPr>
          <p:cNvSpPr>
            <a:spLocks noGrp="1"/>
          </p:cNvSpPr>
          <p:nvPr/>
        </p:nvSpPr>
        <p:spPr>
          <a:xfrm>
            <a:off x="685800" y="2705100"/>
            <a:ext cx="3714750" cy="476250"/>
          </a:xfrm>
          <a:prstGeom prst="rect">
            <a:avLst/>
          </a:prstGeom>
          <a:noFill/>
          <a:ln w="0">
            <a:noFill/>
            <a:prstDash val="solid"/>
          </a:ln>
        </p:spPr>
        <p:txBody>
          <a:bodyPr wrap="square" lIns="0" tIns="0" rIns="0" bIns="0" anchor="t">
            <a:normAutofit/>
          </a:bodyPr>
          <a:lstStyle>
            <a:defPPr algn="l">
              <a:defRPr sz="2550" b="1">
                <a:solidFill>
                  <a:srgbClr val="14241F"/>
                </a:solidFill>
                <a:latin typeface="Arial"/>
                <a:ea typeface="Arial"/>
                <a:cs typeface="Arial"/>
              </a:defRPr>
            </a:defPPr>
          </a:lstStyle>
          <a:p>
            <a:pPr algn="l">
              <a:lnSpc>
                <a:spcPct val="105000"/>
              </a:lnSpc>
              <a:buNone/>
              <a:defRPr sz="2550" b="1">
                <a:solidFill>
                  <a:srgbClr val="14241F"/>
                </a:solidFill>
                <a:latin typeface="Arial"/>
                <a:ea typeface="Arial"/>
                <a:cs typeface="Arial"/>
              </a:defRPr>
            </a:pPr>
            <a:r>
              <a:rPr sz="2550" b="1">
                <a:solidFill>
                  <a:srgbClr val="14241F"/>
                </a:solidFill>
                <a:latin typeface="Arial"/>
                <a:ea typeface="Arial"/>
                <a:cs typeface="Arial"/>
              </a:rPr>
              <a:t>CSV file</a:t>
            </a:r>
          </a:p>
        </p:txBody>
      </p:sp>
      <p:sp>
        <p:nvSpPr>
          <p:cNvPr id="6" name="Rectangle 5">
            <a:extLst>
              <a:ext uri="{FF2B5EF4-FFF2-40B4-BE49-F238E27FC236}">
                <a16:creationId xmlns:a16="http://schemas.microsoft.com/office/drawing/2014/main" id="{A5C0BB9A-2ED9-4742-8173-33DF68D67308}"/>
              </a:ext>
            </a:extLst>
          </p:cNvPr>
          <p:cNvSpPr>
            <a:spLocks noGrp="1"/>
          </p:cNvSpPr>
          <p:nvPr/>
        </p:nvSpPr>
        <p:spPr>
          <a:xfrm>
            <a:off x="685800" y="3314700"/>
            <a:ext cx="3714750" cy="1162050"/>
          </a:xfrm>
          <a:prstGeom prst="rect">
            <a:avLst/>
          </a:prstGeom>
          <a:noFill/>
          <a:ln w="0">
            <a:noFill/>
            <a:prstDash val="solid"/>
          </a:ln>
        </p:spPr>
        <p:txBody>
          <a:bodyPr wrap="square" lIns="0" tIns="0" rIns="0" bIns="0" anchor="t">
            <a:normAutofit/>
          </a:bodyPr>
          <a:lstStyle>
            <a:defPPr algn="l">
              <a:defRPr sz="1725" b="0">
                <a:solidFill>
                  <a:srgbClr val="62736B"/>
                </a:solidFill>
                <a:latin typeface="Arial"/>
                <a:ea typeface="Arial"/>
                <a:cs typeface="Arial"/>
              </a:defRPr>
            </a:defPPr>
          </a:lstStyle>
          <a:p>
            <a:pPr algn="l">
              <a:lnSpc>
                <a:spcPct val="124000"/>
              </a:lnSpc>
              <a:buNone/>
              <a:defRPr sz="1725" b="0">
                <a:solidFill>
                  <a:srgbClr val="62736B"/>
                </a:solidFill>
                <a:latin typeface="Arial"/>
                <a:ea typeface="Arial"/>
                <a:cs typeface="Arial"/>
              </a:defRPr>
            </a:pPr>
            <a:r>
              <a:rPr sz="1725" b="0">
                <a:solidFill>
                  <a:srgbClr val="62736B"/>
                </a:solidFill>
                <a:latin typeface="Arial"/>
                <a:ea typeface="Arial"/>
                <a:cs typeface="Arial"/>
              </a:rPr>
              <a:t>Up to 10 MiB</a:t>
            </a:r>
          </a:p>
          <a:p>
            <a:pPr algn="l">
              <a:lnSpc>
                <a:spcPct val="124000"/>
              </a:lnSpc>
              <a:buNone/>
              <a:defRPr sz="1725" b="0">
                <a:solidFill>
                  <a:srgbClr val="62736B"/>
                </a:solidFill>
                <a:latin typeface="Arial"/>
                <a:ea typeface="Arial"/>
                <a:cs typeface="Arial"/>
              </a:defRPr>
            </a:pPr>
            <a:r>
              <a:rPr sz="1725" b="0">
                <a:solidFill>
                  <a:srgbClr val="62736B"/>
                </a:solidFill>
                <a:latin typeface="Arial"/>
                <a:ea typeface="Arial"/>
                <a:cs typeface="Arial"/>
              </a:rPr>
              <a:t>50 columns</a:t>
            </a:r>
          </a:p>
          <a:p>
            <a:pPr algn="l">
              <a:lnSpc>
                <a:spcPct val="124000"/>
              </a:lnSpc>
              <a:buNone/>
              <a:defRPr sz="1725" b="0">
                <a:solidFill>
                  <a:srgbClr val="62736B"/>
                </a:solidFill>
                <a:latin typeface="Arial"/>
                <a:ea typeface="Arial"/>
                <a:cs typeface="Arial"/>
              </a:defRPr>
            </a:pPr>
            <a:r>
              <a:rPr sz="1725" b="0">
                <a:solidFill>
                  <a:srgbClr val="62736B"/>
                </a:solidFill>
                <a:latin typeface="Arial"/>
                <a:ea typeface="Arial"/>
                <a:cs typeface="Arial"/>
              </a:rPr>
              <a:t>50,000 rows</a:t>
            </a:r>
          </a:p>
        </p:txBody>
      </p:sp>
      <p:sp>
        <p:nvSpPr>
          <p:cNvPr id="7" name="Straight Connector 6">
            <a:extLst>
              <a:ext uri="{FF2B5EF4-FFF2-40B4-BE49-F238E27FC236}">
                <a16:creationId xmlns:a16="http://schemas.microsoft.com/office/drawing/2014/main" id="{F8FA8890-84DD-4DC7-8956-80BCF808E7B7}"/>
              </a:ext>
            </a:extLst>
          </p:cNvPr>
          <p:cNvSpPr>
            <a:spLocks noGrp="1"/>
          </p:cNvSpPr>
          <p:nvPr/>
        </p:nvSpPr>
        <p:spPr>
          <a:xfrm>
            <a:off x="4362450" y="2305050"/>
            <a:ext cx="0" cy="2647950"/>
          </a:xfrm>
          <a:prstGeom prst="line">
            <a:avLst/>
          </a:prstGeom>
          <a:noFill/>
          <a:ln w="14288">
            <a:solidFill>
              <a:srgbClr val="D4DBD0"/>
            </a:solidFill>
            <a:prstDash val="solid"/>
          </a:ln>
        </p:spPr>
      </p:sp>
      <p:sp>
        <p:nvSpPr>
          <p:cNvPr id="8" name="Rectangle 7">
            <a:extLst>
              <a:ext uri="{FF2B5EF4-FFF2-40B4-BE49-F238E27FC236}">
                <a16:creationId xmlns:a16="http://schemas.microsoft.com/office/drawing/2014/main" id="{5CC5556E-C13B-4E86-832C-B23999D882D2}"/>
              </a:ext>
            </a:extLst>
          </p:cNvPr>
          <p:cNvSpPr>
            <a:spLocks noGrp="1"/>
          </p:cNvSpPr>
          <p:nvPr/>
        </p:nvSpPr>
        <p:spPr>
          <a:xfrm>
            <a:off x="4857750" y="2333625"/>
            <a:ext cx="2476500" cy="228600"/>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PROFILE</a:t>
            </a:r>
          </a:p>
        </p:txBody>
      </p:sp>
      <p:sp>
        <p:nvSpPr>
          <p:cNvPr id="9" name="Rectangle 8">
            <a:extLst>
              <a:ext uri="{FF2B5EF4-FFF2-40B4-BE49-F238E27FC236}">
                <a16:creationId xmlns:a16="http://schemas.microsoft.com/office/drawing/2014/main" id="{74A6EBE4-336F-453D-9151-B3F012110E0E}"/>
              </a:ext>
            </a:extLst>
          </p:cNvPr>
          <p:cNvSpPr>
            <a:spLocks noGrp="1"/>
          </p:cNvSpPr>
          <p:nvPr/>
        </p:nvSpPr>
        <p:spPr>
          <a:xfrm>
            <a:off x="4857750" y="2762250"/>
            <a:ext cx="26670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Rows and columns</a:t>
            </a:r>
          </a:p>
        </p:txBody>
      </p:sp>
      <p:sp>
        <p:nvSpPr>
          <p:cNvPr id="10" name="Rectangle 9">
            <a:extLst>
              <a:ext uri="{FF2B5EF4-FFF2-40B4-BE49-F238E27FC236}">
                <a16:creationId xmlns:a16="http://schemas.microsoft.com/office/drawing/2014/main" id="{666ED332-C993-476A-B351-C9BAA657E268}"/>
              </a:ext>
            </a:extLst>
          </p:cNvPr>
          <p:cNvSpPr>
            <a:spLocks noGrp="1"/>
          </p:cNvSpPr>
          <p:nvPr/>
        </p:nvSpPr>
        <p:spPr>
          <a:xfrm>
            <a:off x="7810500" y="2762250"/>
            <a:ext cx="3524250" cy="28575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Shape of the uploaded file</a:t>
            </a:r>
          </a:p>
        </p:txBody>
      </p:sp>
      <p:sp>
        <p:nvSpPr>
          <p:cNvPr id="11" name="Straight Connector 10">
            <a:extLst>
              <a:ext uri="{FF2B5EF4-FFF2-40B4-BE49-F238E27FC236}">
                <a16:creationId xmlns:a16="http://schemas.microsoft.com/office/drawing/2014/main" id="{4F7DAC43-6DB2-472E-9AB9-17753D13D99C}"/>
              </a:ext>
            </a:extLst>
          </p:cNvPr>
          <p:cNvSpPr>
            <a:spLocks noGrp="1"/>
          </p:cNvSpPr>
          <p:nvPr/>
        </p:nvSpPr>
        <p:spPr>
          <a:xfrm>
            <a:off x="4857750" y="3133725"/>
            <a:ext cx="6448425" cy="0"/>
          </a:xfrm>
          <a:prstGeom prst="line">
            <a:avLst/>
          </a:prstGeom>
          <a:noFill/>
          <a:ln w="9525">
            <a:solidFill>
              <a:srgbClr val="D4DBD0"/>
            </a:solidFill>
            <a:prstDash val="solid"/>
          </a:ln>
        </p:spPr>
      </p:sp>
      <p:sp>
        <p:nvSpPr>
          <p:cNvPr id="12" name="Rectangle 11">
            <a:extLst>
              <a:ext uri="{FF2B5EF4-FFF2-40B4-BE49-F238E27FC236}">
                <a16:creationId xmlns:a16="http://schemas.microsoft.com/office/drawing/2014/main" id="{BDE321FC-8DA6-4C8E-9EB5-B667ADADBD9F}"/>
              </a:ext>
            </a:extLst>
          </p:cNvPr>
          <p:cNvSpPr>
            <a:spLocks noGrp="1"/>
          </p:cNvSpPr>
          <p:nvPr/>
        </p:nvSpPr>
        <p:spPr>
          <a:xfrm>
            <a:off x="4857750" y="3390900"/>
            <a:ext cx="26670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Column types</a:t>
            </a:r>
          </a:p>
        </p:txBody>
      </p:sp>
      <p:sp>
        <p:nvSpPr>
          <p:cNvPr id="13" name="Rectangle 12">
            <a:extLst>
              <a:ext uri="{FF2B5EF4-FFF2-40B4-BE49-F238E27FC236}">
                <a16:creationId xmlns:a16="http://schemas.microsoft.com/office/drawing/2014/main" id="{922BCD46-4A72-4CBC-8921-BEBCA8AE4B3E}"/>
              </a:ext>
            </a:extLst>
          </p:cNvPr>
          <p:cNvSpPr>
            <a:spLocks noGrp="1"/>
          </p:cNvSpPr>
          <p:nvPr/>
        </p:nvSpPr>
        <p:spPr>
          <a:xfrm>
            <a:off x="7810500" y="3390900"/>
            <a:ext cx="3524250" cy="28575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Detected values and types</a:t>
            </a:r>
          </a:p>
        </p:txBody>
      </p:sp>
      <p:sp>
        <p:nvSpPr>
          <p:cNvPr id="14" name="Straight Connector 13">
            <a:extLst>
              <a:ext uri="{FF2B5EF4-FFF2-40B4-BE49-F238E27FC236}">
                <a16:creationId xmlns:a16="http://schemas.microsoft.com/office/drawing/2014/main" id="{B14A7AD7-224A-4149-B6A1-1D21A9C0B1B0}"/>
              </a:ext>
            </a:extLst>
          </p:cNvPr>
          <p:cNvSpPr>
            <a:spLocks noGrp="1"/>
          </p:cNvSpPr>
          <p:nvPr/>
        </p:nvSpPr>
        <p:spPr>
          <a:xfrm>
            <a:off x="4857750" y="3762375"/>
            <a:ext cx="6448425" cy="0"/>
          </a:xfrm>
          <a:prstGeom prst="line">
            <a:avLst/>
          </a:prstGeom>
          <a:noFill/>
          <a:ln w="9525">
            <a:solidFill>
              <a:srgbClr val="D4DBD0"/>
            </a:solidFill>
            <a:prstDash val="solid"/>
          </a:ln>
        </p:spPr>
      </p:sp>
      <p:sp>
        <p:nvSpPr>
          <p:cNvPr id="15" name="Rectangle 14">
            <a:extLst>
              <a:ext uri="{FF2B5EF4-FFF2-40B4-BE49-F238E27FC236}">
                <a16:creationId xmlns:a16="http://schemas.microsoft.com/office/drawing/2014/main" id="{2935F619-47F2-411D-8C67-340C7473EBB7}"/>
              </a:ext>
            </a:extLst>
          </p:cNvPr>
          <p:cNvSpPr>
            <a:spLocks noGrp="1"/>
          </p:cNvSpPr>
          <p:nvPr/>
        </p:nvSpPr>
        <p:spPr>
          <a:xfrm>
            <a:off x="4857750" y="4019550"/>
            <a:ext cx="26670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Missing values</a:t>
            </a:r>
          </a:p>
        </p:txBody>
      </p:sp>
      <p:sp>
        <p:nvSpPr>
          <p:cNvPr id="16" name="Rectangle 15">
            <a:extLst>
              <a:ext uri="{FF2B5EF4-FFF2-40B4-BE49-F238E27FC236}">
                <a16:creationId xmlns:a16="http://schemas.microsoft.com/office/drawing/2014/main" id="{7B7C9C48-584D-4F22-A00E-E8EF66BF0E15}"/>
              </a:ext>
            </a:extLst>
          </p:cNvPr>
          <p:cNvSpPr>
            <a:spLocks noGrp="1"/>
          </p:cNvSpPr>
          <p:nvPr/>
        </p:nvSpPr>
        <p:spPr>
          <a:xfrm>
            <a:off x="7810500" y="4019550"/>
            <a:ext cx="3524250" cy="28575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Where records need attention</a:t>
            </a:r>
          </a:p>
        </p:txBody>
      </p:sp>
      <p:sp>
        <p:nvSpPr>
          <p:cNvPr id="17" name="Straight Connector 16">
            <a:extLst>
              <a:ext uri="{FF2B5EF4-FFF2-40B4-BE49-F238E27FC236}">
                <a16:creationId xmlns:a16="http://schemas.microsoft.com/office/drawing/2014/main" id="{C53397D3-433A-46F5-938F-3D4B06265667}"/>
              </a:ext>
            </a:extLst>
          </p:cNvPr>
          <p:cNvSpPr>
            <a:spLocks noGrp="1"/>
          </p:cNvSpPr>
          <p:nvPr/>
        </p:nvSpPr>
        <p:spPr>
          <a:xfrm>
            <a:off x="4857750" y="4391025"/>
            <a:ext cx="6448425" cy="0"/>
          </a:xfrm>
          <a:prstGeom prst="line">
            <a:avLst/>
          </a:prstGeom>
          <a:noFill/>
          <a:ln w="9525">
            <a:solidFill>
              <a:srgbClr val="D4DBD0"/>
            </a:solidFill>
            <a:prstDash val="solid"/>
          </a:ln>
        </p:spPr>
      </p:sp>
      <p:sp>
        <p:nvSpPr>
          <p:cNvPr id="18" name="Rectangle 17">
            <a:extLst>
              <a:ext uri="{FF2B5EF4-FFF2-40B4-BE49-F238E27FC236}">
                <a16:creationId xmlns:a16="http://schemas.microsoft.com/office/drawing/2014/main" id="{1ACB4E21-A63E-43E7-A7F1-7C3300935CD4}"/>
              </a:ext>
            </a:extLst>
          </p:cNvPr>
          <p:cNvSpPr>
            <a:spLocks noGrp="1"/>
          </p:cNvSpPr>
          <p:nvPr/>
        </p:nvSpPr>
        <p:spPr>
          <a:xfrm>
            <a:off x="4857750" y="4648200"/>
            <a:ext cx="26670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Distinct values</a:t>
            </a:r>
          </a:p>
        </p:txBody>
      </p:sp>
      <p:sp>
        <p:nvSpPr>
          <p:cNvPr id="19" name="Rectangle 18">
            <a:extLst>
              <a:ext uri="{FF2B5EF4-FFF2-40B4-BE49-F238E27FC236}">
                <a16:creationId xmlns:a16="http://schemas.microsoft.com/office/drawing/2014/main" id="{719CA8FF-6553-42DD-BCA2-0B8AEB52015E}"/>
              </a:ext>
            </a:extLst>
          </p:cNvPr>
          <p:cNvSpPr>
            <a:spLocks noGrp="1"/>
          </p:cNvSpPr>
          <p:nvPr/>
        </p:nvSpPr>
        <p:spPr>
          <a:xfrm>
            <a:off x="7810500" y="4648200"/>
            <a:ext cx="3524250" cy="28575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Quick signal for categorical fields</a:t>
            </a:r>
          </a:p>
        </p:txBody>
      </p:sp>
      <p:sp>
        <p:nvSpPr>
          <p:cNvPr id="20" name="Straight Connector 19">
            <a:extLst>
              <a:ext uri="{FF2B5EF4-FFF2-40B4-BE49-F238E27FC236}">
                <a16:creationId xmlns:a16="http://schemas.microsoft.com/office/drawing/2014/main" id="{7787F68F-7EE0-4EF0-ABBE-A1FABDBBEB2C}"/>
              </a:ext>
            </a:extLst>
          </p:cNvPr>
          <p:cNvSpPr>
            <a:spLocks noGrp="1"/>
          </p:cNvSpPr>
          <p:nvPr/>
        </p:nvSpPr>
        <p:spPr>
          <a:xfrm>
            <a:off x="4857750" y="5019675"/>
            <a:ext cx="6448425" cy="0"/>
          </a:xfrm>
          <a:prstGeom prst="line">
            <a:avLst/>
          </a:prstGeom>
          <a:noFill/>
          <a:ln w="9525">
            <a:solidFill>
              <a:srgbClr val="D4DBD0"/>
            </a:solidFill>
            <a:prstDash val="solid"/>
          </a:ln>
        </p:spPr>
      </p:sp>
      <p:sp>
        <p:nvSpPr>
          <p:cNvPr id="21" name="Rectangle 20">
            <a:extLst>
              <a:ext uri="{FF2B5EF4-FFF2-40B4-BE49-F238E27FC236}">
                <a16:creationId xmlns:a16="http://schemas.microsoft.com/office/drawing/2014/main" id="{23EA8361-346A-4D94-975E-00721153493F}"/>
              </a:ext>
            </a:extLst>
          </p:cNvPr>
          <p:cNvSpPr>
            <a:spLocks noGrp="1"/>
          </p:cNvSpPr>
          <p:nvPr/>
        </p:nvSpPr>
        <p:spPr>
          <a:xfrm>
            <a:off x="4857750" y="5095875"/>
            <a:ext cx="2095500" cy="19050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DEMO DATA</a:t>
            </a:r>
          </a:p>
        </p:txBody>
      </p:sp>
      <p:sp>
        <p:nvSpPr>
          <p:cNvPr id="22" name="Rectangle 21">
            <a:extLst>
              <a:ext uri="{FF2B5EF4-FFF2-40B4-BE49-F238E27FC236}">
                <a16:creationId xmlns:a16="http://schemas.microsoft.com/office/drawing/2014/main" id="{24936FAB-D4C2-434D-AA30-42A74CDC4DBF}"/>
              </a:ext>
            </a:extLst>
          </p:cNvPr>
          <p:cNvSpPr>
            <a:spLocks noGrp="1"/>
          </p:cNvSpPr>
          <p:nvPr/>
        </p:nvSpPr>
        <p:spPr>
          <a:xfrm>
            <a:off x="4857750" y="5334000"/>
            <a:ext cx="6667500" cy="29527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Synthetic churn baseline  /  160 rows  /  5 columns  /  2.6 KB</a:t>
            </a:r>
          </a:p>
        </p:txBody>
      </p:sp>
    </p:spTree>
    <p:extLst>
      <p:ext uri="{BB962C8B-B14F-4D97-AF65-F5344CB8AC3E}">
        <p14:creationId xmlns:p14="http://schemas.microsoft.com/office/powerpoint/2010/main" val="1138769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BDAF599-F43A-4B4D-AA52-E76C79FB0B06}"/>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06 / MODEL TRAINING</a:t>
            </a:r>
          </a:p>
        </p:txBody>
      </p:sp>
      <p:sp>
        <p:nvSpPr>
          <p:cNvPr id="2" name="Rectangle 1">
            <a:extLst>
              <a:ext uri="{FF2B5EF4-FFF2-40B4-BE49-F238E27FC236}">
                <a16:creationId xmlns:a16="http://schemas.microsoft.com/office/drawing/2014/main" id="{02415579-807D-4253-91C6-99211D74F534}"/>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fontScale="97910"/>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Training uses a reproducible supervised-learning baseline</a:t>
            </a:r>
          </a:p>
        </p:txBody>
      </p:sp>
      <p:sp>
        <p:nvSpPr>
          <p:cNvPr id="3" name="Rectangle 2">
            <a:extLst>
              <a:ext uri="{FF2B5EF4-FFF2-40B4-BE49-F238E27FC236}">
                <a16:creationId xmlns:a16="http://schemas.microsoft.com/office/drawing/2014/main" id="{584A16B5-F365-4306-A445-AFF6F8772010}"/>
              </a:ext>
            </a:extLst>
          </p:cNvPr>
          <p:cNvSpPr>
            <a:spLocks noGrp="1"/>
          </p:cNvSpPr>
          <p:nvPr/>
        </p:nvSpPr>
        <p:spPr>
          <a:xfrm>
            <a:off x="533400" y="1752599"/>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dirty="0">
                <a:solidFill>
                  <a:srgbClr val="62736B"/>
                </a:solidFill>
                <a:latin typeface="Arial"/>
                <a:ea typeface="Arial"/>
                <a:cs typeface="Arial"/>
              </a:rPr>
              <a:t>A researcher chooses the label column, numeric features, model and settings.</a:t>
            </a:r>
          </a:p>
        </p:txBody>
      </p:sp>
      <p:sp>
        <p:nvSpPr>
          <p:cNvPr id="4" name="Rectangle 3">
            <a:extLst>
              <a:ext uri="{FF2B5EF4-FFF2-40B4-BE49-F238E27FC236}">
                <a16:creationId xmlns:a16="http://schemas.microsoft.com/office/drawing/2014/main" id="{D23D5E33-5070-48DF-82AA-CBC28620757D}"/>
              </a:ext>
            </a:extLst>
          </p:cNvPr>
          <p:cNvSpPr>
            <a:spLocks noGrp="1"/>
          </p:cNvSpPr>
          <p:nvPr/>
        </p:nvSpPr>
        <p:spPr>
          <a:xfrm>
            <a:off x="628650" y="2781300"/>
            <a:ext cx="4762500" cy="304800"/>
          </a:xfrm>
          <a:prstGeom prst="rect">
            <a:avLst/>
          </a:prstGeom>
          <a:solidFill>
            <a:srgbClr val="E5E9DF"/>
          </a:solidFill>
          <a:ln w="0">
            <a:noFill/>
            <a:prstDash val="solid"/>
          </a:ln>
        </p:spPr>
      </p:sp>
      <p:sp>
        <p:nvSpPr>
          <p:cNvPr id="5" name="Rectangle 4">
            <a:extLst>
              <a:ext uri="{FF2B5EF4-FFF2-40B4-BE49-F238E27FC236}">
                <a16:creationId xmlns:a16="http://schemas.microsoft.com/office/drawing/2014/main" id="{2046FF69-8A8F-4061-8209-25B3C513E691}"/>
              </a:ext>
            </a:extLst>
          </p:cNvPr>
          <p:cNvSpPr>
            <a:spLocks noGrp="1"/>
          </p:cNvSpPr>
          <p:nvPr/>
        </p:nvSpPr>
        <p:spPr>
          <a:xfrm>
            <a:off x="628650" y="2781300"/>
            <a:ext cx="3810000" cy="304800"/>
          </a:xfrm>
          <a:prstGeom prst="rect">
            <a:avLst/>
          </a:prstGeom>
          <a:solidFill>
            <a:srgbClr val="148A78"/>
          </a:solidFill>
          <a:ln w="0">
            <a:noFill/>
            <a:prstDash val="solid"/>
          </a:ln>
        </p:spPr>
      </p:sp>
      <p:sp>
        <p:nvSpPr>
          <p:cNvPr id="6" name="Rectangle 5">
            <a:extLst>
              <a:ext uri="{FF2B5EF4-FFF2-40B4-BE49-F238E27FC236}">
                <a16:creationId xmlns:a16="http://schemas.microsoft.com/office/drawing/2014/main" id="{322C8554-E6D4-4342-9C05-F1DC5D599AC3}"/>
              </a:ext>
            </a:extLst>
          </p:cNvPr>
          <p:cNvSpPr>
            <a:spLocks noGrp="1"/>
          </p:cNvSpPr>
          <p:nvPr/>
        </p:nvSpPr>
        <p:spPr>
          <a:xfrm>
            <a:off x="4438650" y="2781300"/>
            <a:ext cx="952500" cy="304800"/>
          </a:xfrm>
          <a:prstGeom prst="rect">
            <a:avLst/>
          </a:prstGeom>
          <a:solidFill>
            <a:srgbClr val="E79B54"/>
          </a:solidFill>
          <a:ln w="0">
            <a:noFill/>
            <a:prstDash val="solid"/>
          </a:ln>
        </p:spPr>
      </p:sp>
      <p:sp>
        <p:nvSpPr>
          <p:cNvPr id="7" name="Rectangle 6">
            <a:extLst>
              <a:ext uri="{FF2B5EF4-FFF2-40B4-BE49-F238E27FC236}">
                <a16:creationId xmlns:a16="http://schemas.microsoft.com/office/drawing/2014/main" id="{5D01A6AE-72AE-4D0A-BA36-7E7C5E819D46}"/>
              </a:ext>
            </a:extLst>
          </p:cNvPr>
          <p:cNvSpPr>
            <a:spLocks noGrp="1"/>
          </p:cNvSpPr>
          <p:nvPr/>
        </p:nvSpPr>
        <p:spPr>
          <a:xfrm>
            <a:off x="685800" y="2352675"/>
            <a:ext cx="3238500" cy="276225"/>
          </a:xfrm>
          <a:prstGeom prst="rect">
            <a:avLst/>
          </a:prstGeom>
          <a:noFill/>
          <a:ln w="0">
            <a:noFill/>
            <a:prstDash val="solid"/>
          </a:ln>
        </p:spPr>
        <p:txBody>
          <a:bodyPr wrap="square" lIns="0" tIns="0" rIns="0" bIns="0" anchor="t">
            <a:normAutofit/>
          </a:bodyPr>
          <a:lstStyle>
            <a:defPPr algn="l">
              <a:defRPr sz="1275" b="1">
                <a:solidFill>
                  <a:srgbClr val="148A78"/>
                </a:solidFill>
                <a:latin typeface="Arial"/>
                <a:ea typeface="Arial"/>
                <a:cs typeface="Arial"/>
              </a:defRPr>
            </a:defPPr>
          </a:lstStyle>
          <a:p>
            <a:pPr algn="l">
              <a:lnSpc>
                <a:spcPct val="105000"/>
              </a:lnSpc>
              <a:buNone/>
              <a:defRPr sz="1275" b="1">
                <a:solidFill>
                  <a:srgbClr val="148A78"/>
                </a:solidFill>
                <a:latin typeface="Arial"/>
                <a:ea typeface="Arial"/>
                <a:cs typeface="Arial"/>
              </a:defRPr>
            </a:pPr>
            <a:r>
              <a:rPr sz="1275" b="1">
                <a:solidFill>
                  <a:srgbClr val="148A78"/>
                </a:solidFill>
                <a:latin typeface="Arial"/>
                <a:ea typeface="Arial"/>
                <a:cs typeface="Arial"/>
              </a:rPr>
              <a:t>80%  TRAINING DATA</a:t>
            </a:r>
          </a:p>
        </p:txBody>
      </p:sp>
      <p:sp>
        <p:nvSpPr>
          <p:cNvPr id="8" name="Rectangle 7">
            <a:extLst>
              <a:ext uri="{FF2B5EF4-FFF2-40B4-BE49-F238E27FC236}">
                <a16:creationId xmlns:a16="http://schemas.microsoft.com/office/drawing/2014/main" id="{D247B117-225A-4A78-A0A2-A80BBE0B0B5E}"/>
              </a:ext>
            </a:extLst>
          </p:cNvPr>
          <p:cNvSpPr>
            <a:spLocks noGrp="1"/>
          </p:cNvSpPr>
          <p:nvPr/>
        </p:nvSpPr>
        <p:spPr>
          <a:xfrm>
            <a:off x="4105275" y="2352675"/>
            <a:ext cx="1905000" cy="276225"/>
          </a:xfrm>
          <a:prstGeom prst="rect">
            <a:avLst/>
          </a:prstGeom>
          <a:noFill/>
          <a:ln w="0">
            <a:noFill/>
            <a:prstDash val="solid"/>
          </a:ln>
        </p:spPr>
        <p:txBody>
          <a:bodyPr wrap="square" lIns="0" tIns="0" rIns="0" bIns="0" anchor="t">
            <a:normAutofit/>
          </a:bodyPr>
          <a:lstStyle>
            <a:defPPr algn="l">
              <a:defRPr sz="1275" b="1">
                <a:solidFill>
                  <a:srgbClr val="A96527"/>
                </a:solidFill>
                <a:latin typeface="Arial"/>
                <a:ea typeface="Arial"/>
                <a:cs typeface="Arial"/>
              </a:defRPr>
            </a:defPPr>
          </a:lstStyle>
          <a:p>
            <a:pPr algn="l">
              <a:lnSpc>
                <a:spcPct val="105000"/>
              </a:lnSpc>
              <a:buNone/>
              <a:defRPr sz="1275" b="1">
                <a:solidFill>
                  <a:srgbClr val="A96527"/>
                </a:solidFill>
                <a:latin typeface="Arial"/>
                <a:ea typeface="Arial"/>
                <a:cs typeface="Arial"/>
              </a:defRPr>
            </a:pPr>
            <a:r>
              <a:rPr sz="1275" b="1">
                <a:solidFill>
                  <a:srgbClr val="A96527"/>
                </a:solidFill>
                <a:latin typeface="Arial"/>
                <a:ea typeface="Arial"/>
                <a:cs typeface="Arial"/>
              </a:rPr>
              <a:t>20%  HOLDOUT</a:t>
            </a:r>
          </a:p>
        </p:txBody>
      </p:sp>
      <p:sp>
        <p:nvSpPr>
          <p:cNvPr id="9" name="Rectangle 8">
            <a:extLst>
              <a:ext uri="{FF2B5EF4-FFF2-40B4-BE49-F238E27FC236}">
                <a16:creationId xmlns:a16="http://schemas.microsoft.com/office/drawing/2014/main" id="{C05B2C89-70F3-4702-830F-4F520D8C73A5}"/>
              </a:ext>
            </a:extLst>
          </p:cNvPr>
          <p:cNvSpPr>
            <a:spLocks noGrp="1"/>
          </p:cNvSpPr>
          <p:nvPr/>
        </p:nvSpPr>
        <p:spPr>
          <a:xfrm>
            <a:off x="628650" y="3371850"/>
            <a:ext cx="4762500" cy="342900"/>
          </a:xfrm>
          <a:prstGeom prst="rect">
            <a:avLst/>
          </a:prstGeom>
          <a:noFill/>
          <a:ln w="0">
            <a:noFill/>
            <a:prstDash val="solid"/>
          </a:ln>
        </p:spPr>
        <p:txBody>
          <a:bodyPr wrap="square" lIns="0" tIns="0" rIns="0" bIns="0" anchor="t">
            <a:normAutofit/>
          </a:bodyPr>
          <a:lstStyle>
            <a:defPPr algn="ctr">
              <a:defRPr sz="1875" b="1">
                <a:solidFill>
                  <a:srgbClr val="14241F"/>
                </a:solidFill>
                <a:latin typeface="Arial"/>
                <a:ea typeface="Arial"/>
                <a:cs typeface="Arial"/>
              </a:defRPr>
            </a:defPPr>
          </a:lstStyle>
          <a:p>
            <a:pPr algn="ctr">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CSV</a:t>
            </a:r>
          </a:p>
        </p:txBody>
      </p:sp>
      <p:cxnSp>
        <p:nvCxnSpPr>
          <p:cNvPr id="10" name="Connector: Elbow 9">
            <a:extLst>
              <a:ext uri="{FF2B5EF4-FFF2-40B4-BE49-F238E27FC236}">
                <a16:creationId xmlns:a16="http://schemas.microsoft.com/office/drawing/2014/main" id="{C36CE6A0-9C5C-4DAF-913D-5825DD124ECC}"/>
              </a:ext>
            </a:extLst>
          </p:cNvPr>
          <p:cNvCxnSpPr/>
          <p:nvPr/>
        </p:nvCxnSpPr>
        <p:spPr>
          <a:xfrm>
            <a:off x="5429250" y="3533775"/>
            <a:ext cx="1295400" cy="0"/>
          </a:xfrm>
          <a:prstGeom prst="bentConnector4">
            <a:avLst/>
          </a:prstGeom>
          <a:ln w="19050">
            <a:solidFill>
              <a:srgbClr val="62736B"/>
            </a:solidFill>
            <a:prstDash val="solid"/>
            <a:tailEnd type="arrow" w="med" len="med"/>
          </a:ln>
        </p:spPr>
      </p:cxnSp>
      <p:sp>
        <p:nvSpPr>
          <p:cNvPr id="11" name="Rectangle 10">
            <a:extLst>
              <a:ext uri="{FF2B5EF4-FFF2-40B4-BE49-F238E27FC236}">
                <a16:creationId xmlns:a16="http://schemas.microsoft.com/office/drawing/2014/main" id="{35348E49-D86C-4A8B-A286-F3745E658756}"/>
              </a:ext>
            </a:extLst>
          </p:cNvPr>
          <p:cNvSpPr>
            <a:spLocks noGrp="1"/>
          </p:cNvSpPr>
          <p:nvPr/>
        </p:nvSpPr>
        <p:spPr>
          <a:xfrm>
            <a:off x="6877050" y="3286125"/>
            <a:ext cx="2152650" cy="438150"/>
          </a:xfrm>
          <a:prstGeom prst="rect">
            <a:avLst/>
          </a:prstGeom>
          <a:noFill/>
          <a:ln w="0">
            <a:noFill/>
            <a:prstDash val="solid"/>
          </a:ln>
        </p:spPr>
        <p:txBody>
          <a:bodyPr wrap="square" lIns="0" tIns="0" rIns="0" bIns="0" anchor="t">
            <a:normAutofit/>
          </a:bodyPr>
          <a:lstStyle>
            <a:defPPr algn="ctr">
              <a:defRPr sz="1875" b="1">
                <a:solidFill>
                  <a:srgbClr val="14241F"/>
                </a:solidFill>
                <a:latin typeface="Arial"/>
                <a:ea typeface="Arial"/>
                <a:cs typeface="Arial"/>
              </a:defRPr>
            </a:defPPr>
          </a:lstStyle>
          <a:p>
            <a:pPr algn="ctr">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FIT MODEL</a:t>
            </a:r>
          </a:p>
        </p:txBody>
      </p:sp>
      <p:cxnSp>
        <p:nvCxnSpPr>
          <p:cNvPr id="12" name="Connector: Elbow 11">
            <a:extLst>
              <a:ext uri="{FF2B5EF4-FFF2-40B4-BE49-F238E27FC236}">
                <a16:creationId xmlns:a16="http://schemas.microsoft.com/office/drawing/2014/main" id="{1C227939-4A29-4765-8D7A-622988B78A0C}"/>
              </a:ext>
            </a:extLst>
          </p:cNvPr>
          <p:cNvCxnSpPr/>
          <p:nvPr/>
        </p:nvCxnSpPr>
        <p:spPr>
          <a:xfrm>
            <a:off x="9067800" y="3533775"/>
            <a:ext cx="1123950" cy="0"/>
          </a:xfrm>
          <a:prstGeom prst="bentConnector4">
            <a:avLst/>
          </a:prstGeom>
          <a:ln w="19050">
            <a:solidFill>
              <a:srgbClr val="62736B"/>
            </a:solidFill>
            <a:prstDash val="solid"/>
            <a:tailEnd type="arrow" w="med" len="med"/>
          </a:ln>
        </p:spPr>
      </p:cxnSp>
      <p:sp>
        <p:nvSpPr>
          <p:cNvPr id="13" name="Rectangle 12">
            <a:extLst>
              <a:ext uri="{FF2B5EF4-FFF2-40B4-BE49-F238E27FC236}">
                <a16:creationId xmlns:a16="http://schemas.microsoft.com/office/drawing/2014/main" id="{873A41DB-2760-4046-B4D3-188BBADBFFD9}"/>
              </a:ext>
            </a:extLst>
          </p:cNvPr>
          <p:cNvSpPr>
            <a:spLocks noGrp="1"/>
          </p:cNvSpPr>
          <p:nvPr/>
        </p:nvSpPr>
        <p:spPr>
          <a:xfrm>
            <a:off x="10296525" y="3286125"/>
            <a:ext cx="1381125" cy="438150"/>
          </a:xfrm>
          <a:prstGeom prst="rect">
            <a:avLst/>
          </a:prstGeom>
          <a:noFill/>
          <a:ln w="0">
            <a:noFill/>
            <a:prstDash val="solid"/>
          </a:ln>
        </p:spPr>
        <p:txBody>
          <a:bodyPr wrap="square" lIns="0" tIns="0" rIns="0" bIns="0" anchor="t">
            <a:normAutofit/>
          </a:bodyPr>
          <a:lstStyle>
            <a:defPPr algn="ctr">
              <a:defRPr sz="1875" b="1">
                <a:solidFill>
                  <a:srgbClr val="14241F"/>
                </a:solidFill>
                <a:latin typeface="Arial"/>
                <a:ea typeface="Arial"/>
                <a:cs typeface="Arial"/>
              </a:defRPr>
            </a:defPPr>
          </a:lstStyle>
          <a:p>
            <a:pPr algn="ctr">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SCORE</a:t>
            </a:r>
          </a:p>
        </p:txBody>
      </p:sp>
      <p:sp>
        <p:nvSpPr>
          <p:cNvPr id="14" name="Straight Connector 13">
            <a:extLst>
              <a:ext uri="{FF2B5EF4-FFF2-40B4-BE49-F238E27FC236}">
                <a16:creationId xmlns:a16="http://schemas.microsoft.com/office/drawing/2014/main" id="{DF8067F3-D297-430F-A9B7-0F3803657E70}"/>
              </a:ext>
            </a:extLst>
          </p:cNvPr>
          <p:cNvSpPr>
            <a:spLocks noGrp="1"/>
          </p:cNvSpPr>
          <p:nvPr/>
        </p:nvSpPr>
        <p:spPr>
          <a:xfrm>
            <a:off x="628650" y="4191000"/>
            <a:ext cx="10934700" cy="0"/>
          </a:xfrm>
          <a:prstGeom prst="line">
            <a:avLst/>
          </a:prstGeom>
          <a:noFill/>
          <a:ln w="9525">
            <a:solidFill>
              <a:srgbClr val="D4DBD0"/>
            </a:solidFill>
            <a:prstDash val="solid"/>
          </a:ln>
        </p:spPr>
      </p:sp>
      <p:sp>
        <p:nvSpPr>
          <p:cNvPr id="15" name="Rectangle 14">
            <a:extLst>
              <a:ext uri="{FF2B5EF4-FFF2-40B4-BE49-F238E27FC236}">
                <a16:creationId xmlns:a16="http://schemas.microsoft.com/office/drawing/2014/main" id="{F8C00D08-E85D-4039-B24C-4362D5387F48}"/>
              </a:ext>
            </a:extLst>
          </p:cNvPr>
          <p:cNvSpPr>
            <a:spLocks noGrp="1"/>
          </p:cNvSpPr>
          <p:nvPr/>
        </p:nvSpPr>
        <p:spPr>
          <a:xfrm>
            <a:off x="685800" y="4495800"/>
            <a:ext cx="4048125" cy="238125"/>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LOGISTIC REGRESSION</a:t>
            </a:r>
          </a:p>
        </p:txBody>
      </p:sp>
      <p:sp>
        <p:nvSpPr>
          <p:cNvPr id="16" name="Rectangle 15">
            <a:extLst>
              <a:ext uri="{FF2B5EF4-FFF2-40B4-BE49-F238E27FC236}">
                <a16:creationId xmlns:a16="http://schemas.microsoft.com/office/drawing/2014/main" id="{688662D4-0FC4-41A1-A267-E085B56684BF}"/>
              </a:ext>
            </a:extLst>
          </p:cNvPr>
          <p:cNvSpPr>
            <a:spLocks noGrp="1"/>
          </p:cNvSpPr>
          <p:nvPr/>
        </p:nvSpPr>
        <p:spPr>
          <a:xfrm>
            <a:off x="685800" y="4857750"/>
            <a:ext cx="4762500" cy="9144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15000"/>
              </a:lnSpc>
              <a:buNone/>
              <a:defRPr sz="1425" b="0">
                <a:solidFill>
                  <a:srgbClr val="14241F"/>
                </a:solidFill>
                <a:latin typeface="Arial"/>
                <a:ea typeface="Arial"/>
                <a:cs typeface="Arial"/>
              </a:defRPr>
            </a:pPr>
            <a:r>
              <a:rPr sz="1425" b="0">
                <a:solidFill>
                  <a:srgbClr val="14241F"/>
                </a:solidFill>
                <a:latin typeface="Arial"/>
                <a:ea typeface="Arial"/>
                <a:cs typeface="Arial"/>
              </a:rPr>
              <a:t>Binary classification. Standardized features, missing-value imputation from the training split, and 60, 120 or 180 epochs.</a:t>
            </a:r>
          </a:p>
        </p:txBody>
      </p:sp>
      <p:sp>
        <p:nvSpPr>
          <p:cNvPr id="17" name="Rectangle 16">
            <a:extLst>
              <a:ext uri="{FF2B5EF4-FFF2-40B4-BE49-F238E27FC236}">
                <a16:creationId xmlns:a16="http://schemas.microsoft.com/office/drawing/2014/main" id="{AB570961-6A05-4744-9299-AEE3E4D14BB0}"/>
              </a:ext>
            </a:extLst>
          </p:cNvPr>
          <p:cNvSpPr>
            <a:spLocks noGrp="1"/>
          </p:cNvSpPr>
          <p:nvPr/>
        </p:nvSpPr>
        <p:spPr>
          <a:xfrm>
            <a:off x="6238875" y="4495800"/>
            <a:ext cx="4191000" cy="238125"/>
          </a:xfrm>
          <a:prstGeom prst="rect">
            <a:avLst/>
          </a:prstGeom>
          <a:noFill/>
          <a:ln w="0">
            <a:noFill/>
            <a:prstDash val="solid"/>
          </a:ln>
        </p:spPr>
        <p:txBody>
          <a:bodyPr wrap="square" lIns="0" tIns="0" rIns="0" bIns="0" anchor="t">
            <a:normAutofit/>
          </a:bodyPr>
          <a:lstStyle>
            <a:defPPr algn="l">
              <a:defRPr sz="1125" b="1">
                <a:solidFill>
                  <a:srgbClr val="E79B54"/>
                </a:solidFill>
                <a:latin typeface="Arial"/>
                <a:ea typeface="Arial"/>
                <a:cs typeface="Arial"/>
              </a:defRPr>
            </a:defPPr>
          </a:lstStyle>
          <a:p>
            <a:pPr algn="l">
              <a:lnSpc>
                <a:spcPct val="105000"/>
              </a:lnSpc>
              <a:buNone/>
              <a:defRPr sz="1125" b="1">
                <a:solidFill>
                  <a:srgbClr val="E79B54"/>
                </a:solidFill>
                <a:latin typeface="Arial"/>
                <a:ea typeface="Arial"/>
                <a:cs typeface="Arial"/>
              </a:defRPr>
            </a:pPr>
            <a:r>
              <a:rPr sz="1125" b="1">
                <a:solidFill>
                  <a:srgbClr val="E79B54"/>
                </a:solidFill>
                <a:latin typeface="Arial"/>
                <a:ea typeface="Arial"/>
                <a:cs typeface="Arial"/>
              </a:rPr>
              <a:t>CART DECISION TREE</a:t>
            </a:r>
          </a:p>
        </p:txBody>
      </p:sp>
      <p:sp>
        <p:nvSpPr>
          <p:cNvPr id="18" name="Rectangle 17">
            <a:extLst>
              <a:ext uri="{FF2B5EF4-FFF2-40B4-BE49-F238E27FC236}">
                <a16:creationId xmlns:a16="http://schemas.microsoft.com/office/drawing/2014/main" id="{43A7306F-4BA7-4C44-A356-664CF05D39DE}"/>
              </a:ext>
            </a:extLst>
          </p:cNvPr>
          <p:cNvSpPr>
            <a:spLocks noGrp="1"/>
          </p:cNvSpPr>
          <p:nvPr/>
        </p:nvSpPr>
        <p:spPr>
          <a:xfrm>
            <a:off x="6238875" y="4857750"/>
            <a:ext cx="4953000" cy="9144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15000"/>
              </a:lnSpc>
              <a:buNone/>
              <a:defRPr sz="1425" b="0">
                <a:solidFill>
                  <a:srgbClr val="14241F"/>
                </a:solidFill>
                <a:latin typeface="Arial"/>
                <a:ea typeface="Arial"/>
                <a:cs typeface="Arial"/>
              </a:defRPr>
            </a:pPr>
            <a:r>
              <a:rPr sz="1425" b="0">
                <a:solidFill>
                  <a:srgbClr val="14241F"/>
                </a:solidFill>
                <a:latin typeface="Arial"/>
                <a:ea typeface="Arial"/>
                <a:cs typeface="Arial"/>
              </a:rPr>
              <a:t>Two or more classes. Gini impurity, missing-value imputation from the training split, and a maximum depth of six.</a:t>
            </a:r>
          </a:p>
        </p:txBody>
      </p:sp>
      <p:sp>
        <p:nvSpPr>
          <p:cNvPr id="19" name="Rectangle 18">
            <a:extLst>
              <a:ext uri="{FF2B5EF4-FFF2-40B4-BE49-F238E27FC236}">
                <a16:creationId xmlns:a16="http://schemas.microsoft.com/office/drawing/2014/main" id="{21D8B52A-C3BF-450D-A441-1610259E26D1}"/>
              </a:ext>
            </a:extLst>
          </p:cNvPr>
          <p:cNvSpPr>
            <a:spLocks noGrp="1"/>
          </p:cNvSpPr>
          <p:nvPr/>
        </p:nvSpPr>
        <p:spPr>
          <a:xfrm>
            <a:off x="685800" y="5905500"/>
            <a:ext cx="10763250" cy="266700"/>
          </a:xfrm>
          <a:prstGeom prst="rect">
            <a:avLst/>
          </a:prstGeom>
          <a:noFill/>
          <a:ln w="0">
            <a:noFill/>
            <a:prstDash val="solid"/>
          </a:ln>
        </p:spPr>
        <p:txBody>
          <a:bodyPr wrap="square" lIns="0" tIns="0" rIns="0" bIns="0" anchor="t">
            <a:normAutofit/>
          </a:bodyPr>
          <a:lstStyle>
            <a:defPPr algn="l">
              <a:defRPr sz="1275" b="1">
                <a:solidFill>
                  <a:srgbClr val="62736B"/>
                </a:solidFill>
                <a:latin typeface="Arial"/>
                <a:ea typeface="Arial"/>
                <a:cs typeface="Arial"/>
              </a:defRPr>
            </a:defPPr>
          </a:lstStyle>
          <a:p>
            <a:pPr algn="l">
              <a:lnSpc>
                <a:spcPct val="105000"/>
              </a:lnSpc>
              <a:buNone/>
              <a:defRPr sz="1275" b="1">
                <a:solidFill>
                  <a:srgbClr val="62736B"/>
                </a:solidFill>
                <a:latin typeface="Arial"/>
                <a:ea typeface="Arial"/>
                <a:cs typeface="Arial"/>
              </a:defRPr>
            </a:pPr>
            <a:r>
              <a:rPr sz="1275" b="1">
                <a:solidFill>
                  <a:srgbClr val="62736B"/>
                </a:solidFill>
                <a:latin typeface="Arial"/>
                <a:ea typeface="Arial"/>
                <a:cs typeface="Arial"/>
              </a:rPr>
              <a:t>A deterministic, stratified 80/20 split keeps evaluation data separate from model fitting.</a:t>
            </a:r>
          </a:p>
        </p:txBody>
      </p:sp>
    </p:spTree>
    <p:extLst>
      <p:ext uri="{BB962C8B-B14F-4D97-AF65-F5344CB8AC3E}">
        <p14:creationId xmlns:p14="http://schemas.microsoft.com/office/powerpoint/2010/main" val="186825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946B13F-7C01-4F6E-9B73-850FB1786BE4}"/>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07 / EXPERIMENTS</a:t>
            </a:r>
          </a:p>
        </p:txBody>
      </p:sp>
      <p:sp>
        <p:nvSpPr>
          <p:cNvPr id="2" name="Rectangle 1">
            <a:extLst>
              <a:ext uri="{FF2B5EF4-FFF2-40B4-BE49-F238E27FC236}">
                <a16:creationId xmlns:a16="http://schemas.microsoft.com/office/drawing/2014/main" id="{054075A5-5298-4B7D-A0FE-6AFA3B6A939F}"/>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Every run keeps its settings and results together</a:t>
            </a:r>
          </a:p>
        </p:txBody>
      </p:sp>
      <p:sp>
        <p:nvSpPr>
          <p:cNvPr id="3" name="Rectangle 2">
            <a:extLst>
              <a:ext uri="{FF2B5EF4-FFF2-40B4-BE49-F238E27FC236}">
                <a16:creationId xmlns:a16="http://schemas.microsoft.com/office/drawing/2014/main" id="{BD2398EF-E228-45D2-A3CA-DF29160AAECC}"/>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Researchers can inspect one run or compare two to four completed runs.</a:t>
            </a:r>
          </a:p>
        </p:txBody>
      </p:sp>
      <p:sp>
        <p:nvSpPr>
          <p:cNvPr id="4" name="Rectangle 3">
            <a:extLst>
              <a:ext uri="{FF2B5EF4-FFF2-40B4-BE49-F238E27FC236}">
                <a16:creationId xmlns:a16="http://schemas.microsoft.com/office/drawing/2014/main" id="{D9E64EB7-B212-49F8-BA70-B44A246EC47B}"/>
              </a:ext>
            </a:extLst>
          </p:cNvPr>
          <p:cNvSpPr>
            <a:spLocks noGrp="1"/>
          </p:cNvSpPr>
          <p:nvPr/>
        </p:nvSpPr>
        <p:spPr>
          <a:xfrm>
            <a:off x="666750" y="2324100"/>
            <a:ext cx="2286000" cy="228600"/>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ACCURACY</a:t>
            </a:r>
          </a:p>
        </p:txBody>
      </p:sp>
      <p:sp>
        <p:nvSpPr>
          <p:cNvPr id="5" name="Rectangle 4">
            <a:extLst>
              <a:ext uri="{FF2B5EF4-FFF2-40B4-BE49-F238E27FC236}">
                <a16:creationId xmlns:a16="http://schemas.microsoft.com/office/drawing/2014/main" id="{E00025D8-415E-4760-AB16-30F2E32DFBF1}"/>
              </a:ext>
            </a:extLst>
          </p:cNvPr>
          <p:cNvSpPr>
            <a:spLocks noGrp="1"/>
          </p:cNvSpPr>
          <p:nvPr/>
        </p:nvSpPr>
        <p:spPr>
          <a:xfrm>
            <a:off x="666750" y="2705100"/>
            <a:ext cx="2286000" cy="80010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Correct predictions across the holdout</a:t>
            </a:r>
          </a:p>
        </p:txBody>
      </p:sp>
      <p:sp>
        <p:nvSpPr>
          <p:cNvPr id="6" name="Straight Connector 5">
            <a:extLst>
              <a:ext uri="{FF2B5EF4-FFF2-40B4-BE49-F238E27FC236}">
                <a16:creationId xmlns:a16="http://schemas.microsoft.com/office/drawing/2014/main" id="{A00FF6AD-6912-46D6-B23D-90D63722BCDD}"/>
              </a:ext>
            </a:extLst>
          </p:cNvPr>
          <p:cNvSpPr>
            <a:spLocks noGrp="1"/>
          </p:cNvSpPr>
          <p:nvPr/>
        </p:nvSpPr>
        <p:spPr>
          <a:xfrm>
            <a:off x="3143250" y="2305050"/>
            <a:ext cx="0" cy="1343025"/>
          </a:xfrm>
          <a:prstGeom prst="line">
            <a:avLst/>
          </a:prstGeom>
          <a:noFill/>
          <a:ln w="9525">
            <a:solidFill>
              <a:srgbClr val="D4DBD0"/>
            </a:solidFill>
            <a:prstDash val="solid"/>
          </a:ln>
        </p:spPr>
      </p:sp>
      <p:sp>
        <p:nvSpPr>
          <p:cNvPr id="7" name="Rectangle 6">
            <a:extLst>
              <a:ext uri="{FF2B5EF4-FFF2-40B4-BE49-F238E27FC236}">
                <a16:creationId xmlns:a16="http://schemas.microsoft.com/office/drawing/2014/main" id="{31EAD1EF-71B1-436D-A657-0367F2296BB5}"/>
              </a:ext>
            </a:extLst>
          </p:cNvPr>
          <p:cNvSpPr>
            <a:spLocks noGrp="1"/>
          </p:cNvSpPr>
          <p:nvPr/>
        </p:nvSpPr>
        <p:spPr>
          <a:xfrm>
            <a:off x="3476625" y="2324100"/>
            <a:ext cx="2286000" cy="228600"/>
          </a:xfrm>
          <a:prstGeom prst="rect">
            <a:avLst/>
          </a:prstGeom>
          <a:noFill/>
          <a:ln w="0">
            <a:noFill/>
            <a:prstDash val="solid"/>
          </a:ln>
        </p:spPr>
        <p:txBody>
          <a:bodyPr wrap="square" lIns="0" tIns="0" rIns="0" bIns="0" anchor="t">
            <a:normAutofit/>
          </a:bodyPr>
          <a:lstStyle>
            <a:defPPr algn="l">
              <a:defRPr sz="1125" b="1">
                <a:solidFill>
                  <a:srgbClr val="E79B54"/>
                </a:solidFill>
                <a:latin typeface="Arial"/>
                <a:ea typeface="Arial"/>
                <a:cs typeface="Arial"/>
              </a:defRPr>
            </a:defPPr>
          </a:lstStyle>
          <a:p>
            <a:pPr algn="l">
              <a:lnSpc>
                <a:spcPct val="105000"/>
              </a:lnSpc>
              <a:buNone/>
              <a:defRPr sz="1125" b="1">
                <a:solidFill>
                  <a:srgbClr val="E79B54"/>
                </a:solidFill>
                <a:latin typeface="Arial"/>
                <a:ea typeface="Arial"/>
                <a:cs typeface="Arial"/>
              </a:defRPr>
            </a:pPr>
            <a:r>
              <a:rPr sz="1125" b="1">
                <a:solidFill>
                  <a:srgbClr val="E79B54"/>
                </a:solidFill>
                <a:latin typeface="Arial"/>
                <a:ea typeface="Arial"/>
                <a:cs typeface="Arial"/>
              </a:rPr>
              <a:t>PRECISION</a:t>
            </a:r>
          </a:p>
        </p:txBody>
      </p:sp>
      <p:sp>
        <p:nvSpPr>
          <p:cNvPr id="8" name="Rectangle 7">
            <a:extLst>
              <a:ext uri="{FF2B5EF4-FFF2-40B4-BE49-F238E27FC236}">
                <a16:creationId xmlns:a16="http://schemas.microsoft.com/office/drawing/2014/main" id="{03D45AD7-168B-434B-B806-1B0A73518DB4}"/>
              </a:ext>
            </a:extLst>
          </p:cNvPr>
          <p:cNvSpPr>
            <a:spLocks noGrp="1"/>
          </p:cNvSpPr>
          <p:nvPr/>
        </p:nvSpPr>
        <p:spPr>
          <a:xfrm>
            <a:off x="3476625" y="2705100"/>
            <a:ext cx="2286000" cy="80010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How often positive predictions are correct</a:t>
            </a:r>
          </a:p>
        </p:txBody>
      </p:sp>
      <p:sp>
        <p:nvSpPr>
          <p:cNvPr id="9" name="Straight Connector 8">
            <a:extLst>
              <a:ext uri="{FF2B5EF4-FFF2-40B4-BE49-F238E27FC236}">
                <a16:creationId xmlns:a16="http://schemas.microsoft.com/office/drawing/2014/main" id="{F84642E8-8069-44F7-85D5-058E9E8C2E82}"/>
              </a:ext>
            </a:extLst>
          </p:cNvPr>
          <p:cNvSpPr>
            <a:spLocks noGrp="1"/>
          </p:cNvSpPr>
          <p:nvPr/>
        </p:nvSpPr>
        <p:spPr>
          <a:xfrm>
            <a:off x="5953125" y="2305050"/>
            <a:ext cx="0" cy="1343025"/>
          </a:xfrm>
          <a:prstGeom prst="line">
            <a:avLst/>
          </a:prstGeom>
          <a:noFill/>
          <a:ln w="9525">
            <a:solidFill>
              <a:srgbClr val="D4DBD0"/>
            </a:solidFill>
            <a:prstDash val="solid"/>
          </a:ln>
        </p:spPr>
      </p:sp>
      <p:sp>
        <p:nvSpPr>
          <p:cNvPr id="10" name="Rectangle 9">
            <a:extLst>
              <a:ext uri="{FF2B5EF4-FFF2-40B4-BE49-F238E27FC236}">
                <a16:creationId xmlns:a16="http://schemas.microsoft.com/office/drawing/2014/main" id="{FA06E878-8845-4370-86AA-FE5D889A70BB}"/>
              </a:ext>
            </a:extLst>
          </p:cNvPr>
          <p:cNvSpPr>
            <a:spLocks noGrp="1"/>
          </p:cNvSpPr>
          <p:nvPr/>
        </p:nvSpPr>
        <p:spPr>
          <a:xfrm>
            <a:off x="6286500" y="2324100"/>
            <a:ext cx="2286000" cy="228600"/>
          </a:xfrm>
          <a:prstGeom prst="rect">
            <a:avLst/>
          </a:prstGeom>
          <a:noFill/>
          <a:ln w="0">
            <a:noFill/>
            <a:prstDash val="solid"/>
          </a:ln>
        </p:spPr>
        <p:txBody>
          <a:bodyPr wrap="square" lIns="0" tIns="0" rIns="0" bIns="0" anchor="t">
            <a:normAutofit/>
          </a:bodyPr>
          <a:lstStyle>
            <a:defPPr algn="l">
              <a:defRPr sz="1125" b="1">
                <a:solidFill>
                  <a:srgbClr val="678ED4"/>
                </a:solidFill>
                <a:latin typeface="Arial"/>
                <a:ea typeface="Arial"/>
                <a:cs typeface="Arial"/>
              </a:defRPr>
            </a:defPPr>
          </a:lstStyle>
          <a:p>
            <a:pPr algn="l">
              <a:lnSpc>
                <a:spcPct val="105000"/>
              </a:lnSpc>
              <a:buNone/>
              <a:defRPr sz="1125" b="1">
                <a:solidFill>
                  <a:srgbClr val="678ED4"/>
                </a:solidFill>
                <a:latin typeface="Arial"/>
                <a:ea typeface="Arial"/>
                <a:cs typeface="Arial"/>
              </a:defRPr>
            </a:pPr>
            <a:r>
              <a:rPr sz="1125" b="1">
                <a:solidFill>
                  <a:srgbClr val="678ED4"/>
                </a:solidFill>
                <a:latin typeface="Arial"/>
                <a:ea typeface="Arial"/>
                <a:cs typeface="Arial"/>
              </a:rPr>
              <a:t>RECALL</a:t>
            </a:r>
          </a:p>
        </p:txBody>
      </p:sp>
      <p:sp>
        <p:nvSpPr>
          <p:cNvPr id="11" name="Rectangle 10">
            <a:extLst>
              <a:ext uri="{FF2B5EF4-FFF2-40B4-BE49-F238E27FC236}">
                <a16:creationId xmlns:a16="http://schemas.microsoft.com/office/drawing/2014/main" id="{1F11E7F5-6AC9-40AC-B118-C58AD59A38A8}"/>
              </a:ext>
            </a:extLst>
          </p:cNvPr>
          <p:cNvSpPr>
            <a:spLocks noGrp="1"/>
          </p:cNvSpPr>
          <p:nvPr/>
        </p:nvSpPr>
        <p:spPr>
          <a:xfrm>
            <a:off x="6286500" y="2705100"/>
            <a:ext cx="2286000" cy="80010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How many actual positives the model finds</a:t>
            </a:r>
          </a:p>
        </p:txBody>
      </p:sp>
      <p:sp>
        <p:nvSpPr>
          <p:cNvPr id="12" name="Straight Connector 11">
            <a:extLst>
              <a:ext uri="{FF2B5EF4-FFF2-40B4-BE49-F238E27FC236}">
                <a16:creationId xmlns:a16="http://schemas.microsoft.com/office/drawing/2014/main" id="{41254360-2406-4F36-93C8-046517E84468}"/>
              </a:ext>
            </a:extLst>
          </p:cNvPr>
          <p:cNvSpPr>
            <a:spLocks noGrp="1"/>
          </p:cNvSpPr>
          <p:nvPr/>
        </p:nvSpPr>
        <p:spPr>
          <a:xfrm>
            <a:off x="8763000" y="2305050"/>
            <a:ext cx="0" cy="1343025"/>
          </a:xfrm>
          <a:prstGeom prst="line">
            <a:avLst/>
          </a:prstGeom>
          <a:noFill/>
          <a:ln w="9525">
            <a:solidFill>
              <a:srgbClr val="D4DBD0"/>
            </a:solidFill>
            <a:prstDash val="solid"/>
          </a:ln>
        </p:spPr>
      </p:sp>
      <p:sp>
        <p:nvSpPr>
          <p:cNvPr id="13" name="Rectangle 12">
            <a:extLst>
              <a:ext uri="{FF2B5EF4-FFF2-40B4-BE49-F238E27FC236}">
                <a16:creationId xmlns:a16="http://schemas.microsoft.com/office/drawing/2014/main" id="{510DC58B-3135-49B8-BF62-750026E45617}"/>
              </a:ext>
            </a:extLst>
          </p:cNvPr>
          <p:cNvSpPr>
            <a:spLocks noGrp="1"/>
          </p:cNvSpPr>
          <p:nvPr/>
        </p:nvSpPr>
        <p:spPr>
          <a:xfrm>
            <a:off x="9096375" y="2324100"/>
            <a:ext cx="2286000" cy="228600"/>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F1</a:t>
            </a:r>
          </a:p>
        </p:txBody>
      </p:sp>
      <p:sp>
        <p:nvSpPr>
          <p:cNvPr id="14" name="Rectangle 13">
            <a:extLst>
              <a:ext uri="{FF2B5EF4-FFF2-40B4-BE49-F238E27FC236}">
                <a16:creationId xmlns:a16="http://schemas.microsoft.com/office/drawing/2014/main" id="{1CC0E10D-4E0A-4C07-817A-1FFADF712897}"/>
              </a:ext>
            </a:extLst>
          </p:cNvPr>
          <p:cNvSpPr>
            <a:spLocks noGrp="1"/>
          </p:cNvSpPr>
          <p:nvPr/>
        </p:nvSpPr>
        <p:spPr>
          <a:xfrm>
            <a:off x="9096375" y="2705100"/>
            <a:ext cx="2286000" cy="80010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Balance between precision and recall</a:t>
            </a:r>
          </a:p>
        </p:txBody>
      </p:sp>
      <p:sp>
        <p:nvSpPr>
          <p:cNvPr id="15" name="Straight Connector 14">
            <a:extLst>
              <a:ext uri="{FF2B5EF4-FFF2-40B4-BE49-F238E27FC236}">
                <a16:creationId xmlns:a16="http://schemas.microsoft.com/office/drawing/2014/main" id="{693FB85D-B596-477E-BF32-CE2863EACF0F}"/>
              </a:ext>
            </a:extLst>
          </p:cNvPr>
          <p:cNvSpPr>
            <a:spLocks noGrp="1"/>
          </p:cNvSpPr>
          <p:nvPr/>
        </p:nvSpPr>
        <p:spPr>
          <a:xfrm>
            <a:off x="666750" y="3876675"/>
            <a:ext cx="10858500" cy="0"/>
          </a:xfrm>
          <a:prstGeom prst="line">
            <a:avLst/>
          </a:prstGeom>
          <a:noFill/>
          <a:ln w="14288">
            <a:solidFill>
              <a:srgbClr val="D4DBD0"/>
            </a:solidFill>
            <a:prstDash val="solid"/>
          </a:ln>
        </p:spPr>
      </p:sp>
      <p:sp>
        <p:nvSpPr>
          <p:cNvPr id="16" name="Rectangle 15">
            <a:extLst>
              <a:ext uri="{FF2B5EF4-FFF2-40B4-BE49-F238E27FC236}">
                <a16:creationId xmlns:a16="http://schemas.microsoft.com/office/drawing/2014/main" id="{5EF2F3F5-0097-4C05-A863-2D13C8C768E9}"/>
              </a:ext>
            </a:extLst>
          </p:cNvPr>
          <p:cNvSpPr>
            <a:spLocks noGrp="1"/>
          </p:cNvSpPr>
          <p:nvPr/>
        </p:nvSpPr>
        <p:spPr>
          <a:xfrm>
            <a:off x="685800" y="4171950"/>
            <a:ext cx="2667000" cy="219075"/>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A RUN RECORD</a:t>
            </a:r>
          </a:p>
        </p:txBody>
      </p:sp>
      <p:sp>
        <p:nvSpPr>
          <p:cNvPr id="17" name="Rectangle 16">
            <a:extLst>
              <a:ext uri="{FF2B5EF4-FFF2-40B4-BE49-F238E27FC236}">
                <a16:creationId xmlns:a16="http://schemas.microsoft.com/office/drawing/2014/main" id="{CC1EAD72-2681-4E94-B10A-A21C121E19DB}"/>
              </a:ext>
            </a:extLst>
          </p:cNvPr>
          <p:cNvSpPr>
            <a:spLocks noGrp="1"/>
          </p:cNvSpPr>
          <p:nvPr/>
        </p:nvSpPr>
        <p:spPr>
          <a:xfrm>
            <a:off x="704850" y="4572000"/>
            <a:ext cx="323850" cy="219075"/>
          </a:xfrm>
          <a:prstGeom prst="rect">
            <a:avLst/>
          </a:prstGeom>
          <a:noFill/>
          <a:ln w="0">
            <a:noFill/>
            <a:prstDash val="solid"/>
          </a:ln>
        </p:spPr>
        <p:txBody>
          <a:bodyPr wrap="square" lIns="0" tIns="0" rIns="0" bIns="0" anchor="t">
            <a:normAutofit/>
          </a:bodyPr>
          <a:lstStyle>
            <a:defPPr algn="l">
              <a:defRPr sz="900" b="1">
                <a:solidFill>
                  <a:srgbClr val="148A78"/>
                </a:solidFill>
                <a:latin typeface="Arial"/>
                <a:ea typeface="Arial"/>
                <a:cs typeface="Arial"/>
              </a:defRPr>
            </a:defPPr>
          </a:lstStyle>
          <a:p>
            <a:pPr algn="l">
              <a:lnSpc>
                <a:spcPct val="105000"/>
              </a:lnSpc>
              <a:buNone/>
              <a:defRPr sz="900" b="1">
                <a:solidFill>
                  <a:srgbClr val="148A78"/>
                </a:solidFill>
                <a:latin typeface="Arial"/>
                <a:ea typeface="Arial"/>
                <a:cs typeface="Arial"/>
              </a:defRPr>
            </a:pPr>
            <a:r>
              <a:rPr sz="900" b="1">
                <a:solidFill>
                  <a:srgbClr val="148A78"/>
                </a:solidFill>
                <a:latin typeface="Arial"/>
                <a:ea typeface="Arial"/>
                <a:cs typeface="Arial"/>
              </a:rPr>
              <a:t>01</a:t>
            </a:r>
          </a:p>
        </p:txBody>
      </p:sp>
      <p:sp>
        <p:nvSpPr>
          <p:cNvPr id="18" name="Rectangle 17">
            <a:extLst>
              <a:ext uri="{FF2B5EF4-FFF2-40B4-BE49-F238E27FC236}">
                <a16:creationId xmlns:a16="http://schemas.microsoft.com/office/drawing/2014/main" id="{E80CC650-1DC4-413F-8C91-27E2DA7CF578}"/>
              </a:ext>
            </a:extLst>
          </p:cNvPr>
          <p:cNvSpPr>
            <a:spLocks noGrp="1"/>
          </p:cNvSpPr>
          <p:nvPr/>
        </p:nvSpPr>
        <p:spPr>
          <a:xfrm>
            <a:off x="1133475" y="4552950"/>
            <a:ext cx="4095750" cy="26670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Model and parameters</a:t>
            </a:r>
          </a:p>
        </p:txBody>
      </p:sp>
      <p:sp>
        <p:nvSpPr>
          <p:cNvPr id="19" name="Rectangle 18">
            <a:extLst>
              <a:ext uri="{FF2B5EF4-FFF2-40B4-BE49-F238E27FC236}">
                <a16:creationId xmlns:a16="http://schemas.microsoft.com/office/drawing/2014/main" id="{0FC06D1C-60D1-4E76-9450-C81C06EA42A2}"/>
              </a:ext>
            </a:extLst>
          </p:cNvPr>
          <p:cNvSpPr>
            <a:spLocks noGrp="1"/>
          </p:cNvSpPr>
          <p:nvPr/>
        </p:nvSpPr>
        <p:spPr>
          <a:xfrm>
            <a:off x="704850" y="4886325"/>
            <a:ext cx="323850" cy="219075"/>
          </a:xfrm>
          <a:prstGeom prst="rect">
            <a:avLst/>
          </a:prstGeom>
          <a:noFill/>
          <a:ln w="0">
            <a:noFill/>
            <a:prstDash val="solid"/>
          </a:ln>
        </p:spPr>
        <p:txBody>
          <a:bodyPr wrap="square" lIns="0" tIns="0" rIns="0" bIns="0" anchor="t">
            <a:normAutofit/>
          </a:bodyPr>
          <a:lstStyle>
            <a:defPPr algn="l">
              <a:defRPr sz="900" b="1">
                <a:solidFill>
                  <a:srgbClr val="148A78"/>
                </a:solidFill>
                <a:latin typeface="Arial"/>
                <a:ea typeface="Arial"/>
                <a:cs typeface="Arial"/>
              </a:defRPr>
            </a:defPPr>
          </a:lstStyle>
          <a:p>
            <a:pPr algn="l">
              <a:lnSpc>
                <a:spcPct val="105000"/>
              </a:lnSpc>
              <a:buNone/>
              <a:defRPr sz="900" b="1">
                <a:solidFill>
                  <a:srgbClr val="148A78"/>
                </a:solidFill>
                <a:latin typeface="Arial"/>
                <a:ea typeface="Arial"/>
                <a:cs typeface="Arial"/>
              </a:defRPr>
            </a:pPr>
            <a:r>
              <a:rPr sz="900" b="1">
                <a:solidFill>
                  <a:srgbClr val="148A78"/>
                </a:solidFill>
                <a:latin typeface="Arial"/>
                <a:ea typeface="Arial"/>
                <a:cs typeface="Arial"/>
              </a:rPr>
              <a:t>02</a:t>
            </a:r>
          </a:p>
        </p:txBody>
      </p:sp>
      <p:sp>
        <p:nvSpPr>
          <p:cNvPr id="20" name="Rectangle 19">
            <a:extLst>
              <a:ext uri="{FF2B5EF4-FFF2-40B4-BE49-F238E27FC236}">
                <a16:creationId xmlns:a16="http://schemas.microsoft.com/office/drawing/2014/main" id="{0DDC50BE-B3A7-4CC9-BDE2-D983FEE4FDFE}"/>
              </a:ext>
            </a:extLst>
          </p:cNvPr>
          <p:cNvSpPr>
            <a:spLocks noGrp="1"/>
          </p:cNvSpPr>
          <p:nvPr/>
        </p:nvSpPr>
        <p:spPr>
          <a:xfrm>
            <a:off x="1133475" y="4867275"/>
            <a:ext cx="4095750" cy="26670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Dataset and experiment</a:t>
            </a:r>
          </a:p>
        </p:txBody>
      </p:sp>
      <p:sp>
        <p:nvSpPr>
          <p:cNvPr id="21" name="Rectangle 20">
            <a:extLst>
              <a:ext uri="{FF2B5EF4-FFF2-40B4-BE49-F238E27FC236}">
                <a16:creationId xmlns:a16="http://schemas.microsoft.com/office/drawing/2014/main" id="{40854DAA-A8A7-450F-B201-29A48D3D3D0B}"/>
              </a:ext>
            </a:extLst>
          </p:cNvPr>
          <p:cNvSpPr>
            <a:spLocks noGrp="1"/>
          </p:cNvSpPr>
          <p:nvPr/>
        </p:nvSpPr>
        <p:spPr>
          <a:xfrm>
            <a:off x="704850" y="5200650"/>
            <a:ext cx="323850" cy="219075"/>
          </a:xfrm>
          <a:prstGeom prst="rect">
            <a:avLst/>
          </a:prstGeom>
          <a:noFill/>
          <a:ln w="0">
            <a:noFill/>
            <a:prstDash val="solid"/>
          </a:ln>
        </p:spPr>
        <p:txBody>
          <a:bodyPr wrap="square" lIns="0" tIns="0" rIns="0" bIns="0" anchor="t">
            <a:normAutofit/>
          </a:bodyPr>
          <a:lstStyle>
            <a:defPPr algn="l">
              <a:defRPr sz="900" b="1">
                <a:solidFill>
                  <a:srgbClr val="148A78"/>
                </a:solidFill>
                <a:latin typeface="Arial"/>
                <a:ea typeface="Arial"/>
                <a:cs typeface="Arial"/>
              </a:defRPr>
            </a:defPPr>
          </a:lstStyle>
          <a:p>
            <a:pPr algn="l">
              <a:lnSpc>
                <a:spcPct val="105000"/>
              </a:lnSpc>
              <a:buNone/>
              <a:defRPr sz="900" b="1">
                <a:solidFill>
                  <a:srgbClr val="148A78"/>
                </a:solidFill>
                <a:latin typeface="Arial"/>
                <a:ea typeface="Arial"/>
                <a:cs typeface="Arial"/>
              </a:defRPr>
            </a:pPr>
            <a:r>
              <a:rPr sz="900" b="1">
                <a:solidFill>
                  <a:srgbClr val="148A78"/>
                </a:solidFill>
                <a:latin typeface="Arial"/>
                <a:ea typeface="Arial"/>
                <a:cs typeface="Arial"/>
              </a:rPr>
              <a:t>03</a:t>
            </a:r>
          </a:p>
        </p:txBody>
      </p:sp>
      <p:sp>
        <p:nvSpPr>
          <p:cNvPr id="22" name="Rectangle 21">
            <a:extLst>
              <a:ext uri="{FF2B5EF4-FFF2-40B4-BE49-F238E27FC236}">
                <a16:creationId xmlns:a16="http://schemas.microsoft.com/office/drawing/2014/main" id="{EFDEF8C4-B635-4D3D-ACD6-600A8D1482D0}"/>
              </a:ext>
            </a:extLst>
          </p:cNvPr>
          <p:cNvSpPr>
            <a:spLocks noGrp="1"/>
          </p:cNvSpPr>
          <p:nvPr/>
        </p:nvSpPr>
        <p:spPr>
          <a:xfrm>
            <a:off x="1133475" y="5181600"/>
            <a:ext cx="4095750" cy="26670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Queued / running / completed / failed</a:t>
            </a:r>
          </a:p>
        </p:txBody>
      </p:sp>
      <p:sp>
        <p:nvSpPr>
          <p:cNvPr id="23" name="Rectangle 22">
            <a:extLst>
              <a:ext uri="{FF2B5EF4-FFF2-40B4-BE49-F238E27FC236}">
                <a16:creationId xmlns:a16="http://schemas.microsoft.com/office/drawing/2014/main" id="{5C290E0B-8DED-456C-9DA9-7FBF938247D1}"/>
              </a:ext>
            </a:extLst>
          </p:cNvPr>
          <p:cNvSpPr>
            <a:spLocks noGrp="1"/>
          </p:cNvSpPr>
          <p:nvPr/>
        </p:nvSpPr>
        <p:spPr>
          <a:xfrm>
            <a:off x="704850" y="5514975"/>
            <a:ext cx="323850" cy="219075"/>
          </a:xfrm>
          <a:prstGeom prst="rect">
            <a:avLst/>
          </a:prstGeom>
          <a:noFill/>
          <a:ln w="0">
            <a:noFill/>
            <a:prstDash val="solid"/>
          </a:ln>
        </p:spPr>
        <p:txBody>
          <a:bodyPr wrap="square" lIns="0" tIns="0" rIns="0" bIns="0" anchor="t">
            <a:normAutofit/>
          </a:bodyPr>
          <a:lstStyle>
            <a:defPPr algn="l">
              <a:defRPr sz="900" b="1">
                <a:solidFill>
                  <a:srgbClr val="148A78"/>
                </a:solidFill>
                <a:latin typeface="Arial"/>
                <a:ea typeface="Arial"/>
                <a:cs typeface="Arial"/>
              </a:defRPr>
            </a:defPPr>
          </a:lstStyle>
          <a:p>
            <a:pPr algn="l">
              <a:lnSpc>
                <a:spcPct val="105000"/>
              </a:lnSpc>
              <a:buNone/>
              <a:defRPr sz="900" b="1">
                <a:solidFill>
                  <a:srgbClr val="148A78"/>
                </a:solidFill>
                <a:latin typeface="Arial"/>
                <a:ea typeface="Arial"/>
                <a:cs typeface="Arial"/>
              </a:defRPr>
            </a:pPr>
            <a:r>
              <a:rPr sz="900" b="1">
                <a:solidFill>
                  <a:srgbClr val="148A78"/>
                </a:solidFill>
                <a:latin typeface="Arial"/>
                <a:ea typeface="Arial"/>
                <a:cs typeface="Arial"/>
              </a:rPr>
              <a:t>04</a:t>
            </a:r>
          </a:p>
        </p:txBody>
      </p:sp>
      <p:sp>
        <p:nvSpPr>
          <p:cNvPr id="24" name="Rectangle 23">
            <a:extLst>
              <a:ext uri="{FF2B5EF4-FFF2-40B4-BE49-F238E27FC236}">
                <a16:creationId xmlns:a16="http://schemas.microsoft.com/office/drawing/2014/main" id="{76D74150-1B98-4FDF-B972-17456E42EC50}"/>
              </a:ext>
            </a:extLst>
          </p:cNvPr>
          <p:cNvSpPr>
            <a:spLocks noGrp="1"/>
          </p:cNvSpPr>
          <p:nvPr/>
        </p:nvSpPr>
        <p:spPr>
          <a:xfrm>
            <a:off x="1133475" y="5495925"/>
            <a:ext cx="4095750" cy="26670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Timestamped logs and progress</a:t>
            </a:r>
          </a:p>
        </p:txBody>
      </p:sp>
      <p:sp>
        <p:nvSpPr>
          <p:cNvPr id="25" name="Rectangle 24">
            <a:extLst>
              <a:ext uri="{FF2B5EF4-FFF2-40B4-BE49-F238E27FC236}">
                <a16:creationId xmlns:a16="http://schemas.microsoft.com/office/drawing/2014/main" id="{B0F38ABF-E271-470F-9006-EC2773E5663E}"/>
              </a:ext>
            </a:extLst>
          </p:cNvPr>
          <p:cNvSpPr>
            <a:spLocks noGrp="1"/>
          </p:cNvSpPr>
          <p:nvPr/>
        </p:nvSpPr>
        <p:spPr>
          <a:xfrm>
            <a:off x="704850" y="5829300"/>
            <a:ext cx="323850" cy="219075"/>
          </a:xfrm>
          <a:prstGeom prst="rect">
            <a:avLst/>
          </a:prstGeom>
          <a:noFill/>
          <a:ln w="0">
            <a:noFill/>
            <a:prstDash val="solid"/>
          </a:ln>
        </p:spPr>
        <p:txBody>
          <a:bodyPr wrap="square" lIns="0" tIns="0" rIns="0" bIns="0" anchor="t">
            <a:normAutofit/>
          </a:bodyPr>
          <a:lstStyle>
            <a:defPPr algn="l">
              <a:defRPr sz="900" b="1">
                <a:solidFill>
                  <a:srgbClr val="148A78"/>
                </a:solidFill>
                <a:latin typeface="Arial"/>
                <a:ea typeface="Arial"/>
                <a:cs typeface="Arial"/>
              </a:defRPr>
            </a:defPPr>
          </a:lstStyle>
          <a:p>
            <a:pPr algn="l">
              <a:lnSpc>
                <a:spcPct val="105000"/>
              </a:lnSpc>
              <a:buNone/>
              <a:defRPr sz="900" b="1">
                <a:solidFill>
                  <a:srgbClr val="148A78"/>
                </a:solidFill>
                <a:latin typeface="Arial"/>
                <a:ea typeface="Arial"/>
                <a:cs typeface="Arial"/>
              </a:defRPr>
            </a:pPr>
            <a:r>
              <a:rPr sz="900" b="1">
                <a:solidFill>
                  <a:srgbClr val="148A78"/>
                </a:solidFill>
                <a:latin typeface="Arial"/>
                <a:ea typeface="Arial"/>
                <a:cs typeface="Arial"/>
              </a:rPr>
              <a:t>05</a:t>
            </a:r>
          </a:p>
        </p:txBody>
      </p:sp>
      <p:sp>
        <p:nvSpPr>
          <p:cNvPr id="26" name="Rectangle 25">
            <a:extLst>
              <a:ext uri="{FF2B5EF4-FFF2-40B4-BE49-F238E27FC236}">
                <a16:creationId xmlns:a16="http://schemas.microsoft.com/office/drawing/2014/main" id="{01BAB96C-2ED8-47B6-A297-803A0076ADFF}"/>
              </a:ext>
            </a:extLst>
          </p:cNvPr>
          <p:cNvSpPr>
            <a:spLocks noGrp="1"/>
          </p:cNvSpPr>
          <p:nvPr/>
        </p:nvSpPr>
        <p:spPr>
          <a:xfrm>
            <a:off x="1133475" y="5810250"/>
            <a:ext cx="4095750" cy="26670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Held-out metrics and compute time</a:t>
            </a:r>
          </a:p>
        </p:txBody>
      </p:sp>
      <p:sp>
        <p:nvSpPr>
          <p:cNvPr id="27" name="Rectangle 26">
            <a:extLst>
              <a:ext uri="{FF2B5EF4-FFF2-40B4-BE49-F238E27FC236}">
                <a16:creationId xmlns:a16="http://schemas.microsoft.com/office/drawing/2014/main" id="{4DF7F717-AB5A-4EAD-ABDB-7342DF90A9A5}"/>
              </a:ext>
            </a:extLst>
          </p:cNvPr>
          <p:cNvSpPr>
            <a:spLocks noGrp="1"/>
          </p:cNvSpPr>
          <p:nvPr/>
        </p:nvSpPr>
        <p:spPr>
          <a:xfrm>
            <a:off x="6343650" y="4171950"/>
            <a:ext cx="2190750" cy="219075"/>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RUN HISTORY</a:t>
            </a:r>
          </a:p>
        </p:txBody>
      </p:sp>
      <p:sp>
        <p:nvSpPr>
          <p:cNvPr id="28" name="Rectangle 27">
            <a:extLst>
              <a:ext uri="{FF2B5EF4-FFF2-40B4-BE49-F238E27FC236}">
                <a16:creationId xmlns:a16="http://schemas.microsoft.com/office/drawing/2014/main" id="{85D32186-5808-4935-8FD6-C8577F00BBA2}"/>
              </a:ext>
            </a:extLst>
          </p:cNvPr>
          <p:cNvSpPr>
            <a:spLocks noGrp="1"/>
          </p:cNvSpPr>
          <p:nvPr/>
        </p:nvSpPr>
        <p:spPr>
          <a:xfrm>
            <a:off x="6343650" y="4572000"/>
            <a:ext cx="5000625" cy="89535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Saved experiments make the choice of model and settings reviewable. Decision-tree metrics use macro averaging.</a:t>
            </a:r>
          </a:p>
        </p:txBody>
      </p:sp>
      <p:sp>
        <p:nvSpPr>
          <p:cNvPr id="29" name="Rectangle 28">
            <a:extLst>
              <a:ext uri="{FF2B5EF4-FFF2-40B4-BE49-F238E27FC236}">
                <a16:creationId xmlns:a16="http://schemas.microsoft.com/office/drawing/2014/main" id="{B3E7F8C4-8B05-49F0-B7F8-DA77E941B24A}"/>
              </a:ext>
            </a:extLst>
          </p:cNvPr>
          <p:cNvSpPr>
            <a:spLocks noGrp="1"/>
          </p:cNvSpPr>
          <p:nvPr/>
        </p:nvSpPr>
        <p:spPr>
          <a:xfrm>
            <a:off x="6343650" y="5619750"/>
            <a:ext cx="5048250" cy="400050"/>
          </a:xfrm>
          <a:prstGeom prst="rect">
            <a:avLst/>
          </a:prstGeom>
          <a:noFill/>
          <a:ln w="0">
            <a:noFill/>
            <a:prstDash val="solid"/>
          </a:ln>
        </p:spPr>
        <p:txBody>
          <a:bodyPr wrap="square" lIns="0" tIns="0" rIns="0" bIns="0" anchor="t">
            <a:normAutofit fontScale="98039"/>
          </a:bodyPr>
          <a:lstStyle>
            <a:defPPr algn="l">
              <a:defRPr sz="1275" b="0">
                <a:solidFill>
                  <a:srgbClr val="62736B"/>
                </a:solidFill>
                <a:latin typeface="Arial"/>
                <a:ea typeface="Arial"/>
                <a:cs typeface="Arial"/>
              </a:defRPr>
            </a:defPPr>
          </a:lstStyle>
          <a:p>
            <a:pPr algn="l">
              <a:lnSpc>
                <a:spcPct val="105000"/>
              </a:lnSpc>
              <a:buNone/>
              <a:defRPr sz="1275" b="0">
                <a:solidFill>
                  <a:srgbClr val="62736B"/>
                </a:solidFill>
                <a:latin typeface="Arial"/>
                <a:ea typeface="Arial"/>
                <a:cs typeface="Arial"/>
              </a:defRPr>
            </a:pPr>
            <a:r>
              <a:rPr sz="1275" b="0">
                <a:solidFill>
                  <a:srgbClr val="62736B"/>
                </a:solidFill>
                <a:latin typeface="Arial"/>
                <a:ea typeface="Arial"/>
                <a:cs typeface="Arial"/>
              </a:rPr>
              <a:t>No example score is claimed here. Results appear after an actual training run.</a:t>
            </a:r>
          </a:p>
        </p:txBody>
      </p:sp>
    </p:spTree>
    <p:extLst>
      <p:ext uri="{BB962C8B-B14F-4D97-AF65-F5344CB8AC3E}">
        <p14:creationId xmlns:p14="http://schemas.microsoft.com/office/powerpoint/2010/main" val="1117829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FB87499-9008-4110-A123-BD55AE22913A}"/>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08 / COLLABORATION</a:t>
            </a:r>
          </a:p>
        </p:txBody>
      </p:sp>
      <p:sp>
        <p:nvSpPr>
          <p:cNvPr id="2" name="Rectangle 1">
            <a:extLst>
              <a:ext uri="{FF2B5EF4-FFF2-40B4-BE49-F238E27FC236}">
                <a16:creationId xmlns:a16="http://schemas.microsoft.com/office/drawing/2014/main" id="{600E24EB-A38C-429D-88E9-FBA23F6CBA91}"/>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Projects define who can see shared research</a:t>
            </a:r>
          </a:p>
        </p:txBody>
      </p:sp>
      <p:sp>
        <p:nvSpPr>
          <p:cNvPr id="3" name="Rectangle 2">
            <a:extLst>
              <a:ext uri="{FF2B5EF4-FFF2-40B4-BE49-F238E27FC236}">
                <a16:creationId xmlns:a16="http://schemas.microsoft.com/office/drawing/2014/main" id="{FF63F17B-90DB-4AA1-BA0F-E3B0132298F0}"/>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Researchers add existing accounts to a project and manage membership.</a:t>
            </a:r>
          </a:p>
        </p:txBody>
      </p:sp>
      <p:sp>
        <p:nvSpPr>
          <p:cNvPr id="4" name="Rectangle 3">
            <a:extLst>
              <a:ext uri="{FF2B5EF4-FFF2-40B4-BE49-F238E27FC236}">
                <a16:creationId xmlns:a16="http://schemas.microsoft.com/office/drawing/2014/main" id="{B14F9896-792A-4BEF-8191-F9EE66152A70}"/>
              </a:ext>
            </a:extLst>
          </p:cNvPr>
          <p:cNvSpPr>
            <a:spLocks noGrp="1"/>
          </p:cNvSpPr>
          <p:nvPr/>
        </p:nvSpPr>
        <p:spPr>
          <a:xfrm>
            <a:off x="704850" y="2324100"/>
            <a:ext cx="24765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PROJECT OWNER</a:t>
            </a:r>
          </a:p>
        </p:txBody>
      </p:sp>
      <p:sp>
        <p:nvSpPr>
          <p:cNvPr id="5" name="Rectangle 4">
            <a:extLst>
              <a:ext uri="{FF2B5EF4-FFF2-40B4-BE49-F238E27FC236}">
                <a16:creationId xmlns:a16="http://schemas.microsoft.com/office/drawing/2014/main" id="{C1A53CB3-6B46-472F-81CA-D6889D8A8DBA}"/>
              </a:ext>
            </a:extLst>
          </p:cNvPr>
          <p:cNvSpPr>
            <a:spLocks noGrp="1"/>
          </p:cNvSpPr>
          <p:nvPr/>
        </p:nvSpPr>
        <p:spPr>
          <a:xfrm>
            <a:off x="704850" y="2733675"/>
            <a:ext cx="3143250" cy="952500"/>
          </a:xfrm>
          <a:prstGeom prst="rect">
            <a:avLst/>
          </a:prstGeom>
          <a:noFill/>
          <a:ln w="0">
            <a:noFill/>
            <a:prstDash val="solid"/>
          </a:ln>
        </p:spPr>
        <p:txBody>
          <a:bodyPr wrap="square" lIns="0" tIns="0" rIns="0" bIns="0" anchor="t">
            <a:normAutofit/>
          </a:bodyPr>
          <a:lstStyle>
            <a:defPPr algn="l">
              <a:defRPr sz="2175" b="1">
                <a:solidFill>
                  <a:srgbClr val="14241F"/>
                </a:solidFill>
                <a:latin typeface="Arial"/>
                <a:ea typeface="Arial"/>
                <a:cs typeface="Arial"/>
              </a:defRPr>
            </a:defPPr>
          </a:lstStyle>
          <a:p>
            <a:pPr algn="l">
              <a:lnSpc>
                <a:spcPct val="105000"/>
              </a:lnSpc>
              <a:buNone/>
              <a:defRPr sz="2175" b="1">
                <a:solidFill>
                  <a:srgbClr val="14241F"/>
                </a:solidFill>
                <a:latin typeface="Arial"/>
                <a:ea typeface="Arial"/>
                <a:cs typeface="Arial"/>
              </a:defRPr>
            </a:pPr>
            <a:r>
              <a:rPr sz="2175" b="1">
                <a:solidFill>
                  <a:srgbClr val="14241F"/>
                </a:solidFill>
                <a:latin typeface="Arial"/>
                <a:ea typeface="Arial"/>
                <a:cs typeface="Arial"/>
              </a:rPr>
              <a:t>Research question</a:t>
            </a:r>
          </a:p>
          <a:p>
            <a:pPr algn="l">
              <a:lnSpc>
                <a:spcPct val="105000"/>
              </a:lnSpc>
              <a:buNone/>
              <a:defRPr sz="2175" b="1">
                <a:solidFill>
                  <a:srgbClr val="14241F"/>
                </a:solidFill>
                <a:latin typeface="Arial"/>
                <a:ea typeface="Arial"/>
                <a:cs typeface="Arial"/>
              </a:defRPr>
            </a:pPr>
            <a:r>
              <a:rPr sz="2175" b="1">
                <a:solidFill>
                  <a:srgbClr val="14241F"/>
                </a:solidFill>
                <a:latin typeface="Arial"/>
                <a:ea typeface="Arial"/>
                <a:cs typeface="Arial"/>
              </a:rPr>
              <a:t>+ project context</a:t>
            </a:r>
          </a:p>
        </p:txBody>
      </p:sp>
      <p:cxnSp>
        <p:nvCxnSpPr>
          <p:cNvPr id="6" name="Connector: Elbow 5">
            <a:extLst>
              <a:ext uri="{FF2B5EF4-FFF2-40B4-BE49-F238E27FC236}">
                <a16:creationId xmlns:a16="http://schemas.microsoft.com/office/drawing/2014/main" id="{78E6436A-7BB2-4E04-9F0D-5EE5397B018A}"/>
              </a:ext>
            </a:extLst>
          </p:cNvPr>
          <p:cNvCxnSpPr/>
          <p:nvPr/>
        </p:nvCxnSpPr>
        <p:spPr>
          <a:xfrm>
            <a:off x="4029075" y="3219450"/>
            <a:ext cx="1190625" cy="0"/>
          </a:xfrm>
          <a:prstGeom prst="bentConnector4">
            <a:avLst/>
          </a:prstGeom>
          <a:ln w="19050">
            <a:solidFill>
              <a:srgbClr val="148A78"/>
            </a:solidFill>
            <a:prstDash val="solid"/>
            <a:tailEnd type="arrow" w="med" len="med"/>
          </a:ln>
        </p:spPr>
      </p:cxnSp>
      <p:sp>
        <p:nvSpPr>
          <p:cNvPr id="7" name="Rectangle 6">
            <a:extLst>
              <a:ext uri="{FF2B5EF4-FFF2-40B4-BE49-F238E27FC236}">
                <a16:creationId xmlns:a16="http://schemas.microsoft.com/office/drawing/2014/main" id="{1E01E185-C339-43A2-BBDD-11522D6A7F03}"/>
              </a:ext>
            </a:extLst>
          </p:cNvPr>
          <p:cNvSpPr>
            <a:spLocks noGrp="1"/>
          </p:cNvSpPr>
          <p:nvPr/>
        </p:nvSpPr>
        <p:spPr>
          <a:xfrm>
            <a:off x="5429250" y="2714625"/>
            <a:ext cx="2524125" cy="704850"/>
          </a:xfrm>
          <a:prstGeom prst="rect">
            <a:avLst/>
          </a:prstGeom>
          <a:noFill/>
          <a:ln w="0">
            <a:noFill/>
            <a:prstDash val="solid"/>
          </a:ln>
        </p:spPr>
        <p:txBody>
          <a:bodyPr wrap="square" lIns="0" tIns="0" rIns="0" bIns="0" anchor="t">
            <a:normAutofit/>
          </a:bodyPr>
          <a:lstStyle>
            <a:defPPr algn="ctr">
              <a:defRPr sz="1725" b="1">
                <a:solidFill>
                  <a:srgbClr val="14241F"/>
                </a:solidFill>
                <a:latin typeface="Arial"/>
                <a:ea typeface="Arial"/>
                <a:cs typeface="Arial"/>
              </a:defRPr>
            </a:defPPr>
          </a:lstStyle>
          <a:p>
            <a:pPr algn="ctr">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AUTHORIZED</a:t>
            </a:r>
          </a:p>
          <a:p>
            <a:pPr algn="ctr">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PROJECT MEMBERS</a:t>
            </a:r>
          </a:p>
        </p:txBody>
      </p:sp>
      <p:cxnSp>
        <p:nvCxnSpPr>
          <p:cNvPr id="8" name="Connector: Elbow 7">
            <a:extLst>
              <a:ext uri="{FF2B5EF4-FFF2-40B4-BE49-F238E27FC236}">
                <a16:creationId xmlns:a16="http://schemas.microsoft.com/office/drawing/2014/main" id="{73B28059-E22D-44C2-BD94-1D02D6248C05}"/>
              </a:ext>
            </a:extLst>
          </p:cNvPr>
          <p:cNvCxnSpPr/>
          <p:nvPr/>
        </p:nvCxnSpPr>
        <p:spPr>
          <a:xfrm>
            <a:off x="8086725" y="3219450"/>
            <a:ext cx="1152525" cy="0"/>
          </a:xfrm>
          <a:prstGeom prst="bentConnector4">
            <a:avLst/>
          </a:prstGeom>
          <a:ln w="19050">
            <a:solidFill>
              <a:srgbClr val="148A78"/>
            </a:solidFill>
            <a:prstDash val="solid"/>
            <a:tailEnd type="arrow" w="med" len="med"/>
          </a:ln>
        </p:spPr>
      </p:cxnSp>
      <p:sp>
        <p:nvSpPr>
          <p:cNvPr id="9" name="Rectangle 8">
            <a:extLst>
              <a:ext uri="{FF2B5EF4-FFF2-40B4-BE49-F238E27FC236}">
                <a16:creationId xmlns:a16="http://schemas.microsoft.com/office/drawing/2014/main" id="{2833175F-D2E1-4D15-A076-94B3A7FDBA53}"/>
              </a:ext>
            </a:extLst>
          </p:cNvPr>
          <p:cNvSpPr>
            <a:spLocks noGrp="1"/>
          </p:cNvSpPr>
          <p:nvPr/>
        </p:nvSpPr>
        <p:spPr>
          <a:xfrm>
            <a:off x="9429750" y="2324100"/>
            <a:ext cx="2286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SHARED RECORDS</a:t>
            </a:r>
          </a:p>
        </p:txBody>
      </p:sp>
      <p:sp>
        <p:nvSpPr>
          <p:cNvPr id="10" name="Rectangle 9">
            <a:extLst>
              <a:ext uri="{FF2B5EF4-FFF2-40B4-BE49-F238E27FC236}">
                <a16:creationId xmlns:a16="http://schemas.microsoft.com/office/drawing/2014/main" id="{9041641A-0B44-4D5A-9CEE-FECBAC868CC6}"/>
              </a:ext>
            </a:extLst>
          </p:cNvPr>
          <p:cNvSpPr>
            <a:spLocks noGrp="1"/>
          </p:cNvSpPr>
          <p:nvPr/>
        </p:nvSpPr>
        <p:spPr>
          <a:xfrm>
            <a:off x="9429750" y="2733675"/>
            <a:ext cx="2381250" cy="1143000"/>
          </a:xfrm>
          <a:prstGeom prst="rect">
            <a:avLst/>
          </a:prstGeom>
          <a:noFill/>
          <a:ln w="0">
            <a:noFill/>
            <a:prstDash val="solid"/>
          </a:ln>
        </p:spPr>
        <p:txBody>
          <a:bodyPr wrap="square" lIns="0" tIns="0" rIns="0" bIns="0" anchor="t">
            <a:normAutofit/>
          </a:bodyPr>
          <a:lstStyle>
            <a:defPPr algn="l">
              <a:defRPr sz="1875" b="1">
                <a:solidFill>
                  <a:srgbClr val="14241F"/>
                </a:solidFill>
                <a:latin typeface="Arial"/>
                <a:ea typeface="Arial"/>
                <a:cs typeface="Arial"/>
              </a:defRPr>
            </a:defPPr>
          </a:lstStyle>
          <a:p>
            <a:pPr algn="l">
              <a:lnSpc>
                <a:spcPct val="112000"/>
              </a:lnSpc>
              <a:buNone/>
              <a:defRPr sz="1875" b="1">
                <a:solidFill>
                  <a:srgbClr val="14241F"/>
                </a:solidFill>
                <a:latin typeface="Arial"/>
                <a:ea typeface="Arial"/>
                <a:cs typeface="Arial"/>
              </a:defRPr>
            </a:pPr>
            <a:r>
              <a:rPr sz="1875" b="1">
                <a:solidFill>
                  <a:srgbClr val="14241F"/>
                </a:solidFill>
                <a:latin typeface="Arial"/>
                <a:ea typeface="Arial"/>
                <a:cs typeface="Arial"/>
              </a:rPr>
              <a:t>Datasets</a:t>
            </a:r>
          </a:p>
          <a:p>
            <a:pPr algn="l">
              <a:lnSpc>
                <a:spcPct val="112000"/>
              </a:lnSpc>
              <a:buNone/>
              <a:defRPr sz="1875" b="1">
                <a:solidFill>
                  <a:srgbClr val="14241F"/>
                </a:solidFill>
                <a:latin typeface="Arial"/>
                <a:ea typeface="Arial"/>
                <a:cs typeface="Arial"/>
              </a:defRPr>
            </a:pPr>
            <a:r>
              <a:rPr sz="1875" b="1">
                <a:solidFill>
                  <a:srgbClr val="14241F"/>
                </a:solidFill>
                <a:latin typeface="Arial"/>
                <a:ea typeface="Arial"/>
                <a:cs typeface="Arial"/>
              </a:rPr>
              <a:t>Experiments</a:t>
            </a:r>
          </a:p>
          <a:p>
            <a:pPr algn="l">
              <a:lnSpc>
                <a:spcPct val="112000"/>
              </a:lnSpc>
              <a:buNone/>
              <a:defRPr sz="1875" b="1">
                <a:solidFill>
                  <a:srgbClr val="14241F"/>
                </a:solidFill>
                <a:latin typeface="Arial"/>
                <a:ea typeface="Arial"/>
                <a:cs typeface="Arial"/>
              </a:defRPr>
            </a:pPr>
            <a:r>
              <a:rPr sz="1875" b="1">
                <a:solidFill>
                  <a:srgbClr val="14241F"/>
                </a:solidFill>
                <a:latin typeface="Arial"/>
                <a:ea typeface="Arial"/>
                <a:cs typeface="Arial"/>
              </a:rPr>
              <a:t>Run evidence</a:t>
            </a:r>
          </a:p>
        </p:txBody>
      </p:sp>
      <p:sp>
        <p:nvSpPr>
          <p:cNvPr id="11" name="Straight Connector 10">
            <a:extLst>
              <a:ext uri="{FF2B5EF4-FFF2-40B4-BE49-F238E27FC236}">
                <a16:creationId xmlns:a16="http://schemas.microsoft.com/office/drawing/2014/main" id="{C20DF755-AE45-4572-B60B-94FF732217AB}"/>
              </a:ext>
            </a:extLst>
          </p:cNvPr>
          <p:cNvSpPr>
            <a:spLocks noGrp="1"/>
          </p:cNvSpPr>
          <p:nvPr/>
        </p:nvSpPr>
        <p:spPr>
          <a:xfrm>
            <a:off x="704850" y="4305300"/>
            <a:ext cx="10782300" cy="0"/>
          </a:xfrm>
          <a:prstGeom prst="line">
            <a:avLst/>
          </a:prstGeom>
          <a:noFill/>
          <a:ln w="9525">
            <a:solidFill>
              <a:srgbClr val="D4DBD0"/>
            </a:solidFill>
            <a:prstDash val="solid"/>
          </a:ln>
        </p:spPr>
      </p:sp>
      <p:sp>
        <p:nvSpPr>
          <p:cNvPr id="12" name="Rectangle 11">
            <a:extLst>
              <a:ext uri="{FF2B5EF4-FFF2-40B4-BE49-F238E27FC236}">
                <a16:creationId xmlns:a16="http://schemas.microsoft.com/office/drawing/2014/main" id="{D3FD73C5-2D5C-42B2-8837-E07FE5EC1922}"/>
              </a:ext>
            </a:extLst>
          </p:cNvPr>
          <p:cNvSpPr>
            <a:spLocks noGrp="1"/>
          </p:cNvSpPr>
          <p:nvPr/>
        </p:nvSpPr>
        <p:spPr>
          <a:xfrm>
            <a:off x="704850" y="4657725"/>
            <a:ext cx="2000250" cy="209550"/>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PROFILE</a:t>
            </a:r>
          </a:p>
        </p:txBody>
      </p:sp>
      <p:sp>
        <p:nvSpPr>
          <p:cNvPr id="13" name="Rectangle 12">
            <a:extLst>
              <a:ext uri="{FF2B5EF4-FFF2-40B4-BE49-F238E27FC236}">
                <a16:creationId xmlns:a16="http://schemas.microsoft.com/office/drawing/2014/main" id="{7E5FA738-AE48-4A9E-8636-17E2BA957307}"/>
              </a:ext>
            </a:extLst>
          </p:cNvPr>
          <p:cNvSpPr>
            <a:spLocks noGrp="1"/>
          </p:cNvSpPr>
          <p:nvPr/>
        </p:nvSpPr>
        <p:spPr>
          <a:xfrm>
            <a:off x="704850" y="5019675"/>
            <a:ext cx="9525000" cy="361950"/>
          </a:xfrm>
          <a:prstGeom prst="rect">
            <a:avLst/>
          </a:prstGeom>
          <a:noFill/>
          <a:ln w="0">
            <a:noFill/>
            <a:prstDash val="solid"/>
          </a:ln>
        </p:spPr>
        <p:txBody>
          <a:bodyPr wrap="square" lIns="0" tIns="0" rIns="0" bIns="0" anchor="t">
            <a:normAutofit/>
          </a:bodyPr>
          <a:lstStyle>
            <a:defPPr algn="l">
              <a:defRPr sz="1725" b="0">
                <a:solidFill>
                  <a:srgbClr val="14241F"/>
                </a:solidFill>
                <a:latin typeface="Arial"/>
                <a:ea typeface="Arial"/>
                <a:cs typeface="Arial"/>
              </a:defRPr>
            </a:defPPr>
          </a:lstStyle>
          <a:p>
            <a:pPr algn="l">
              <a:lnSpc>
                <a:spcPct val="105000"/>
              </a:lnSpc>
              <a:buNone/>
              <a:defRPr sz="1725" b="0">
                <a:solidFill>
                  <a:srgbClr val="14241F"/>
                </a:solidFill>
                <a:latin typeface="Arial"/>
                <a:ea typeface="Arial"/>
                <a:cs typeface="Arial"/>
              </a:defRPr>
            </a:pPr>
            <a:r>
              <a:rPr sz="1725" b="0">
                <a:solidFill>
                  <a:srgbClr val="14241F"/>
                </a:solidFill>
                <a:latin typeface="Arial"/>
                <a:ea typeface="Arial"/>
                <a:cs typeface="Arial"/>
              </a:rPr>
              <a:t>Researchers update their name, email and profile photo in Settings.</a:t>
            </a:r>
          </a:p>
        </p:txBody>
      </p:sp>
      <p:sp>
        <p:nvSpPr>
          <p:cNvPr id="14" name="Rectangle 13">
            <a:extLst>
              <a:ext uri="{FF2B5EF4-FFF2-40B4-BE49-F238E27FC236}">
                <a16:creationId xmlns:a16="http://schemas.microsoft.com/office/drawing/2014/main" id="{0EA096DF-E2DC-4B24-9518-DD18FFD8C96A}"/>
              </a:ext>
            </a:extLst>
          </p:cNvPr>
          <p:cNvSpPr>
            <a:spLocks noGrp="1"/>
          </p:cNvSpPr>
          <p:nvPr/>
        </p:nvSpPr>
        <p:spPr>
          <a:xfrm>
            <a:off x="704850" y="5619750"/>
            <a:ext cx="9906000" cy="323850"/>
          </a:xfrm>
          <a:prstGeom prst="rect">
            <a:avLst/>
          </a:prstGeom>
          <a:noFill/>
          <a:ln w="0">
            <a:noFill/>
            <a:prstDash val="solid"/>
          </a:ln>
        </p:spPr>
        <p:txBody>
          <a:bodyPr wrap="square" lIns="0" tIns="0" rIns="0" bIns="0" anchor="t">
            <a:normAutofit/>
          </a:bodyPr>
          <a:lstStyle>
            <a:defPPr algn="l">
              <a:defRPr sz="1350" b="1">
                <a:solidFill>
                  <a:srgbClr val="62736B"/>
                </a:solidFill>
                <a:latin typeface="Arial"/>
                <a:ea typeface="Arial"/>
                <a:cs typeface="Arial"/>
              </a:defRPr>
            </a:defPPr>
          </a:lstStyle>
          <a:p>
            <a:pPr algn="l">
              <a:lnSpc>
                <a:spcPct val="105000"/>
              </a:lnSpc>
              <a:buNone/>
              <a:defRPr sz="1350" b="1">
                <a:solidFill>
                  <a:srgbClr val="62736B"/>
                </a:solidFill>
                <a:latin typeface="Arial"/>
                <a:ea typeface="Arial"/>
                <a:cs typeface="Arial"/>
              </a:defRPr>
            </a:pPr>
            <a:r>
              <a:rPr sz="1350" b="1">
                <a:solidFill>
                  <a:srgbClr val="62736B"/>
                </a:solidFill>
                <a:latin typeface="Arial"/>
                <a:ea typeface="Arial"/>
                <a:cs typeface="Arial"/>
              </a:rPr>
              <a:t>Project membership is checked by the server on protected routes.</a:t>
            </a:r>
          </a:p>
        </p:txBody>
      </p:sp>
    </p:spTree>
    <p:extLst>
      <p:ext uri="{BB962C8B-B14F-4D97-AF65-F5344CB8AC3E}">
        <p14:creationId xmlns:p14="http://schemas.microsoft.com/office/powerpoint/2010/main" val="2019872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874B240-12F4-4815-AC44-FC543812A9B2}"/>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09 / ADMINISTRATION</a:t>
            </a:r>
          </a:p>
        </p:txBody>
      </p:sp>
      <p:sp>
        <p:nvSpPr>
          <p:cNvPr id="2" name="Rectangle 1">
            <a:extLst>
              <a:ext uri="{FF2B5EF4-FFF2-40B4-BE49-F238E27FC236}">
                <a16:creationId xmlns:a16="http://schemas.microsoft.com/office/drawing/2014/main" id="{DE16E52D-E208-41E1-B304-24087F877652}"/>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The admin area controls platform operations</a:t>
            </a:r>
          </a:p>
        </p:txBody>
      </p:sp>
      <p:sp>
        <p:nvSpPr>
          <p:cNvPr id="3" name="Rectangle 2">
            <a:extLst>
              <a:ext uri="{FF2B5EF4-FFF2-40B4-BE49-F238E27FC236}">
                <a16:creationId xmlns:a16="http://schemas.microsoft.com/office/drawing/2014/main" id="{4E98291B-0BAD-4679-B93D-E5CE74FA1A01}"/>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A separate workspace keeps account and resource administration distinct from research.</a:t>
            </a:r>
          </a:p>
        </p:txBody>
      </p:sp>
      <p:sp>
        <p:nvSpPr>
          <p:cNvPr id="4" name="Rectangle 3">
            <a:extLst>
              <a:ext uri="{FF2B5EF4-FFF2-40B4-BE49-F238E27FC236}">
                <a16:creationId xmlns:a16="http://schemas.microsoft.com/office/drawing/2014/main" id="{B7533C6E-BAC9-4DA2-96AB-4C969D72CBAF}"/>
              </a:ext>
            </a:extLst>
          </p:cNvPr>
          <p:cNvSpPr>
            <a:spLocks noGrp="1"/>
          </p:cNvSpPr>
          <p:nvPr/>
        </p:nvSpPr>
        <p:spPr>
          <a:xfrm>
            <a:off x="666750" y="2571750"/>
            <a:ext cx="2381250" cy="219075"/>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ACCESS</a:t>
            </a:r>
          </a:p>
        </p:txBody>
      </p:sp>
      <p:sp>
        <p:nvSpPr>
          <p:cNvPr id="5" name="Rectangle 4">
            <a:extLst>
              <a:ext uri="{FF2B5EF4-FFF2-40B4-BE49-F238E27FC236}">
                <a16:creationId xmlns:a16="http://schemas.microsoft.com/office/drawing/2014/main" id="{46E1BA6E-C652-4973-9EEB-CDEA478616C7}"/>
              </a:ext>
            </a:extLst>
          </p:cNvPr>
          <p:cNvSpPr>
            <a:spLocks noGrp="1"/>
          </p:cNvSpPr>
          <p:nvPr/>
        </p:nvSpPr>
        <p:spPr>
          <a:xfrm>
            <a:off x="666750" y="2981325"/>
            <a:ext cx="2381250" cy="419100"/>
          </a:xfrm>
          <a:prstGeom prst="rect">
            <a:avLst/>
          </a:prstGeom>
          <a:noFill/>
          <a:ln w="0">
            <a:noFill/>
            <a:prstDash val="solid"/>
          </a:ln>
        </p:spPr>
        <p:txBody>
          <a:bodyPr wrap="square" lIns="0" tIns="0" rIns="0" bIns="0" anchor="t">
            <a:normAutofit/>
          </a:bodyPr>
          <a:lstStyle>
            <a:defPPr algn="l">
              <a:defRPr sz="1875" b="1">
                <a:solidFill>
                  <a:srgbClr val="14241F"/>
                </a:solidFill>
                <a:latin typeface="Arial"/>
                <a:ea typeface="Arial"/>
                <a:cs typeface="Arial"/>
              </a:defRPr>
            </a:defPPr>
          </a:lstStyle>
          <a:p>
            <a:pPr algn="l">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Accounts</a:t>
            </a:r>
          </a:p>
        </p:txBody>
      </p:sp>
      <p:sp>
        <p:nvSpPr>
          <p:cNvPr id="6" name="Rectangle 5">
            <a:extLst>
              <a:ext uri="{FF2B5EF4-FFF2-40B4-BE49-F238E27FC236}">
                <a16:creationId xmlns:a16="http://schemas.microsoft.com/office/drawing/2014/main" id="{E574861C-4571-4388-97C1-DD4D4F1EE9E1}"/>
              </a:ext>
            </a:extLst>
          </p:cNvPr>
          <p:cNvSpPr>
            <a:spLocks noGrp="1"/>
          </p:cNvSpPr>
          <p:nvPr/>
        </p:nvSpPr>
        <p:spPr>
          <a:xfrm>
            <a:off x="666750" y="3571875"/>
            <a:ext cx="2286000" cy="1066800"/>
          </a:xfrm>
          <a:prstGeom prst="rect">
            <a:avLst/>
          </a:prstGeom>
          <a:noFill/>
          <a:ln w="0">
            <a:noFill/>
            <a:prstDash val="solid"/>
          </a:ln>
        </p:spPr>
        <p:txBody>
          <a:bodyPr wrap="square" lIns="0" tIns="0" rIns="0" bIns="0" anchor="t">
            <a:normAutofit/>
          </a:bodyPr>
          <a:lstStyle>
            <a:defPPr algn="l">
              <a:defRPr sz="1425" b="0">
                <a:solidFill>
                  <a:srgbClr val="62736B"/>
                </a:solidFill>
                <a:latin typeface="Arial"/>
                <a:ea typeface="Arial"/>
                <a:cs typeface="Arial"/>
              </a:defRPr>
            </a:defPPr>
          </a:lstStyle>
          <a:p>
            <a:pPr algn="l">
              <a:lnSpc>
                <a:spcPct val="115000"/>
              </a:lnSpc>
              <a:buNone/>
              <a:defRPr sz="1425" b="0">
                <a:solidFill>
                  <a:srgbClr val="62736B"/>
                </a:solidFill>
                <a:latin typeface="Arial"/>
                <a:ea typeface="Arial"/>
                <a:cs typeface="Arial"/>
              </a:defRPr>
            </a:pPr>
            <a:r>
              <a:rPr sz="1425" b="0">
                <a:solidFill>
                  <a:srgbClr val="62736B"/>
                </a:solidFill>
                <a:latin typeface="Arial"/>
                <a:ea typeface="Arial"/>
                <a:cs typeface="Arial"/>
              </a:rPr>
              <a:t>Create, update, deactivate and assign roles.</a:t>
            </a:r>
          </a:p>
        </p:txBody>
      </p:sp>
      <p:sp>
        <p:nvSpPr>
          <p:cNvPr id="7" name="Straight Connector 6">
            <a:extLst>
              <a:ext uri="{FF2B5EF4-FFF2-40B4-BE49-F238E27FC236}">
                <a16:creationId xmlns:a16="http://schemas.microsoft.com/office/drawing/2014/main" id="{5979C25A-B662-4A66-8A77-291D17E00C07}"/>
              </a:ext>
            </a:extLst>
          </p:cNvPr>
          <p:cNvSpPr>
            <a:spLocks noGrp="1"/>
          </p:cNvSpPr>
          <p:nvPr/>
        </p:nvSpPr>
        <p:spPr>
          <a:xfrm>
            <a:off x="3124200" y="2552700"/>
            <a:ext cx="0" cy="2257425"/>
          </a:xfrm>
          <a:prstGeom prst="line">
            <a:avLst/>
          </a:prstGeom>
          <a:noFill/>
          <a:ln w="9525">
            <a:solidFill>
              <a:srgbClr val="D4DBD0"/>
            </a:solidFill>
            <a:prstDash val="solid"/>
          </a:ln>
        </p:spPr>
      </p:sp>
      <p:sp>
        <p:nvSpPr>
          <p:cNvPr id="8" name="Rectangle 7">
            <a:extLst>
              <a:ext uri="{FF2B5EF4-FFF2-40B4-BE49-F238E27FC236}">
                <a16:creationId xmlns:a16="http://schemas.microsoft.com/office/drawing/2014/main" id="{A6F96638-49AE-4C33-A9FE-39C76E1ACBC5}"/>
              </a:ext>
            </a:extLst>
          </p:cNvPr>
          <p:cNvSpPr>
            <a:spLocks noGrp="1"/>
          </p:cNvSpPr>
          <p:nvPr/>
        </p:nvSpPr>
        <p:spPr>
          <a:xfrm>
            <a:off x="3333750" y="2571750"/>
            <a:ext cx="2381250" cy="219075"/>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PROJECTS</a:t>
            </a:r>
          </a:p>
        </p:txBody>
      </p:sp>
      <p:sp>
        <p:nvSpPr>
          <p:cNvPr id="9" name="Rectangle 8">
            <a:extLst>
              <a:ext uri="{FF2B5EF4-FFF2-40B4-BE49-F238E27FC236}">
                <a16:creationId xmlns:a16="http://schemas.microsoft.com/office/drawing/2014/main" id="{545BA8CC-70F2-4208-B52A-080E348603BD}"/>
              </a:ext>
            </a:extLst>
          </p:cNvPr>
          <p:cNvSpPr>
            <a:spLocks noGrp="1"/>
          </p:cNvSpPr>
          <p:nvPr/>
        </p:nvSpPr>
        <p:spPr>
          <a:xfrm>
            <a:off x="3333750" y="2981325"/>
            <a:ext cx="2381250" cy="419100"/>
          </a:xfrm>
          <a:prstGeom prst="rect">
            <a:avLst/>
          </a:prstGeom>
          <a:noFill/>
          <a:ln w="0">
            <a:noFill/>
            <a:prstDash val="solid"/>
          </a:ln>
        </p:spPr>
        <p:txBody>
          <a:bodyPr wrap="square" lIns="0" tIns="0" rIns="0" bIns="0" anchor="t">
            <a:normAutofit/>
          </a:bodyPr>
          <a:lstStyle>
            <a:defPPr algn="l">
              <a:defRPr sz="1875" b="1">
                <a:solidFill>
                  <a:srgbClr val="14241F"/>
                </a:solidFill>
                <a:latin typeface="Arial"/>
                <a:ea typeface="Arial"/>
                <a:cs typeface="Arial"/>
              </a:defRPr>
            </a:defPPr>
          </a:lstStyle>
          <a:p>
            <a:pPr algn="l">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Workspaces</a:t>
            </a:r>
          </a:p>
        </p:txBody>
      </p:sp>
      <p:sp>
        <p:nvSpPr>
          <p:cNvPr id="10" name="Rectangle 9">
            <a:extLst>
              <a:ext uri="{FF2B5EF4-FFF2-40B4-BE49-F238E27FC236}">
                <a16:creationId xmlns:a16="http://schemas.microsoft.com/office/drawing/2014/main" id="{FB423558-399C-47C8-9387-A736DD521CB5}"/>
              </a:ext>
            </a:extLst>
          </p:cNvPr>
          <p:cNvSpPr>
            <a:spLocks noGrp="1"/>
          </p:cNvSpPr>
          <p:nvPr/>
        </p:nvSpPr>
        <p:spPr>
          <a:xfrm>
            <a:off x="3333750" y="3571875"/>
            <a:ext cx="2286000" cy="1066800"/>
          </a:xfrm>
          <a:prstGeom prst="rect">
            <a:avLst/>
          </a:prstGeom>
          <a:noFill/>
          <a:ln w="0">
            <a:noFill/>
            <a:prstDash val="solid"/>
          </a:ln>
        </p:spPr>
        <p:txBody>
          <a:bodyPr wrap="square" lIns="0" tIns="0" rIns="0" bIns="0" anchor="t">
            <a:normAutofit/>
          </a:bodyPr>
          <a:lstStyle>
            <a:defPPr algn="l">
              <a:defRPr sz="1425" b="0">
                <a:solidFill>
                  <a:srgbClr val="62736B"/>
                </a:solidFill>
                <a:latin typeface="Arial"/>
                <a:ea typeface="Arial"/>
                <a:cs typeface="Arial"/>
              </a:defRPr>
            </a:defPPr>
          </a:lstStyle>
          <a:p>
            <a:pPr algn="l">
              <a:lnSpc>
                <a:spcPct val="115000"/>
              </a:lnSpc>
              <a:buNone/>
              <a:defRPr sz="1425" b="0">
                <a:solidFill>
                  <a:srgbClr val="62736B"/>
                </a:solidFill>
                <a:latin typeface="Arial"/>
                <a:ea typeface="Arial"/>
                <a:cs typeface="Arial"/>
              </a:defRPr>
            </a:pPr>
            <a:r>
              <a:rPr sz="1425" b="0">
                <a:solidFill>
                  <a:srgbClr val="62736B"/>
                </a:solidFill>
                <a:latin typeface="Arial"/>
                <a:ea typeface="Arial"/>
                <a:cs typeface="Arial"/>
              </a:rPr>
              <a:t>Assign owners, manage teams, archive, restore or delete.</a:t>
            </a:r>
          </a:p>
        </p:txBody>
      </p:sp>
      <p:sp>
        <p:nvSpPr>
          <p:cNvPr id="11" name="Straight Connector 10">
            <a:extLst>
              <a:ext uri="{FF2B5EF4-FFF2-40B4-BE49-F238E27FC236}">
                <a16:creationId xmlns:a16="http://schemas.microsoft.com/office/drawing/2014/main" id="{631863DD-0616-429B-9F26-4396E2ED42BD}"/>
              </a:ext>
            </a:extLst>
          </p:cNvPr>
          <p:cNvSpPr>
            <a:spLocks noGrp="1"/>
          </p:cNvSpPr>
          <p:nvPr/>
        </p:nvSpPr>
        <p:spPr>
          <a:xfrm>
            <a:off x="5791200" y="2552700"/>
            <a:ext cx="0" cy="2257425"/>
          </a:xfrm>
          <a:prstGeom prst="line">
            <a:avLst/>
          </a:prstGeom>
          <a:noFill/>
          <a:ln w="9525">
            <a:solidFill>
              <a:srgbClr val="D4DBD0"/>
            </a:solidFill>
            <a:prstDash val="solid"/>
          </a:ln>
        </p:spPr>
      </p:sp>
      <p:sp>
        <p:nvSpPr>
          <p:cNvPr id="12" name="Rectangle 11">
            <a:extLst>
              <a:ext uri="{FF2B5EF4-FFF2-40B4-BE49-F238E27FC236}">
                <a16:creationId xmlns:a16="http://schemas.microsoft.com/office/drawing/2014/main" id="{5AB1ACC0-45E2-403A-A288-F32D69489239}"/>
              </a:ext>
            </a:extLst>
          </p:cNvPr>
          <p:cNvSpPr>
            <a:spLocks noGrp="1"/>
          </p:cNvSpPr>
          <p:nvPr/>
        </p:nvSpPr>
        <p:spPr>
          <a:xfrm>
            <a:off x="6048375" y="2571750"/>
            <a:ext cx="2381250" cy="219075"/>
          </a:xfrm>
          <a:prstGeom prst="rect">
            <a:avLst/>
          </a:prstGeom>
          <a:noFill/>
          <a:ln w="0">
            <a:noFill/>
            <a:prstDash val="solid"/>
          </a:ln>
        </p:spPr>
        <p:txBody>
          <a:bodyPr wrap="square" lIns="0" tIns="0" rIns="0" bIns="0" anchor="t">
            <a:normAutofit/>
          </a:bodyPr>
          <a:lstStyle>
            <a:defPPr algn="l">
              <a:defRPr sz="1050" b="1">
                <a:solidFill>
                  <a:srgbClr val="678ED4"/>
                </a:solidFill>
                <a:latin typeface="Arial"/>
                <a:ea typeface="Arial"/>
                <a:cs typeface="Arial"/>
              </a:defRPr>
            </a:defPPr>
          </a:lstStyle>
          <a:p>
            <a:pPr algn="l">
              <a:lnSpc>
                <a:spcPct val="105000"/>
              </a:lnSpc>
              <a:buNone/>
              <a:defRPr sz="1050" b="1">
                <a:solidFill>
                  <a:srgbClr val="678ED4"/>
                </a:solidFill>
                <a:latin typeface="Arial"/>
                <a:ea typeface="Arial"/>
                <a:cs typeface="Arial"/>
              </a:defRPr>
            </a:pPr>
            <a:r>
              <a:rPr sz="1050" b="1">
                <a:solidFill>
                  <a:srgbClr val="678ED4"/>
                </a:solidFill>
                <a:latin typeface="Arial"/>
                <a:ea typeface="Arial"/>
                <a:cs typeface="Arial"/>
              </a:rPr>
              <a:t>RESOURCES</a:t>
            </a:r>
          </a:p>
        </p:txBody>
      </p:sp>
      <p:sp>
        <p:nvSpPr>
          <p:cNvPr id="13" name="Rectangle 12">
            <a:extLst>
              <a:ext uri="{FF2B5EF4-FFF2-40B4-BE49-F238E27FC236}">
                <a16:creationId xmlns:a16="http://schemas.microsoft.com/office/drawing/2014/main" id="{9D3C5649-4E58-4D7D-9B84-0F16B949C485}"/>
              </a:ext>
            </a:extLst>
          </p:cNvPr>
          <p:cNvSpPr>
            <a:spLocks noGrp="1"/>
          </p:cNvSpPr>
          <p:nvPr/>
        </p:nvSpPr>
        <p:spPr>
          <a:xfrm>
            <a:off x="6048375" y="2981325"/>
            <a:ext cx="2381250" cy="419100"/>
          </a:xfrm>
          <a:prstGeom prst="rect">
            <a:avLst/>
          </a:prstGeom>
          <a:noFill/>
          <a:ln w="0">
            <a:noFill/>
            <a:prstDash val="solid"/>
          </a:ln>
        </p:spPr>
        <p:txBody>
          <a:bodyPr wrap="square" lIns="0" tIns="0" rIns="0" bIns="0" anchor="t">
            <a:normAutofit/>
          </a:bodyPr>
          <a:lstStyle>
            <a:defPPr algn="l">
              <a:defRPr sz="1875" b="1">
                <a:solidFill>
                  <a:srgbClr val="14241F"/>
                </a:solidFill>
                <a:latin typeface="Arial"/>
                <a:ea typeface="Arial"/>
                <a:cs typeface="Arial"/>
              </a:defRPr>
            </a:defPPr>
          </a:lstStyle>
          <a:p>
            <a:pPr algn="l">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Capacity records</a:t>
            </a:r>
          </a:p>
        </p:txBody>
      </p:sp>
      <p:sp>
        <p:nvSpPr>
          <p:cNvPr id="14" name="Rectangle 13">
            <a:extLst>
              <a:ext uri="{FF2B5EF4-FFF2-40B4-BE49-F238E27FC236}">
                <a16:creationId xmlns:a16="http://schemas.microsoft.com/office/drawing/2014/main" id="{CDAC2EF9-B322-4BD5-BF2D-950B9DEE10D5}"/>
              </a:ext>
            </a:extLst>
          </p:cNvPr>
          <p:cNvSpPr>
            <a:spLocks noGrp="1"/>
          </p:cNvSpPr>
          <p:nvPr/>
        </p:nvSpPr>
        <p:spPr>
          <a:xfrm>
            <a:off x="6048375" y="3571875"/>
            <a:ext cx="2286000" cy="1066800"/>
          </a:xfrm>
          <a:prstGeom prst="rect">
            <a:avLst/>
          </a:prstGeom>
          <a:noFill/>
          <a:ln w="0">
            <a:noFill/>
            <a:prstDash val="solid"/>
          </a:ln>
        </p:spPr>
        <p:txBody>
          <a:bodyPr wrap="square" lIns="0" tIns="0" rIns="0" bIns="0" anchor="t">
            <a:normAutofit/>
          </a:bodyPr>
          <a:lstStyle>
            <a:defPPr algn="l">
              <a:defRPr sz="1425" b="0">
                <a:solidFill>
                  <a:srgbClr val="62736B"/>
                </a:solidFill>
                <a:latin typeface="Arial"/>
                <a:ea typeface="Arial"/>
                <a:cs typeface="Arial"/>
              </a:defRPr>
            </a:defPPr>
          </a:lstStyle>
          <a:p>
            <a:pPr algn="l">
              <a:lnSpc>
                <a:spcPct val="115000"/>
              </a:lnSpc>
              <a:buNone/>
              <a:defRPr sz="1425" b="0">
                <a:solidFill>
                  <a:srgbClr val="62736B"/>
                </a:solidFill>
                <a:latin typeface="Arial"/>
                <a:ea typeface="Arial"/>
                <a:cs typeface="Arial"/>
              </a:defRPr>
            </a:pPr>
            <a:r>
              <a:rPr sz="1425" b="0">
                <a:solidFill>
                  <a:srgbClr val="62736B"/>
                </a:solidFill>
                <a:latin typeface="Arial"/>
                <a:ea typeface="Arial"/>
                <a:cs typeface="Arial"/>
              </a:rPr>
              <a:t>Maintain compute and storage inventory.</a:t>
            </a:r>
          </a:p>
        </p:txBody>
      </p:sp>
      <p:sp>
        <p:nvSpPr>
          <p:cNvPr id="15" name="Straight Connector 14">
            <a:extLst>
              <a:ext uri="{FF2B5EF4-FFF2-40B4-BE49-F238E27FC236}">
                <a16:creationId xmlns:a16="http://schemas.microsoft.com/office/drawing/2014/main" id="{34A40E9A-6750-4C54-9299-EF524B233A15}"/>
              </a:ext>
            </a:extLst>
          </p:cNvPr>
          <p:cNvSpPr>
            <a:spLocks noGrp="1"/>
          </p:cNvSpPr>
          <p:nvPr/>
        </p:nvSpPr>
        <p:spPr>
          <a:xfrm>
            <a:off x="8505825" y="2552700"/>
            <a:ext cx="0" cy="2257425"/>
          </a:xfrm>
          <a:prstGeom prst="line">
            <a:avLst/>
          </a:prstGeom>
          <a:noFill/>
          <a:ln w="9525">
            <a:solidFill>
              <a:srgbClr val="D4DBD0"/>
            </a:solidFill>
            <a:prstDash val="solid"/>
          </a:ln>
        </p:spPr>
      </p:sp>
      <p:sp>
        <p:nvSpPr>
          <p:cNvPr id="16" name="Rectangle 15">
            <a:extLst>
              <a:ext uri="{FF2B5EF4-FFF2-40B4-BE49-F238E27FC236}">
                <a16:creationId xmlns:a16="http://schemas.microsoft.com/office/drawing/2014/main" id="{E6A97BCC-3897-4403-A279-1D4EEE9AEFB6}"/>
              </a:ext>
            </a:extLst>
          </p:cNvPr>
          <p:cNvSpPr>
            <a:spLocks noGrp="1"/>
          </p:cNvSpPr>
          <p:nvPr/>
        </p:nvSpPr>
        <p:spPr>
          <a:xfrm>
            <a:off x="8715375" y="2571750"/>
            <a:ext cx="2381250" cy="219075"/>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MONITORING</a:t>
            </a:r>
          </a:p>
        </p:txBody>
      </p:sp>
      <p:sp>
        <p:nvSpPr>
          <p:cNvPr id="17" name="Rectangle 16">
            <a:extLst>
              <a:ext uri="{FF2B5EF4-FFF2-40B4-BE49-F238E27FC236}">
                <a16:creationId xmlns:a16="http://schemas.microsoft.com/office/drawing/2014/main" id="{04D9FEB2-46B1-4596-A650-E74EB7BF66C9}"/>
              </a:ext>
            </a:extLst>
          </p:cNvPr>
          <p:cNvSpPr>
            <a:spLocks noGrp="1"/>
          </p:cNvSpPr>
          <p:nvPr/>
        </p:nvSpPr>
        <p:spPr>
          <a:xfrm>
            <a:off x="8715375" y="2981325"/>
            <a:ext cx="2381250" cy="419100"/>
          </a:xfrm>
          <a:prstGeom prst="rect">
            <a:avLst/>
          </a:prstGeom>
          <a:noFill/>
          <a:ln w="0">
            <a:noFill/>
            <a:prstDash val="solid"/>
          </a:ln>
        </p:spPr>
        <p:txBody>
          <a:bodyPr wrap="square" lIns="0" tIns="0" rIns="0" bIns="0" anchor="t">
            <a:normAutofit/>
          </a:bodyPr>
          <a:lstStyle>
            <a:defPPr algn="l">
              <a:defRPr sz="1875" b="1">
                <a:solidFill>
                  <a:srgbClr val="14241F"/>
                </a:solidFill>
                <a:latin typeface="Arial"/>
                <a:ea typeface="Arial"/>
                <a:cs typeface="Arial"/>
              </a:defRPr>
            </a:defPPr>
          </a:lstStyle>
          <a:p>
            <a:pPr algn="l">
              <a:lnSpc>
                <a:spcPct val="105000"/>
              </a:lnSpc>
              <a:buNone/>
              <a:defRPr sz="1875" b="1">
                <a:solidFill>
                  <a:srgbClr val="14241F"/>
                </a:solidFill>
                <a:latin typeface="Arial"/>
                <a:ea typeface="Arial"/>
                <a:cs typeface="Arial"/>
              </a:defRPr>
            </a:pPr>
            <a:r>
              <a:rPr sz="1875" b="1">
                <a:solidFill>
                  <a:srgbClr val="14241F"/>
                </a:solidFill>
                <a:latin typeface="Arial"/>
                <a:ea typeface="Arial"/>
                <a:cs typeface="Arial"/>
              </a:rPr>
              <a:t>Usage and activity</a:t>
            </a:r>
          </a:p>
        </p:txBody>
      </p:sp>
      <p:sp>
        <p:nvSpPr>
          <p:cNvPr id="18" name="Rectangle 17">
            <a:extLst>
              <a:ext uri="{FF2B5EF4-FFF2-40B4-BE49-F238E27FC236}">
                <a16:creationId xmlns:a16="http://schemas.microsoft.com/office/drawing/2014/main" id="{5C159E08-ABD6-4824-A16D-AE1F22D5C190}"/>
              </a:ext>
            </a:extLst>
          </p:cNvPr>
          <p:cNvSpPr>
            <a:spLocks noGrp="1"/>
          </p:cNvSpPr>
          <p:nvPr/>
        </p:nvSpPr>
        <p:spPr>
          <a:xfrm>
            <a:off x="8715375" y="3571875"/>
            <a:ext cx="2286000" cy="1066800"/>
          </a:xfrm>
          <a:prstGeom prst="rect">
            <a:avLst/>
          </a:prstGeom>
          <a:noFill/>
          <a:ln w="0">
            <a:noFill/>
            <a:prstDash val="solid"/>
          </a:ln>
        </p:spPr>
        <p:txBody>
          <a:bodyPr wrap="square" lIns="0" tIns="0" rIns="0" bIns="0" anchor="t">
            <a:normAutofit/>
          </a:bodyPr>
          <a:lstStyle>
            <a:defPPr algn="l">
              <a:defRPr sz="1425" b="0">
                <a:solidFill>
                  <a:srgbClr val="62736B"/>
                </a:solidFill>
                <a:latin typeface="Arial"/>
                <a:ea typeface="Arial"/>
                <a:cs typeface="Arial"/>
              </a:defRPr>
            </a:defPPr>
          </a:lstStyle>
          <a:p>
            <a:pPr algn="l">
              <a:lnSpc>
                <a:spcPct val="115000"/>
              </a:lnSpc>
              <a:buNone/>
              <a:defRPr sz="1425" b="0">
                <a:solidFill>
                  <a:srgbClr val="62736B"/>
                </a:solidFill>
                <a:latin typeface="Arial"/>
                <a:ea typeface="Arial"/>
                <a:cs typeface="Arial"/>
              </a:defRPr>
            </a:pPr>
            <a:r>
              <a:rPr sz="1425" b="0">
                <a:solidFill>
                  <a:srgbClr val="62736B"/>
                </a:solidFill>
                <a:latin typeface="Arial"/>
                <a:ea typeface="Arial"/>
                <a:cs typeface="Arial"/>
              </a:rPr>
              <a:t>Date-filtered usage reports and an audit log.</a:t>
            </a:r>
          </a:p>
        </p:txBody>
      </p:sp>
      <p:sp>
        <p:nvSpPr>
          <p:cNvPr id="19" name="Straight Connector 18">
            <a:extLst>
              <a:ext uri="{FF2B5EF4-FFF2-40B4-BE49-F238E27FC236}">
                <a16:creationId xmlns:a16="http://schemas.microsoft.com/office/drawing/2014/main" id="{3F7E5B74-C943-43EC-9F0E-16F1989619C2}"/>
              </a:ext>
            </a:extLst>
          </p:cNvPr>
          <p:cNvSpPr>
            <a:spLocks noGrp="1"/>
          </p:cNvSpPr>
          <p:nvPr/>
        </p:nvSpPr>
        <p:spPr>
          <a:xfrm>
            <a:off x="666750" y="5086350"/>
            <a:ext cx="10858500" cy="0"/>
          </a:xfrm>
          <a:prstGeom prst="line">
            <a:avLst/>
          </a:prstGeom>
          <a:noFill/>
          <a:ln w="9525">
            <a:solidFill>
              <a:srgbClr val="D4DBD0"/>
            </a:solidFill>
            <a:prstDash val="solid"/>
          </a:ln>
        </p:spPr>
      </p:sp>
      <p:sp>
        <p:nvSpPr>
          <p:cNvPr id="20" name="Rectangle 19">
            <a:extLst>
              <a:ext uri="{FF2B5EF4-FFF2-40B4-BE49-F238E27FC236}">
                <a16:creationId xmlns:a16="http://schemas.microsoft.com/office/drawing/2014/main" id="{181E23A7-6753-4B78-B122-8D382E06144E}"/>
              </a:ext>
            </a:extLst>
          </p:cNvPr>
          <p:cNvSpPr>
            <a:spLocks noGrp="1"/>
          </p:cNvSpPr>
          <p:nvPr/>
        </p:nvSpPr>
        <p:spPr>
          <a:xfrm>
            <a:off x="685800" y="5334000"/>
            <a:ext cx="4572000" cy="20955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RESOURCE RECORDS DESCRIBE CAPACITY</a:t>
            </a:r>
          </a:p>
        </p:txBody>
      </p:sp>
      <p:sp>
        <p:nvSpPr>
          <p:cNvPr id="21" name="Rectangle 20">
            <a:extLst>
              <a:ext uri="{FF2B5EF4-FFF2-40B4-BE49-F238E27FC236}">
                <a16:creationId xmlns:a16="http://schemas.microsoft.com/office/drawing/2014/main" id="{D7CBD774-5840-451A-8AC5-0EEE068C855D}"/>
              </a:ext>
            </a:extLst>
          </p:cNvPr>
          <p:cNvSpPr>
            <a:spLocks noGrp="1"/>
          </p:cNvSpPr>
          <p:nvPr/>
        </p:nvSpPr>
        <p:spPr>
          <a:xfrm>
            <a:off x="685800" y="5648325"/>
            <a:ext cx="809625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They do not provision cloud compute or storage.</a:t>
            </a:r>
          </a:p>
        </p:txBody>
      </p:sp>
    </p:spTree>
    <p:extLst>
      <p:ext uri="{BB962C8B-B14F-4D97-AF65-F5344CB8AC3E}">
        <p14:creationId xmlns:p14="http://schemas.microsoft.com/office/powerpoint/2010/main" val="1870332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B9DAFFD-52CC-4CBA-975B-3628DC2F5756}"/>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10 / JAVA WEB ARCHITECTURE</a:t>
            </a:r>
          </a:p>
        </p:txBody>
      </p:sp>
      <p:sp>
        <p:nvSpPr>
          <p:cNvPr id="2" name="Rectangle 1">
            <a:extLst>
              <a:ext uri="{FF2B5EF4-FFF2-40B4-BE49-F238E27FC236}">
                <a16:creationId xmlns:a16="http://schemas.microsoft.com/office/drawing/2014/main" id="{C46E6603-C749-4917-BFA5-AF378405159D}"/>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A layered web application keeps responsibilities clear</a:t>
            </a:r>
          </a:p>
        </p:txBody>
      </p:sp>
      <p:sp>
        <p:nvSpPr>
          <p:cNvPr id="3" name="Rectangle 2">
            <a:extLst>
              <a:ext uri="{FF2B5EF4-FFF2-40B4-BE49-F238E27FC236}">
                <a16:creationId xmlns:a16="http://schemas.microsoft.com/office/drawing/2014/main" id="{3C1560A2-8934-4520-9FEC-0EFA409767A7}"/>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The browser sends requests to Servlets. Services hold rules. DAO classes persist data with JDBC.</a:t>
            </a:r>
          </a:p>
        </p:txBody>
      </p:sp>
      <p:sp>
        <p:nvSpPr>
          <p:cNvPr id="4" name="Rectangle 3">
            <a:extLst>
              <a:ext uri="{FF2B5EF4-FFF2-40B4-BE49-F238E27FC236}">
                <a16:creationId xmlns:a16="http://schemas.microsoft.com/office/drawing/2014/main" id="{1FAD9822-95EE-4686-984F-95C4D294DEF2}"/>
              </a:ext>
            </a:extLst>
          </p:cNvPr>
          <p:cNvSpPr>
            <a:spLocks noGrp="1"/>
          </p:cNvSpPr>
          <p:nvPr/>
        </p:nvSpPr>
        <p:spPr>
          <a:xfrm>
            <a:off x="704850" y="2647950"/>
            <a:ext cx="2571750" cy="1809750"/>
          </a:xfrm>
          <a:prstGeom prst="rect">
            <a:avLst/>
          </a:prstGeom>
          <a:solidFill>
            <a:srgbClr val="FFFFFF"/>
          </a:solidFill>
          <a:ln w="9525">
            <a:solidFill>
              <a:srgbClr val="D4DBD0"/>
            </a:solidFill>
            <a:prstDash val="solid"/>
          </a:ln>
        </p:spPr>
      </p:sp>
      <p:sp>
        <p:nvSpPr>
          <p:cNvPr id="5" name="Rectangle 4">
            <a:extLst>
              <a:ext uri="{FF2B5EF4-FFF2-40B4-BE49-F238E27FC236}">
                <a16:creationId xmlns:a16="http://schemas.microsoft.com/office/drawing/2014/main" id="{A40F9205-4C25-42E4-870B-6BF1124F5FBC}"/>
              </a:ext>
            </a:extLst>
          </p:cNvPr>
          <p:cNvSpPr>
            <a:spLocks noGrp="1"/>
          </p:cNvSpPr>
          <p:nvPr/>
        </p:nvSpPr>
        <p:spPr>
          <a:xfrm>
            <a:off x="704850" y="2647950"/>
            <a:ext cx="2571750" cy="85725"/>
          </a:xfrm>
          <a:prstGeom prst="rect">
            <a:avLst/>
          </a:prstGeom>
          <a:solidFill>
            <a:srgbClr val="678ED4"/>
          </a:solidFill>
          <a:ln w="0">
            <a:noFill/>
            <a:prstDash val="solid"/>
          </a:ln>
        </p:spPr>
      </p:sp>
      <p:sp>
        <p:nvSpPr>
          <p:cNvPr id="6" name="Rectangle 5">
            <a:extLst>
              <a:ext uri="{FF2B5EF4-FFF2-40B4-BE49-F238E27FC236}">
                <a16:creationId xmlns:a16="http://schemas.microsoft.com/office/drawing/2014/main" id="{E1567E21-C937-45E2-B17E-7A19E8301AF0}"/>
              </a:ext>
            </a:extLst>
          </p:cNvPr>
          <p:cNvSpPr>
            <a:spLocks noGrp="1"/>
          </p:cNvSpPr>
          <p:nvPr/>
        </p:nvSpPr>
        <p:spPr>
          <a:xfrm>
            <a:off x="876300" y="2943225"/>
            <a:ext cx="2228850" cy="333375"/>
          </a:xfrm>
          <a:prstGeom prst="rect">
            <a:avLst/>
          </a:prstGeom>
          <a:noFill/>
          <a:ln w="0">
            <a:noFill/>
            <a:prstDash val="solid"/>
          </a:ln>
        </p:spPr>
        <p:txBody>
          <a:bodyPr wrap="square" lIns="0" tIns="0" rIns="0" bIns="0" anchor="t">
            <a:normAutofit/>
          </a:bodyPr>
          <a:lstStyle>
            <a:defPPr algn="l">
              <a:defRPr sz="1725" b="1">
                <a:solidFill>
                  <a:srgbClr val="14241F"/>
                </a:solidFill>
                <a:latin typeface="Arial"/>
                <a:ea typeface="Arial"/>
                <a:cs typeface="Arial"/>
              </a:defRPr>
            </a:defPPr>
          </a:lstStyle>
          <a:p>
            <a:pPr algn="l">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Browser UI</a:t>
            </a:r>
          </a:p>
        </p:txBody>
      </p:sp>
      <p:sp>
        <p:nvSpPr>
          <p:cNvPr id="7" name="Rectangle 6">
            <a:extLst>
              <a:ext uri="{FF2B5EF4-FFF2-40B4-BE49-F238E27FC236}">
                <a16:creationId xmlns:a16="http://schemas.microsoft.com/office/drawing/2014/main" id="{374BF222-165F-4F83-B1B3-757B8C7E906A}"/>
              </a:ext>
            </a:extLst>
          </p:cNvPr>
          <p:cNvSpPr>
            <a:spLocks noGrp="1"/>
          </p:cNvSpPr>
          <p:nvPr/>
        </p:nvSpPr>
        <p:spPr>
          <a:xfrm>
            <a:off x="876300" y="3467100"/>
            <a:ext cx="2228850" cy="8382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HTML / CSS / vanilla JS</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JSP views</a:t>
            </a:r>
          </a:p>
        </p:txBody>
      </p:sp>
      <p:cxnSp>
        <p:nvCxnSpPr>
          <p:cNvPr id="8" name="Connector: Elbow 7">
            <a:extLst>
              <a:ext uri="{FF2B5EF4-FFF2-40B4-BE49-F238E27FC236}">
                <a16:creationId xmlns:a16="http://schemas.microsoft.com/office/drawing/2014/main" id="{D0F2F7D8-5170-4D5C-B89A-00039806182B}"/>
              </a:ext>
            </a:extLst>
          </p:cNvPr>
          <p:cNvCxnSpPr/>
          <p:nvPr/>
        </p:nvCxnSpPr>
        <p:spPr>
          <a:xfrm>
            <a:off x="3324225" y="3552825"/>
            <a:ext cx="104775" cy="0"/>
          </a:xfrm>
          <a:prstGeom prst="bentConnector4">
            <a:avLst/>
          </a:prstGeom>
          <a:ln w="19050">
            <a:solidFill>
              <a:srgbClr val="148A78"/>
            </a:solidFill>
            <a:prstDash val="solid"/>
            <a:tailEnd type="arrow" w="med" len="med"/>
          </a:ln>
        </p:spPr>
      </p:cxnSp>
      <p:sp>
        <p:nvSpPr>
          <p:cNvPr id="9" name="Rectangle 8">
            <a:extLst>
              <a:ext uri="{FF2B5EF4-FFF2-40B4-BE49-F238E27FC236}">
                <a16:creationId xmlns:a16="http://schemas.microsoft.com/office/drawing/2014/main" id="{E2CF37FE-C83B-4987-99B2-73FBA51135F7}"/>
              </a:ext>
            </a:extLst>
          </p:cNvPr>
          <p:cNvSpPr>
            <a:spLocks noGrp="1"/>
          </p:cNvSpPr>
          <p:nvPr/>
        </p:nvSpPr>
        <p:spPr>
          <a:xfrm>
            <a:off x="3505200" y="2647950"/>
            <a:ext cx="2571750" cy="1809750"/>
          </a:xfrm>
          <a:prstGeom prst="rect">
            <a:avLst/>
          </a:prstGeom>
          <a:solidFill>
            <a:srgbClr val="FFFFFF"/>
          </a:solidFill>
          <a:ln w="9525">
            <a:solidFill>
              <a:srgbClr val="D4DBD0"/>
            </a:solidFill>
            <a:prstDash val="solid"/>
          </a:ln>
        </p:spPr>
      </p:sp>
      <p:sp>
        <p:nvSpPr>
          <p:cNvPr id="10" name="Rectangle 9">
            <a:extLst>
              <a:ext uri="{FF2B5EF4-FFF2-40B4-BE49-F238E27FC236}">
                <a16:creationId xmlns:a16="http://schemas.microsoft.com/office/drawing/2014/main" id="{ED58FF36-B16C-4642-89EC-F2DAD8AA2DBD}"/>
              </a:ext>
            </a:extLst>
          </p:cNvPr>
          <p:cNvSpPr>
            <a:spLocks noGrp="1"/>
          </p:cNvSpPr>
          <p:nvPr/>
        </p:nvSpPr>
        <p:spPr>
          <a:xfrm>
            <a:off x="3505200" y="2647950"/>
            <a:ext cx="2571750" cy="85725"/>
          </a:xfrm>
          <a:prstGeom prst="rect">
            <a:avLst/>
          </a:prstGeom>
          <a:solidFill>
            <a:srgbClr val="148A78"/>
          </a:solidFill>
          <a:ln w="0">
            <a:noFill/>
            <a:prstDash val="solid"/>
          </a:ln>
        </p:spPr>
      </p:sp>
      <p:sp>
        <p:nvSpPr>
          <p:cNvPr id="11" name="Rectangle 10">
            <a:extLst>
              <a:ext uri="{FF2B5EF4-FFF2-40B4-BE49-F238E27FC236}">
                <a16:creationId xmlns:a16="http://schemas.microsoft.com/office/drawing/2014/main" id="{3B1D65A7-1197-42EB-B47E-BEB8F53AB997}"/>
              </a:ext>
            </a:extLst>
          </p:cNvPr>
          <p:cNvSpPr>
            <a:spLocks noGrp="1"/>
          </p:cNvSpPr>
          <p:nvPr/>
        </p:nvSpPr>
        <p:spPr>
          <a:xfrm>
            <a:off x="3676650" y="2943225"/>
            <a:ext cx="2228850" cy="333375"/>
          </a:xfrm>
          <a:prstGeom prst="rect">
            <a:avLst/>
          </a:prstGeom>
          <a:noFill/>
          <a:ln w="0">
            <a:noFill/>
            <a:prstDash val="solid"/>
          </a:ln>
        </p:spPr>
        <p:txBody>
          <a:bodyPr wrap="square" lIns="0" tIns="0" rIns="0" bIns="0" anchor="t">
            <a:normAutofit/>
          </a:bodyPr>
          <a:lstStyle>
            <a:defPPr algn="l">
              <a:defRPr sz="1725" b="1">
                <a:solidFill>
                  <a:srgbClr val="14241F"/>
                </a:solidFill>
                <a:latin typeface="Arial"/>
                <a:ea typeface="Arial"/>
                <a:cs typeface="Arial"/>
              </a:defRPr>
            </a:defPPr>
          </a:lstStyle>
          <a:p>
            <a:pPr algn="l">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Web layer</a:t>
            </a:r>
          </a:p>
        </p:txBody>
      </p:sp>
      <p:sp>
        <p:nvSpPr>
          <p:cNvPr id="12" name="Rectangle 11">
            <a:extLst>
              <a:ext uri="{FF2B5EF4-FFF2-40B4-BE49-F238E27FC236}">
                <a16:creationId xmlns:a16="http://schemas.microsoft.com/office/drawing/2014/main" id="{66FF1EF2-E23E-4DC0-AE5F-B02BB3FD0AAC}"/>
              </a:ext>
            </a:extLst>
          </p:cNvPr>
          <p:cNvSpPr>
            <a:spLocks noGrp="1"/>
          </p:cNvSpPr>
          <p:nvPr/>
        </p:nvSpPr>
        <p:spPr>
          <a:xfrm>
            <a:off x="3676650" y="3467100"/>
            <a:ext cx="2228850" cy="8382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Jakarta Servlets</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Auth + role filters</a:t>
            </a:r>
          </a:p>
        </p:txBody>
      </p:sp>
      <p:cxnSp>
        <p:nvCxnSpPr>
          <p:cNvPr id="13" name="Connector: Elbow 12">
            <a:extLst>
              <a:ext uri="{FF2B5EF4-FFF2-40B4-BE49-F238E27FC236}">
                <a16:creationId xmlns:a16="http://schemas.microsoft.com/office/drawing/2014/main" id="{BF87C6B9-5443-4B09-A972-E11413EA2AFA}"/>
              </a:ext>
            </a:extLst>
          </p:cNvPr>
          <p:cNvCxnSpPr/>
          <p:nvPr/>
        </p:nvCxnSpPr>
        <p:spPr>
          <a:xfrm>
            <a:off x="6124575" y="3552825"/>
            <a:ext cx="104775" cy="0"/>
          </a:xfrm>
          <a:prstGeom prst="bentConnector4">
            <a:avLst/>
          </a:prstGeom>
          <a:ln w="19050">
            <a:solidFill>
              <a:srgbClr val="148A78"/>
            </a:solidFill>
            <a:prstDash val="solid"/>
            <a:tailEnd type="arrow" w="med" len="med"/>
          </a:ln>
        </p:spPr>
      </p:cxnSp>
      <p:sp>
        <p:nvSpPr>
          <p:cNvPr id="14" name="Rectangle 13">
            <a:extLst>
              <a:ext uri="{FF2B5EF4-FFF2-40B4-BE49-F238E27FC236}">
                <a16:creationId xmlns:a16="http://schemas.microsoft.com/office/drawing/2014/main" id="{C451AF2F-AFAD-46EA-AFD1-887D02925445}"/>
              </a:ext>
            </a:extLst>
          </p:cNvPr>
          <p:cNvSpPr>
            <a:spLocks noGrp="1"/>
          </p:cNvSpPr>
          <p:nvPr/>
        </p:nvSpPr>
        <p:spPr>
          <a:xfrm>
            <a:off x="6305550" y="2647950"/>
            <a:ext cx="2571750" cy="1809750"/>
          </a:xfrm>
          <a:prstGeom prst="rect">
            <a:avLst/>
          </a:prstGeom>
          <a:solidFill>
            <a:srgbClr val="FFFFFF"/>
          </a:solidFill>
          <a:ln w="9525">
            <a:solidFill>
              <a:srgbClr val="D4DBD0"/>
            </a:solidFill>
            <a:prstDash val="solid"/>
          </a:ln>
        </p:spPr>
      </p:sp>
      <p:sp>
        <p:nvSpPr>
          <p:cNvPr id="15" name="Rectangle 14">
            <a:extLst>
              <a:ext uri="{FF2B5EF4-FFF2-40B4-BE49-F238E27FC236}">
                <a16:creationId xmlns:a16="http://schemas.microsoft.com/office/drawing/2014/main" id="{97BA72FA-AE8B-4C1C-82A9-3D95AE610BA8}"/>
              </a:ext>
            </a:extLst>
          </p:cNvPr>
          <p:cNvSpPr>
            <a:spLocks noGrp="1"/>
          </p:cNvSpPr>
          <p:nvPr/>
        </p:nvSpPr>
        <p:spPr>
          <a:xfrm>
            <a:off x="6305550" y="2647950"/>
            <a:ext cx="2571750" cy="85725"/>
          </a:xfrm>
          <a:prstGeom prst="rect">
            <a:avLst/>
          </a:prstGeom>
          <a:solidFill>
            <a:srgbClr val="E79B54"/>
          </a:solidFill>
          <a:ln w="0">
            <a:noFill/>
            <a:prstDash val="solid"/>
          </a:ln>
        </p:spPr>
      </p:sp>
      <p:sp>
        <p:nvSpPr>
          <p:cNvPr id="16" name="Rectangle 15">
            <a:extLst>
              <a:ext uri="{FF2B5EF4-FFF2-40B4-BE49-F238E27FC236}">
                <a16:creationId xmlns:a16="http://schemas.microsoft.com/office/drawing/2014/main" id="{AA339A54-D6E1-4A3D-A219-1307B91BD9C5}"/>
              </a:ext>
            </a:extLst>
          </p:cNvPr>
          <p:cNvSpPr>
            <a:spLocks noGrp="1"/>
          </p:cNvSpPr>
          <p:nvPr/>
        </p:nvSpPr>
        <p:spPr>
          <a:xfrm>
            <a:off x="6477000" y="2943225"/>
            <a:ext cx="2228850" cy="333375"/>
          </a:xfrm>
          <a:prstGeom prst="rect">
            <a:avLst/>
          </a:prstGeom>
          <a:noFill/>
          <a:ln w="0">
            <a:noFill/>
            <a:prstDash val="solid"/>
          </a:ln>
        </p:spPr>
        <p:txBody>
          <a:bodyPr wrap="square" lIns="0" tIns="0" rIns="0" bIns="0" anchor="t">
            <a:normAutofit/>
          </a:bodyPr>
          <a:lstStyle>
            <a:defPPr algn="l">
              <a:defRPr sz="1725" b="1">
                <a:solidFill>
                  <a:srgbClr val="14241F"/>
                </a:solidFill>
                <a:latin typeface="Arial"/>
                <a:ea typeface="Arial"/>
                <a:cs typeface="Arial"/>
              </a:defRPr>
            </a:defPPr>
          </a:lstStyle>
          <a:p>
            <a:pPr algn="l">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Service layer</a:t>
            </a:r>
          </a:p>
        </p:txBody>
      </p:sp>
      <p:sp>
        <p:nvSpPr>
          <p:cNvPr id="17" name="Rectangle 16">
            <a:extLst>
              <a:ext uri="{FF2B5EF4-FFF2-40B4-BE49-F238E27FC236}">
                <a16:creationId xmlns:a16="http://schemas.microsoft.com/office/drawing/2014/main" id="{181BE480-C7DA-47EE-8D4B-576BB5E5A1AC}"/>
              </a:ext>
            </a:extLst>
          </p:cNvPr>
          <p:cNvSpPr>
            <a:spLocks noGrp="1"/>
          </p:cNvSpPr>
          <p:nvPr/>
        </p:nvSpPr>
        <p:spPr>
          <a:xfrm>
            <a:off x="6477000" y="3467100"/>
            <a:ext cx="2228850" cy="8382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CSV profiling</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Training worker</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Validation and metrics</a:t>
            </a:r>
          </a:p>
        </p:txBody>
      </p:sp>
      <p:cxnSp>
        <p:nvCxnSpPr>
          <p:cNvPr id="18" name="Connector: Elbow 17">
            <a:extLst>
              <a:ext uri="{FF2B5EF4-FFF2-40B4-BE49-F238E27FC236}">
                <a16:creationId xmlns:a16="http://schemas.microsoft.com/office/drawing/2014/main" id="{6CBDF6F6-FCFD-43DC-97D8-47D786AC5D40}"/>
              </a:ext>
            </a:extLst>
          </p:cNvPr>
          <p:cNvCxnSpPr/>
          <p:nvPr/>
        </p:nvCxnSpPr>
        <p:spPr>
          <a:xfrm>
            <a:off x="8924925" y="3552825"/>
            <a:ext cx="104775" cy="0"/>
          </a:xfrm>
          <a:prstGeom prst="bentConnector4">
            <a:avLst/>
          </a:prstGeom>
          <a:ln w="19050">
            <a:solidFill>
              <a:srgbClr val="148A78"/>
            </a:solidFill>
            <a:prstDash val="solid"/>
            <a:tailEnd type="arrow" w="med" len="med"/>
          </a:ln>
        </p:spPr>
      </p:cxnSp>
      <p:sp>
        <p:nvSpPr>
          <p:cNvPr id="19" name="Rectangle 18">
            <a:extLst>
              <a:ext uri="{FF2B5EF4-FFF2-40B4-BE49-F238E27FC236}">
                <a16:creationId xmlns:a16="http://schemas.microsoft.com/office/drawing/2014/main" id="{DDAD3800-1861-4F9C-80DC-EC67C558CDFC}"/>
              </a:ext>
            </a:extLst>
          </p:cNvPr>
          <p:cNvSpPr>
            <a:spLocks noGrp="1"/>
          </p:cNvSpPr>
          <p:nvPr/>
        </p:nvSpPr>
        <p:spPr>
          <a:xfrm>
            <a:off x="9105900" y="2647950"/>
            <a:ext cx="2571750" cy="1809750"/>
          </a:xfrm>
          <a:prstGeom prst="rect">
            <a:avLst/>
          </a:prstGeom>
          <a:solidFill>
            <a:srgbClr val="FFFFFF"/>
          </a:solidFill>
          <a:ln w="9525">
            <a:solidFill>
              <a:srgbClr val="D4DBD0"/>
            </a:solidFill>
            <a:prstDash val="solid"/>
          </a:ln>
        </p:spPr>
      </p:sp>
      <p:sp>
        <p:nvSpPr>
          <p:cNvPr id="20" name="Rectangle 19">
            <a:extLst>
              <a:ext uri="{FF2B5EF4-FFF2-40B4-BE49-F238E27FC236}">
                <a16:creationId xmlns:a16="http://schemas.microsoft.com/office/drawing/2014/main" id="{7A293173-FE56-4FB5-A317-335B699D3E2B}"/>
              </a:ext>
            </a:extLst>
          </p:cNvPr>
          <p:cNvSpPr>
            <a:spLocks noGrp="1"/>
          </p:cNvSpPr>
          <p:nvPr/>
        </p:nvSpPr>
        <p:spPr>
          <a:xfrm>
            <a:off x="9105900" y="2647950"/>
            <a:ext cx="2571750" cy="85725"/>
          </a:xfrm>
          <a:prstGeom prst="rect">
            <a:avLst/>
          </a:prstGeom>
          <a:solidFill>
            <a:srgbClr val="148A78"/>
          </a:solidFill>
          <a:ln w="0">
            <a:noFill/>
            <a:prstDash val="solid"/>
          </a:ln>
        </p:spPr>
      </p:sp>
      <p:sp>
        <p:nvSpPr>
          <p:cNvPr id="21" name="Rectangle 20">
            <a:extLst>
              <a:ext uri="{FF2B5EF4-FFF2-40B4-BE49-F238E27FC236}">
                <a16:creationId xmlns:a16="http://schemas.microsoft.com/office/drawing/2014/main" id="{FA77976D-EB86-4CB5-B2B0-EC57F6CE3799}"/>
              </a:ext>
            </a:extLst>
          </p:cNvPr>
          <p:cNvSpPr>
            <a:spLocks noGrp="1"/>
          </p:cNvSpPr>
          <p:nvPr/>
        </p:nvSpPr>
        <p:spPr>
          <a:xfrm>
            <a:off x="9277350" y="2943225"/>
            <a:ext cx="2228850" cy="333375"/>
          </a:xfrm>
          <a:prstGeom prst="rect">
            <a:avLst/>
          </a:prstGeom>
          <a:noFill/>
          <a:ln w="0">
            <a:noFill/>
            <a:prstDash val="solid"/>
          </a:ln>
        </p:spPr>
        <p:txBody>
          <a:bodyPr wrap="square" lIns="0" tIns="0" rIns="0" bIns="0" anchor="t">
            <a:normAutofit/>
          </a:bodyPr>
          <a:lstStyle>
            <a:defPPr algn="l">
              <a:defRPr sz="1725" b="1">
                <a:solidFill>
                  <a:srgbClr val="14241F"/>
                </a:solidFill>
                <a:latin typeface="Arial"/>
                <a:ea typeface="Arial"/>
                <a:cs typeface="Arial"/>
              </a:defRPr>
            </a:defPPr>
          </a:lstStyle>
          <a:p>
            <a:pPr algn="l">
              <a:lnSpc>
                <a:spcPct val="105000"/>
              </a:lnSpc>
              <a:buNone/>
              <a:defRPr sz="1725" b="1">
                <a:solidFill>
                  <a:srgbClr val="14241F"/>
                </a:solidFill>
                <a:latin typeface="Arial"/>
                <a:ea typeface="Arial"/>
                <a:cs typeface="Arial"/>
              </a:defRPr>
            </a:pPr>
            <a:r>
              <a:rPr sz="1725" b="1">
                <a:solidFill>
                  <a:srgbClr val="14241F"/>
                </a:solidFill>
                <a:latin typeface="Arial"/>
                <a:ea typeface="Arial"/>
                <a:cs typeface="Arial"/>
              </a:rPr>
              <a:t>Persistence</a:t>
            </a:r>
          </a:p>
        </p:txBody>
      </p:sp>
      <p:sp>
        <p:nvSpPr>
          <p:cNvPr id="22" name="Rectangle 21">
            <a:extLst>
              <a:ext uri="{FF2B5EF4-FFF2-40B4-BE49-F238E27FC236}">
                <a16:creationId xmlns:a16="http://schemas.microsoft.com/office/drawing/2014/main" id="{63059033-0566-490C-ABE3-E1EB90C55385}"/>
              </a:ext>
            </a:extLst>
          </p:cNvPr>
          <p:cNvSpPr>
            <a:spLocks noGrp="1"/>
          </p:cNvSpPr>
          <p:nvPr/>
        </p:nvSpPr>
        <p:spPr>
          <a:xfrm>
            <a:off x="9277350" y="3467100"/>
            <a:ext cx="2228850" cy="8382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DAO classes + JDBC</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H2 relational database</a:t>
            </a:r>
          </a:p>
          <a:p>
            <a:pPr algn="l">
              <a:lnSpc>
                <a:spcPct val="120000"/>
              </a:lnSpc>
              <a:buNone/>
              <a:defRPr sz="1350" b="0">
                <a:solidFill>
                  <a:srgbClr val="62736B"/>
                </a:solidFill>
                <a:latin typeface="Arial"/>
                <a:ea typeface="Arial"/>
                <a:cs typeface="Arial"/>
              </a:defRPr>
            </a:pPr>
            <a:r>
              <a:rPr sz="1350" b="0">
                <a:solidFill>
                  <a:srgbClr val="62736B"/>
                </a:solidFill>
                <a:latin typeface="Arial"/>
                <a:ea typeface="Arial"/>
                <a:cs typeface="Arial"/>
              </a:rPr>
              <a:t>CSV upload storage</a:t>
            </a:r>
          </a:p>
        </p:txBody>
      </p:sp>
      <p:sp>
        <p:nvSpPr>
          <p:cNvPr id="23" name="Rectangle 22">
            <a:extLst>
              <a:ext uri="{FF2B5EF4-FFF2-40B4-BE49-F238E27FC236}">
                <a16:creationId xmlns:a16="http://schemas.microsoft.com/office/drawing/2014/main" id="{B0D97076-D496-4351-BB42-4940A2CD084D}"/>
              </a:ext>
            </a:extLst>
          </p:cNvPr>
          <p:cNvSpPr>
            <a:spLocks noGrp="1"/>
          </p:cNvSpPr>
          <p:nvPr/>
        </p:nvSpPr>
        <p:spPr>
          <a:xfrm>
            <a:off x="714375" y="4953000"/>
            <a:ext cx="10477500" cy="36195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Longer training work runs in a bounded background queue; results return to the experiment record.</a:t>
            </a:r>
          </a:p>
        </p:txBody>
      </p:sp>
      <p:sp>
        <p:nvSpPr>
          <p:cNvPr id="24" name="Rectangle 23">
            <a:extLst>
              <a:ext uri="{FF2B5EF4-FFF2-40B4-BE49-F238E27FC236}">
                <a16:creationId xmlns:a16="http://schemas.microsoft.com/office/drawing/2014/main" id="{4C123085-BB13-4520-83C0-C0FC573EF582}"/>
              </a:ext>
            </a:extLst>
          </p:cNvPr>
          <p:cNvSpPr>
            <a:spLocks noGrp="1"/>
          </p:cNvSpPr>
          <p:nvPr/>
        </p:nvSpPr>
        <p:spPr>
          <a:xfrm>
            <a:off x="714375" y="5534025"/>
            <a:ext cx="10477500" cy="32385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Optional remote mode: Hugging Face Jobs, private per-run dataset and signed one-time callback.</a:t>
            </a:r>
          </a:p>
        </p:txBody>
      </p:sp>
    </p:spTree>
    <p:extLst>
      <p:ext uri="{BB962C8B-B14F-4D97-AF65-F5344CB8AC3E}">
        <p14:creationId xmlns:p14="http://schemas.microsoft.com/office/powerpoint/2010/main" val="571737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247A49B-7FBB-46A2-A2BC-D907E4CE88A3}"/>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11 / DATA MODEL</a:t>
            </a:r>
          </a:p>
        </p:txBody>
      </p:sp>
      <p:sp>
        <p:nvSpPr>
          <p:cNvPr id="2" name="Rectangle 1">
            <a:extLst>
              <a:ext uri="{FF2B5EF4-FFF2-40B4-BE49-F238E27FC236}">
                <a16:creationId xmlns:a16="http://schemas.microsoft.com/office/drawing/2014/main" id="{135107C0-48E8-4465-93C3-E0A2FF237FBA}"/>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Relational records preserve each research run</a:t>
            </a:r>
          </a:p>
        </p:txBody>
      </p:sp>
      <p:sp>
        <p:nvSpPr>
          <p:cNvPr id="3" name="Rectangle 2">
            <a:extLst>
              <a:ext uri="{FF2B5EF4-FFF2-40B4-BE49-F238E27FC236}">
                <a16:creationId xmlns:a16="http://schemas.microsoft.com/office/drawing/2014/main" id="{C509D7C0-13F5-406E-B9C4-60F3D7663847}"/>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Foreign keys connect project ownership, datasets, experiments and their training evidence.</a:t>
            </a:r>
          </a:p>
        </p:txBody>
      </p:sp>
      <p:sp>
        <p:nvSpPr>
          <p:cNvPr id="4" name="Rectangle 3">
            <a:extLst>
              <a:ext uri="{FF2B5EF4-FFF2-40B4-BE49-F238E27FC236}">
                <a16:creationId xmlns:a16="http://schemas.microsoft.com/office/drawing/2014/main" id="{FA180948-50B7-4A31-9FC7-1A9369FE8DE8}"/>
              </a:ext>
            </a:extLst>
          </p:cNvPr>
          <p:cNvSpPr>
            <a:spLocks noGrp="1"/>
          </p:cNvSpPr>
          <p:nvPr/>
        </p:nvSpPr>
        <p:spPr>
          <a:xfrm>
            <a:off x="666750" y="2514600"/>
            <a:ext cx="3095625" cy="219075"/>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IDENTITY</a:t>
            </a:r>
          </a:p>
        </p:txBody>
      </p:sp>
      <p:sp>
        <p:nvSpPr>
          <p:cNvPr id="5" name="Straight Connector 4">
            <a:extLst>
              <a:ext uri="{FF2B5EF4-FFF2-40B4-BE49-F238E27FC236}">
                <a16:creationId xmlns:a16="http://schemas.microsoft.com/office/drawing/2014/main" id="{390FDE6C-4C12-4234-A05B-FF61602D1866}"/>
              </a:ext>
            </a:extLst>
          </p:cNvPr>
          <p:cNvSpPr>
            <a:spLocks noGrp="1"/>
          </p:cNvSpPr>
          <p:nvPr/>
        </p:nvSpPr>
        <p:spPr>
          <a:xfrm>
            <a:off x="666750" y="2828925"/>
            <a:ext cx="3095625" cy="0"/>
          </a:xfrm>
          <a:prstGeom prst="line">
            <a:avLst/>
          </a:prstGeom>
          <a:noFill/>
          <a:ln w="19050">
            <a:solidFill>
              <a:srgbClr val="D4DBD0"/>
            </a:solidFill>
            <a:prstDash val="solid"/>
          </a:ln>
        </p:spPr>
      </p:sp>
      <p:sp>
        <p:nvSpPr>
          <p:cNvPr id="6" name="Rectangle 5">
            <a:extLst>
              <a:ext uri="{FF2B5EF4-FFF2-40B4-BE49-F238E27FC236}">
                <a16:creationId xmlns:a16="http://schemas.microsoft.com/office/drawing/2014/main" id="{6CFD99B5-858A-4E87-A2F7-F81A988895E0}"/>
              </a:ext>
            </a:extLst>
          </p:cNvPr>
          <p:cNvSpPr>
            <a:spLocks noGrp="1"/>
          </p:cNvSpPr>
          <p:nvPr/>
        </p:nvSpPr>
        <p:spPr>
          <a:xfrm>
            <a:off x="666750" y="2990850"/>
            <a:ext cx="3095625" cy="8382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users</a:t>
            </a:r>
          </a:p>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project_members</a:t>
            </a:r>
          </a:p>
        </p:txBody>
      </p:sp>
      <p:sp>
        <p:nvSpPr>
          <p:cNvPr id="7" name="Rectangle 6">
            <a:extLst>
              <a:ext uri="{FF2B5EF4-FFF2-40B4-BE49-F238E27FC236}">
                <a16:creationId xmlns:a16="http://schemas.microsoft.com/office/drawing/2014/main" id="{98A9B713-F5AC-446A-93D4-9C74B162E4FA}"/>
              </a:ext>
            </a:extLst>
          </p:cNvPr>
          <p:cNvSpPr>
            <a:spLocks noGrp="1"/>
          </p:cNvSpPr>
          <p:nvPr/>
        </p:nvSpPr>
        <p:spPr>
          <a:xfrm>
            <a:off x="4552950" y="2514600"/>
            <a:ext cx="3095625" cy="219075"/>
          </a:xfrm>
          <a:prstGeom prst="rect">
            <a:avLst/>
          </a:prstGeom>
          <a:noFill/>
          <a:ln w="0">
            <a:noFill/>
            <a:prstDash val="solid"/>
          </a:ln>
        </p:spPr>
        <p:txBody>
          <a:bodyPr wrap="square" lIns="0" tIns="0" rIns="0" bIns="0" anchor="t">
            <a:normAutofit/>
          </a:bodyPr>
          <a:lstStyle>
            <a:defPPr algn="l">
              <a:defRPr sz="1050" b="1">
                <a:solidFill>
                  <a:srgbClr val="E79B54"/>
                </a:solidFill>
                <a:latin typeface="Arial"/>
                <a:ea typeface="Arial"/>
                <a:cs typeface="Arial"/>
              </a:defRPr>
            </a:defPPr>
          </a:lstStyle>
          <a:p>
            <a:pPr algn="l">
              <a:lnSpc>
                <a:spcPct val="105000"/>
              </a:lnSpc>
              <a:buNone/>
              <a:defRPr sz="1050" b="1">
                <a:solidFill>
                  <a:srgbClr val="E79B54"/>
                </a:solidFill>
                <a:latin typeface="Arial"/>
                <a:ea typeface="Arial"/>
                <a:cs typeface="Arial"/>
              </a:defRPr>
            </a:pPr>
            <a:r>
              <a:rPr sz="1050" b="1">
                <a:solidFill>
                  <a:srgbClr val="E79B54"/>
                </a:solidFill>
                <a:latin typeface="Arial"/>
                <a:ea typeface="Arial"/>
                <a:cs typeface="Arial"/>
              </a:rPr>
              <a:t>PROJECT DATA</a:t>
            </a:r>
          </a:p>
        </p:txBody>
      </p:sp>
      <p:sp>
        <p:nvSpPr>
          <p:cNvPr id="8" name="Straight Connector 7">
            <a:extLst>
              <a:ext uri="{FF2B5EF4-FFF2-40B4-BE49-F238E27FC236}">
                <a16:creationId xmlns:a16="http://schemas.microsoft.com/office/drawing/2014/main" id="{1537C29C-52AE-4D01-9F68-8B18E1C26CF5}"/>
              </a:ext>
            </a:extLst>
          </p:cNvPr>
          <p:cNvSpPr>
            <a:spLocks noGrp="1"/>
          </p:cNvSpPr>
          <p:nvPr/>
        </p:nvSpPr>
        <p:spPr>
          <a:xfrm>
            <a:off x="4552950" y="2828925"/>
            <a:ext cx="3095625" cy="0"/>
          </a:xfrm>
          <a:prstGeom prst="line">
            <a:avLst/>
          </a:prstGeom>
          <a:noFill/>
          <a:ln w="19050">
            <a:solidFill>
              <a:srgbClr val="D4DBD0"/>
            </a:solidFill>
            <a:prstDash val="solid"/>
          </a:ln>
        </p:spPr>
      </p:sp>
      <p:sp>
        <p:nvSpPr>
          <p:cNvPr id="9" name="Rectangle 8">
            <a:extLst>
              <a:ext uri="{FF2B5EF4-FFF2-40B4-BE49-F238E27FC236}">
                <a16:creationId xmlns:a16="http://schemas.microsoft.com/office/drawing/2014/main" id="{B07700CE-F4ED-448A-A791-BFBD34F6B721}"/>
              </a:ext>
            </a:extLst>
          </p:cNvPr>
          <p:cNvSpPr>
            <a:spLocks noGrp="1"/>
          </p:cNvSpPr>
          <p:nvPr/>
        </p:nvSpPr>
        <p:spPr>
          <a:xfrm>
            <a:off x="4552950" y="2990850"/>
            <a:ext cx="3095625" cy="8382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projects</a:t>
            </a:r>
          </a:p>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datasets</a:t>
            </a:r>
          </a:p>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dataset_columns</a:t>
            </a:r>
          </a:p>
        </p:txBody>
      </p:sp>
      <p:sp>
        <p:nvSpPr>
          <p:cNvPr id="10" name="Rectangle 9">
            <a:extLst>
              <a:ext uri="{FF2B5EF4-FFF2-40B4-BE49-F238E27FC236}">
                <a16:creationId xmlns:a16="http://schemas.microsoft.com/office/drawing/2014/main" id="{21CDB440-FBA5-48D3-99CD-6AFF8C180C66}"/>
              </a:ext>
            </a:extLst>
          </p:cNvPr>
          <p:cNvSpPr>
            <a:spLocks noGrp="1"/>
          </p:cNvSpPr>
          <p:nvPr/>
        </p:nvSpPr>
        <p:spPr>
          <a:xfrm>
            <a:off x="8429625" y="2514600"/>
            <a:ext cx="3095625" cy="219075"/>
          </a:xfrm>
          <a:prstGeom prst="rect">
            <a:avLst/>
          </a:prstGeom>
          <a:noFill/>
          <a:ln w="0">
            <a:noFill/>
            <a:prstDash val="solid"/>
          </a:ln>
        </p:spPr>
        <p:txBody>
          <a:bodyPr wrap="square" lIns="0" tIns="0" rIns="0" bIns="0" anchor="t">
            <a:normAutofit/>
          </a:bodyPr>
          <a:lstStyle>
            <a:defPPr algn="l">
              <a:defRPr sz="1050" b="1">
                <a:solidFill>
                  <a:srgbClr val="678ED4"/>
                </a:solidFill>
                <a:latin typeface="Arial"/>
                <a:ea typeface="Arial"/>
                <a:cs typeface="Arial"/>
              </a:defRPr>
            </a:defPPr>
          </a:lstStyle>
          <a:p>
            <a:pPr algn="l">
              <a:lnSpc>
                <a:spcPct val="105000"/>
              </a:lnSpc>
              <a:buNone/>
              <a:defRPr sz="1050" b="1">
                <a:solidFill>
                  <a:srgbClr val="678ED4"/>
                </a:solidFill>
                <a:latin typeface="Arial"/>
                <a:ea typeface="Arial"/>
                <a:cs typeface="Arial"/>
              </a:defRPr>
            </a:pPr>
            <a:r>
              <a:rPr sz="1050" b="1">
                <a:solidFill>
                  <a:srgbClr val="678ED4"/>
                </a:solidFill>
                <a:latin typeface="Arial"/>
                <a:ea typeface="Arial"/>
                <a:cs typeface="Arial"/>
              </a:rPr>
              <a:t>MODEL EVIDENCE</a:t>
            </a:r>
          </a:p>
        </p:txBody>
      </p:sp>
      <p:sp>
        <p:nvSpPr>
          <p:cNvPr id="11" name="Straight Connector 10">
            <a:extLst>
              <a:ext uri="{FF2B5EF4-FFF2-40B4-BE49-F238E27FC236}">
                <a16:creationId xmlns:a16="http://schemas.microsoft.com/office/drawing/2014/main" id="{5494F47A-75A5-4523-B768-B84666388C38}"/>
              </a:ext>
            </a:extLst>
          </p:cNvPr>
          <p:cNvSpPr>
            <a:spLocks noGrp="1"/>
          </p:cNvSpPr>
          <p:nvPr/>
        </p:nvSpPr>
        <p:spPr>
          <a:xfrm>
            <a:off x="8429625" y="2828925"/>
            <a:ext cx="3095625" cy="0"/>
          </a:xfrm>
          <a:prstGeom prst="line">
            <a:avLst/>
          </a:prstGeom>
          <a:noFill/>
          <a:ln w="19050">
            <a:solidFill>
              <a:srgbClr val="D4DBD0"/>
            </a:solidFill>
            <a:prstDash val="solid"/>
          </a:ln>
        </p:spPr>
      </p:sp>
      <p:sp>
        <p:nvSpPr>
          <p:cNvPr id="12" name="Rectangle 11">
            <a:extLst>
              <a:ext uri="{FF2B5EF4-FFF2-40B4-BE49-F238E27FC236}">
                <a16:creationId xmlns:a16="http://schemas.microsoft.com/office/drawing/2014/main" id="{5231E288-02C5-403F-846D-15377B7C7811}"/>
              </a:ext>
            </a:extLst>
          </p:cNvPr>
          <p:cNvSpPr>
            <a:spLocks noGrp="1"/>
          </p:cNvSpPr>
          <p:nvPr/>
        </p:nvSpPr>
        <p:spPr>
          <a:xfrm>
            <a:off x="8429625" y="2990850"/>
            <a:ext cx="3095625" cy="8382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experiments</a:t>
            </a:r>
          </a:p>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training_runs</a:t>
            </a:r>
          </a:p>
          <a:p>
            <a:pPr algn="l">
              <a:lnSpc>
                <a:spcPct val="110000"/>
              </a:lnSpc>
              <a:buNone/>
              <a:defRPr sz="1575" b="1">
                <a:solidFill>
                  <a:srgbClr val="14241F"/>
                </a:solidFill>
                <a:latin typeface="Arial"/>
                <a:ea typeface="Arial"/>
                <a:cs typeface="Arial"/>
              </a:defRPr>
            </a:pPr>
            <a:r>
              <a:rPr sz="1575" b="1">
                <a:solidFill>
                  <a:srgbClr val="14241F"/>
                </a:solidFill>
                <a:latin typeface="Arial"/>
                <a:ea typeface="Arial"/>
                <a:cs typeface="Arial"/>
              </a:rPr>
              <a:t>run_metrics + run_logs</a:t>
            </a:r>
          </a:p>
        </p:txBody>
      </p:sp>
      <p:cxnSp>
        <p:nvCxnSpPr>
          <p:cNvPr id="13" name="Connector: Elbow 12">
            <a:extLst>
              <a:ext uri="{FF2B5EF4-FFF2-40B4-BE49-F238E27FC236}">
                <a16:creationId xmlns:a16="http://schemas.microsoft.com/office/drawing/2014/main" id="{3BC3ABBC-74D6-4AE0-8282-0B964C2F9AF4}"/>
              </a:ext>
            </a:extLst>
          </p:cNvPr>
          <p:cNvCxnSpPr/>
          <p:nvPr/>
        </p:nvCxnSpPr>
        <p:spPr>
          <a:xfrm>
            <a:off x="3819525" y="3057525"/>
            <a:ext cx="590550" cy="0"/>
          </a:xfrm>
          <a:prstGeom prst="bentConnector4">
            <a:avLst/>
          </a:prstGeom>
          <a:ln w="19050">
            <a:solidFill>
              <a:srgbClr val="148A78"/>
            </a:solidFill>
            <a:prstDash val="solid"/>
            <a:tailEnd type="arrow" w="med" len="med"/>
          </a:ln>
        </p:spPr>
      </p:cxnSp>
      <p:cxnSp>
        <p:nvCxnSpPr>
          <p:cNvPr id="14" name="Connector: Elbow 13">
            <a:extLst>
              <a:ext uri="{FF2B5EF4-FFF2-40B4-BE49-F238E27FC236}">
                <a16:creationId xmlns:a16="http://schemas.microsoft.com/office/drawing/2014/main" id="{BC17ED1D-A352-4D73-BD6D-B6D6955D605A}"/>
              </a:ext>
            </a:extLst>
          </p:cNvPr>
          <p:cNvCxnSpPr/>
          <p:nvPr/>
        </p:nvCxnSpPr>
        <p:spPr>
          <a:xfrm>
            <a:off x="7705725" y="3057525"/>
            <a:ext cx="581025" cy="0"/>
          </a:xfrm>
          <a:prstGeom prst="bentConnector4">
            <a:avLst/>
          </a:prstGeom>
          <a:ln w="19050">
            <a:solidFill>
              <a:srgbClr val="148A78"/>
            </a:solidFill>
            <a:prstDash val="solid"/>
            <a:tailEnd type="arrow" w="med" len="med"/>
          </a:ln>
        </p:spPr>
      </p:cxnSp>
      <p:sp>
        <p:nvSpPr>
          <p:cNvPr id="15" name="Rectangle 14">
            <a:extLst>
              <a:ext uri="{FF2B5EF4-FFF2-40B4-BE49-F238E27FC236}">
                <a16:creationId xmlns:a16="http://schemas.microsoft.com/office/drawing/2014/main" id="{2313B641-34D8-4246-BE93-9B601177B123}"/>
              </a:ext>
            </a:extLst>
          </p:cNvPr>
          <p:cNvSpPr>
            <a:spLocks noGrp="1"/>
          </p:cNvSpPr>
          <p:nvPr/>
        </p:nvSpPr>
        <p:spPr>
          <a:xfrm>
            <a:off x="685800" y="4305300"/>
            <a:ext cx="2428875" cy="228600"/>
          </a:xfrm>
          <a:prstGeom prst="rect">
            <a:avLst/>
          </a:prstGeom>
          <a:noFill/>
          <a:ln w="0">
            <a:noFill/>
            <a:prstDash val="solid"/>
          </a:ln>
        </p:spPr>
        <p:txBody>
          <a:bodyPr wrap="square" lIns="0" tIns="0" rIns="0" bIns="0" anchor="t">
            <a:normAutofit/>
          </a:bodyPr>
          <a:lstStyle>
            <a:defPPr algn="l">
              <a:defRPr sz="1050" b="1">
                <a:solidFill>
                  <a:srgbClr val="62736B"/>
                </a:solidFill>
                <a:latin typeface="Arial"/>
                <a:ea typeface="Arial"/>
                <a:cs typeface="Arial"/>
              </a:defRPr>
            </a:defPPr>
          </a:lstStyle>
          <a:p>
            <a:pPr algn="l">
              <a:lnSpc>
                <a:spcPct val="105000"/>
              </a:lnSpc>
              <a:buNone/>
              <a:defRPr sz="1050" b="1">
                <a:solidFill>
                  <a:srgbClr val="62736B"/>
                </a:solidFill>
                <a:latin typeface="Arial"/>
                <a:ea typeface="Arial"/>
                <a:cs typeface="Arial"/>
              </a:defRPr>
            </a:pPr>
            <a:r>
              <a:rPr sz="1050" b="1">
                <a:solidFill>
                  <a:srgbClr val="62736B"/>
                </a:solidFill>
                <a:latin typeface="Arial"/>
                <a:ea typeface="Arial"/>
                <a:cs typeface="Arial"/>
              </a:rPr>
              <a:t>Additional records</a:t>
            </a:r>
          </a:p>
        </p:txBody>
      </p:sp>
      <p:sp>
        <p:nvSpPr>
          <p:cNvPr id="16" name="Rectangle 15">
            <a:extLst>
              <a:ext uri="{FF2B5EF4-FFF2-40B4-BE49-F238E27FC236}">
                <a16:creationId xmlns:a16="http://schemas.microsoft.com/office/drawing/2014/main" id="{229CE834-577C-4F12-B478-AA407C510ECA}"/>
              </a:ext>
            </a:extLst>
          </p:cNvPr>
          <p:cNvSpPr>
            <a:spLocks noGrp="1"/>
          </p:cNvSpPr>
          <p:nvPr/>
        </p:nvSpPr>
        <p:spPr>
          <a:xfrm>
            <a:off x="685800" y="4695825"/>
            <a:ext cx="209550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resources</a:t>
            </a:r>
          </a:p>
        </p:txBody>
      </p:sp>
      <p:sp>
        <p:nvSpPr>
          <p:cNvPr id="17" name="Rectangle 16">
            <a:extLst>
              <a:ext uri="{FF2B5EF4-FFF2-40B4-BE49-F238E27FC236}">
                <a16:creationId xmlns:a16="http://schemas.microsoft.com/office/drawing/2014/main" id="{56AD6D56-E84C-4A78-AE6C-FD7898DC84BF}"/>
              </a:ext>
            </a:extLst>
          </p:cNvPr>
          <p:cNvSpPr>
            <a:spLocks noGrp="1"/>
          </p:cNvSpPr>
          <p:nvPr/>
        </p:nvSpPr>
        <p:spPr>
          <a:xfrm>
            <a:off x="3429000" y="4695825"/>
            <a:ext cx="228600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usage_records</a:t>
            </a:r>
          </a:p>
        </p:txBody>
      </p:sp>
      <p:sp>
        <p:nvSpPr>
          <p:cNvPr id="18" name="Rectangle 17">
            <a:extLst>
              <a:ext uri="{FF2B5EF4-FFF2-40B4-BE49-F238E27FC236}">
                <a16:creationId xmlns:a16="http://schemas.microsoft.com/office/drawing/2014/main" id="{9A10E35D-BBB7-46E8-A35F-F6C5CDC385B6}"/>
              </a:ext>
            </a:extLst>
          </p:cNvPr>
          <p:cNvSpPr>
            <a:spLocks noGrp="1"/>
          </p:cNvSpPr>
          <p:nvPr/>
        </p:nvSpPr>
        <p:spPr>
          <a:xfrm>
            <a:off x="6286500" y="4695825"/>
            <a:ext cx="2286000" cy="304800"/>
          </a:xfrm>
          <a:prstGeom prst="rect">
            <a:avLst/>
          </a:prstGeom>
          <a:noFill/>
          <a:ln w="0">
            <a:noFill/>
            <a:prstDash val="solid"/>
          </a:ln>
        </p:spPr>
        <p:txBody>
          <a:bodyPr wrap="square" lIns="0" tIns="0" rIns="0" bIns="0" anchor="t">
            <a:normAutofit/>
          </a:bodyPr>
          <a:lstStyle>
            <a:defPPr algn="l">
              <a:defRPr sz="1575" b="1">
                <a:solidFill>
                  <a:srgbClr val="14241F"/>
                </a:solidFill>
                <a:latin typeface="Arial"/>
                <a:ea typeface="Arial"/>
                <a:cs typeface="Arial"/>
              </a:defRPr>
            </a:defPPr>
          </a:lstStyle>
          <a:p>
            <a:pPr algn="l">
              <a:lnSpc>
                <a:spcPct val="105000"/>
              </a:lnSpc>
              <a:buNone/>
              <a:defRPr sz="1575" b="1">
                <a:solidFill>
                  <a:srgbClr val="14241F"/>
                </a:solidFill>
                <a:latin typeface="Arial"/>
                <a:ea typeface="Arial"/>
                <a:cs typeface="Arial"/>
              </a:defRPr>
            </a:pPr>
            <a:r>
              <a:rPr sz="1575" b="1">
                <a:solidFill>
                  <a:srgbClr val="14241F"/>
                </a:solidFill>
                <a:latin typeface="Arial"/>
                <a:ea typeface="Arial"/>
                <a:cs typeface="Arial"/>
              </a:rPr>
              <a:t>Activity log</a:t>
            </a:r>
          </a:p>
        </p:txBody>
      </p:sp>
      <p:sp>
        <p:nvSpPr>
          <p:cNvPr id="19" name="Straight Connector 18">
            <a:extLst>
              <a:ext uri="{FF2B5EF4-FFF2-40B4-BE49-F238E27FC236}">
                <a16:creationId xmlns:a16="http://schemas.microsoft.com/office/drawing/2014/main" id="{C7FC8DB5-71A4-4413-873C-FFFA0B04C44B}"/>
              </a:ext>
            </a:extLst>
          </p:cNvPr>
          <p:cNvSpPr>
            <a:spLocks noGrp="1"/>
          </p:cNvSpPr>
          <p:nvPr/>
        </p:nvSpPr>
        <p:spPr>
          <a:xfrm>
            <a:off x="685800" y="5162550"/>
            <a:ext cx="10801350" cy="0"/>
          </a:xfrm>
          <a:prstGeom prst="line">
            <a:avLst/>
          </a:prstGeom>
          <a:noFill/>
          <a:ln w="9525">
            <a:solidFill>
              <a:srgbClr val="D4DBD0"/>
            </a:solidFill>
            <a:prstDash val="solid"/>
          </a:ln>
        </p:spPr>
      </p:sp>
      <p:sp>
        <p:nvSpPr>
          <p:cNvPr id="20" name="Rectangle 19">
            <a:extLst>
              <a:ext uri="{FF2B5EF4-FFF2-40B4-BE49-F238E27FC236}">
                <a16:creationId xmlns:a16="http://schemas.microsoft.com/office/drawing/2014/main" id="{0A4DE728-440C-4D33-B8E1-62D2E767A7F2}"/>
              </a:ext>
            </a:extLst>
          </p:cNvPr>
          <p:cNvSpPr>
            <a:spLocks noGrp="1"/>
          </p:cNvSpPr>
          <p:nvPr/>
        </p:nvSpPr>
        <p:spPr>
          <a:xfrm>
            <a:off x="685800" y="5438775"/>
            <a:ext cx="10668000" cy="30480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Prepared JDBC statements  /  foreign keys  /  transactions for multi-step changes</a:t>
            </a:r>
          </a:p>
        </p:txBody>
      </p:sp>
    </p:spTree>
    <p:extLst>
      <p:ext uri="{BB962C8B-B14F-4D97-AF65-F5344CB8AC3E}">
        <p14:creationId xmlns:p14="http://schemas.microsoft.com/office/powerpoint/2010/main" val="1952839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005AAD7-64F2-405D-8BDB-3F194036DA40}"/>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12 / TRUST AND OPERATING BOUNDARIES</a:t>
            </a:r>
          </a:p>
        </p:txBody>
      </p:sp>
      <p:sp>
        <p:nvSpPr>
          <p:cNvPr id="2" name="Rectangle 1">
            <a:extLst>
              <a:ext uri="{FF2B5EF4-FFF2-40B4-BE49-F238E27FC236}">
                <a16:creationId xmlns:a16="http://schemas.microsoft.com/office/drawing/2014/main" id="{5B00CF2A-8C70-4144-BECD-D743DBB0CA22}"/>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fontScale="94208"/>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The demo runs locally; remote options require explicit setup</a:t>
            </a:r>
          </a:p>
        </p:txBody>
      </p:sp>
      <p:sp>
        <p:nvSpPr>
          <p:cNvPr id="3" name="Rectangle 2">
            <a:extLst>
              <a:ext uri="{FF2B5EF4-FFF2-40B4-BE49-F238E27FC236}">
                <a16:creationId xmlns:a16="http://schemas.microsoft.com/office/drawing/2014/main" id="{EC406CF3-35C2-48F1-8926-15E09A8BDC62}"/>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DataHive distinguishes what the app does today from infrastructure it does not manage.</a:t>
            </a:r>
          </a:p>
        </p:txBody>
      </p:sp>
      <p:sp>
        <p:nvSpPr>
          <p:cNvPr id="4" name="Rectangle 3">
            <a:extLst>
              <a:ext uri="{FF2B5EF4-FFF2-40B4-BE49-F238E27FC236}">
                <a16:creationId xmlns:a16="http://schemas.microsoft.com/office/drawing/2014/main" id="{8B009378-D26A-4162-BCA1-8B0DB85B6E6F}"/>
              </a:ext>
            </a:extLst>
          </p:cNvPr>
          <p:cNvSpPr>
            <a:spLocks noGrp="1"/>
          </p:cNvSpPr>
          <p:nvPr/>
        </p:nvSpPr>
        <p:spPr>
          <a:xfrm>
            <a:off x="723900" y="2333625"/>
            <a:ext cx="4572000" cy="266700"/>
          </a:xfrm>
          <a:prstGeom prst="rect">
            <a:avLst/>
          </a:prstGeom>
          <a:noFill/>
          <a:ln w="0">
            <a:noFill/>
            <a:prstDash val="solid"/>
          </a:ln>
        </p:spPr>
        <p:txBody>
          <a:bodyPr wrap="square" lIns="0" tIns="0" rIns="0" bIns="0" anchor="t">
            <a:normAutofit/>
          </a:bodyPr>
          <a:lstStyle>
            <a:defPPr algn="l">
              <a:defRPr sz="1125" b="1">
                <a:solidFill>
                  <a:srgbClr val="148A78"/>
                </a:solidFill>
                <a:latin typeface="Arial"/>
                <a:ea typeface="Arial"/>
                <a:cs typeface="Arial"/>
              </a:defRPr>
            </a:defPPr>
          </a:lstStyle>
          <a:p>
            <a:pPr algn="l">
              <a:lnSpc>
                <a:spcPct val="105000"/>
              </a:lnSpc>
              <a:buNone/>
              <a:defRPr sz="1125" b="1">
                <a:solidFill>
                  <a:srgbClr val="148A78"/>
                </a:solidFill>
                <a:latin typeface="Arial"/>
                <a:ea typeface="Arial"/>
                <a:cs typeface="Arial"/>
              </a:defRPr>
            </a:pPr>
            <a:r>
              <a:rPr sz="1125" b="1">
                <a:solidFill>
                  <a:srgbClr val="148A78"/>
                </a:solidFill>
                <a:latin typeface="Arial"/>
                <a:ea typeface="Arial"/>
                <a:cs typeface="Arial"/>
              </a:rPr>
              <a:t>IN THE LOCAL WORKFLOW</a:t>
            </a:r>
          </a:p>
        </p:txBody>
      </p:sp>
      <p:sp>
        <p:nvSpPr>
          <p:cNvPr id="5" name="Rectangle 4">
            <a:extLst>
              <a:ext uri="{FF2B5EF4-FFF2-40B4-BE49-F238E27FC236}">
                <a16:creationId xmlns:a16="http://schemas.microsoft.com/office/drawing/2014/main" id="{F25D0F94-6511-4BD2-9DA8-E769FF740100}"/>
              </a:ext>
            </a:extLst>
          </p:cNvPr>
          <p:cNvSpPr>
            <a:spLocks noGrp="1"/>
          </p:cNvSpPr>
          <p:nvPr/>
        </p:nvSpPr>
        <p:spPr>
          <a:xfrm>
            <a:off x="723900" y="2800350"/>
            <a:ext cx="285750" cy="247650"/>
          </a:xfrm>
          <a:prstGeom prst="rect">
            <a:avLst/>
          </a:prstGeom>
          <a:noFill/>
          <a:ln w="0">
            <a:noFill/>
            <a:prstDash val="solid"/>
          </a:ln>
        </p:spPr>
        <p:txBody>
          <a:bodyPr wrap="square" lIns="0" tIns="0" rIns="0" bIns="0" anchor="t">
            <a:normAutofit fontScale="85979"/>
          </a:bodyPr>
          <a:lstStyle>
            <a:defPPr algn="l">
              <a:defRPr sz="1800" b="1">
                <a:solidFill>
                  <a:srgbClr val="148A78"/>
                </a:solidFill>
                <a:latin typeface="Arial"/>
                <a:ea typeface="Arial"/>
                <a:cs typeface="Arial"/>
              </a:defRPr>
            </a:defPPr>
          </a:lstStyle>
          <a:p>
            <a:pPr algn="l">
              <a:lnSpc>
                <a:spcPct val="105000"/>
              </a:lnSpc>
              <a:buNone/>
              <a:defRPr sz="1800" b="1">
                <a:solidFill>
                  <a:srgbClr val="148A78"/>
                </a:solidFill>
                <a:latin typeface="Arial"/>
                <a:ea typeface="Arial"/>
                <a:cs typeface="Arial"/>
              </a:defRPr>
            </a:pPr>
            <a:r>
              <a:rPr sz="1800" b="1">
                <a:solidFill>
                  <a:srgbClr val="148A78"/>
                </a:solidFill>
                <a:latin typeface="Arial"/>
                <a:ea typeface="Arial"/>
                <a:cs typeface="Arial"/>
              </a:rPr>
              <a:t>+</a:t>
            </a:r>
          </a:p>
        </p:txBody>
      </p:sp>
      <p:sp>
        <p:nvSpPr>
          <p:cNvPr id="6" name="Rectangle 5">
            <a:extLst>
              <a:ext uri="{FF2B5EF4-FFF2-40B4-BE49-F238E27FC236}">
                <a16:creationId xmlns:a16="http://schemas.microsoft.com/office/drawing/2014/main" id="{5FC8A5A3-3FD9-4D0E-AFD6-B1EE38719BC3}"/>
              </a:ext>
            </a:extLst>
          </p:cNvPr>
          <p:cNvSpPr>
            <a:spLocks noGrp="1"/>
          </p:cNvSpPr>
          <p:nvPr/>
        </p:nvSpPr>
        <p:spPr>
          <a:xfrm>
            <a:off x="1095375" y="2781300"/>
            <a:ext cx="4714875" cy="4191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H2 database and CSV files stay on the server</a:t>
            </a:r>
          </a:p>
        </p:txBody>
      </p:sp>
      <p:sp>
        <p:nvSpPr>
          <p:cNvPr id="7" name="Rectangle 6">
            <a:extLst>
              <a:ext uri="{FF2B5EF4-FFF2-40B4-BE49-F238E27FC236}">
                <a16:creationId xmlns:a16="http://schemas.microsoft.com/office/drawing/2014/main" id="{75674824-413F-4F1A-828C-CD17C11532ED}"/>
              </a:ext>
            </a:extLst>
          </p:cNvPr>
          <p:cNvSpPr>
            <a:spLocks noGrp="1"/>
          </p:cNvSpPr>
          <p:nvPr/>
        </p:nvSpPr>
        <p:spPr>
          <a:xfrm>
            <a:off x="723900" y="3314700"/>
            <a:ext cx="285750" cy="247650"/>
          </a:xfrm>
          <a:prstGeom prst="rect">
            <a:avLst/>
          </a:prstGeom>
          <a:noFill/>
          <a:ln w="0">
            <a:noFill/>
            <a:prstDash val="solid"/>
          </a:ln>
        </p:spPr>
        <p:txBody>
          <a:bodyPr wrap="square" lIns="0" tIns="0" rIns="0" bIns="0" anchor="t">
            <a:normAutofit fontScale="85979"/>
          </a:bodyPr>
          <a:lstStyle>
            <a:defPPr algn="l">
              <a:defRPr sz="1800" b="1">
                <a:solidFill>
                  <a:srgbClr val="148A78"/>
                </a:solidFill>
                <a:latin typeface="Arial"/>
                <a:ea typeface="Arial"/>
                <a:cs typeface="Arial"/>
              </a:defRPr>
            </a:defPPr>
          </a:lstStyle>
          <a:p>
            <a:pPr algn="l">
              <a:lnSpc>
                <a:spcPct val="105000"/>
              </a:lnSpc>
              <a:buNone/>
              <a:defRPr sz="1800" b="1">
                <a:solidFill>
                  <a:srgbClr val="148A78"/>
                </a:solidFill>
                <a:latin typeface="Arial"/>
                <a:ea typeface="Arial"/>
                <a:cs typeface="Arial"/>
              </a:defRPr>
            </a:pPr>
            <a:r>
              <a:rPr sz="1800" b="1">
                <a:solidFill>
                  <a:srgbClr val="148A78"/>
                </a:solidFill>
                <a:latin typeface="Arial"/>
                <a:ea typeface="Arial"/>
                <a:cs typeface="Arial"/>
              </a:rPr>
              <a:t>+</a:t>
            </a:r>
          </a:p>
        </p:txBody>
      </p:sp>
      <p:sp>
        <p:nvSpPr>
          <p:cNvPr id="8" name="Rectangle 7">
            <a:extLst>
              <a:ext uri="{FF2B5EF4-FFF2-40B4-BE49-F238E27FC236}">
                <a16:creationId xmlns:a16="http://schemas.microsoft.com/office/drawing/2014/main" id="{EBEB7B35-86F8-4B02-A911-66E7CF6DD818}"/>
              </a:ext>
            </a:extLst>
          </p:cNvPr>
          <p:cNvSpPr>
            <a:spLocks noGrp="1"/>
          </p:cNvSpPr>
          <p:nvPr/>
        </p:nvSpPr>
        <p:spPr>
          <a:xfrm>
            <a:off x="1095375" y="3295650"/>
            <a:ext cx="4714875" cy="4191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Project and role checks gate protected records</a:t>
            </a:r>
          </a:p>
        </p:txBody>
      </p:sp>
      <p:sp>
        <p:nvSpPr>
          <p:cNvPr id="9" name="Rectangle 8">
            <a:extLst>
              <a:ext uri="{FF2B5EF4-FFF2-40B4-BE49-F238E27FC236}">
                <a16:creationId xmlns:a16="http://schemas.microsoft.com/office/drawing/2014/main" id="{D13EEA24-38C5-4B96-AE97-40D43EA120E2}"/>
              </a:ext>
            </a:extLst>
          </p:cNvPr>
          <p:cNvSpPr>
            <a:spLocks noGrp="1"/>
          </p:cNvSpPr>
          <p:nvPr/>
        </p:nvSpPr>
        <p:spPr>
          <a:xfrm>
            <a:off x="723900" y="3829050"/>
            <a:ext cx="285750" cy="247650"/>
          </a:xfrm>
          <a:prstGeom prst="rect">
            <a:avLst/>
          </a:prstGeom>
          <a:noFill/>
          <a:ln w="0">
            <a:noFill/>
            <a:prstDash val="solid"/>
          </a:ln>
        </p:spPr>
        <p:txBody>
          <a:bodyPr wrap="square" lIns="0" tIns="0" rIns="0" bIns="0" anchor="t">
            <a:normAutofit fontScale="85979"/>
          </a:bodyPr>
          <a:lstStyle>
            <a:defPPr algn="l">
              <a:defRPr sz="1800" b="1">
                <a:solidFill>
                  <a:srgbClr val="148A78"/>
                </a:solidFill>
                <a:latin typeface="Arial"/>
                <a:ea typeface="Arial"/>
                <a:cs typeface="Arial"/>
              </a:defRPr>
            </a:defPPr>
          </a:lstStyle>
          <a:p>
            <a:pPr algn="l">
              <a:lnSpc>
                <a:spcPct val="105000"/>
              </a:lnSpc>
              <a:buNone/>
              <a:defRPr sz="1800" b="1">
                <a:solidFill>
                  <a:srgbClr val="148A78"/>
                </a:solidFill>
                <a:latin typeface="Arial"/>
                <a:ea typeface="Arial"/>
                <a:cs typeface="Arial"/>
              </a:defRPr>
            </a:pPr>
            <a:r>
              <a:rPr sz="1800" b="1">
                <a:solidFill>
                  <a:srgbClr val="148A78"/>
                </a:solidFill>
                <a:latin typeface="Arial"/>
                <a:ea typeface="Arial"/>
                <a:cs typeface="Arial"/>
              </a:rPr>
              <a:t>+</a:t>
            </a:r>
          </a:p>
        </p:txBody>
      </p:sp>
      <p:sp>
        <p:nvSpPr>
          <p:cNvPr id="10" name="Rectangle 9">
            <a:extLst>
              <a:ext uri="{FF2B5EF4-FFF2-40B4-BE49-F238E27FC236}">
                <a16:creationId xmlns:a16="http://schemas.microsoft.com/office/drawing/2014/main" id="{5FF0C604-8AFD-4D7C-A335-273CDB29BFE3}"/>
              </a:ext>
            </a:extLst>
          </p:cNvPr>
          <p:cNvSpPr>
            <a:spLocks noGrp="1"/>
          </p:cNvSpPr>
          <p:nvPr/>
        </p:nvSpPr>
        <p:spPr>
          <a:xfrm>
            <a:off x="1095375" y="3810000"/>
            <a:ext cx="4714875" cy="4191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Training uses a bounded CPU worker</a:t>
            </a:r>
          </a:p>
        </p:txBody>
      </p:sp>
      <p:sp>
        <p:nvSpPr>
          <p:cNvPr id="11" name="Rectangle 10">
            <a:extLst>
              <a:ext uri="{FF2B5EF4-FFF2-40B4-BE49-F238E27FC236}">
                <a16:creationId xmlns:a16="http://schemas.microsoft.com/office/drawing/2014/main" id="{53ED497A-931F-403A-9883-CE00E2B421E9}"/>
              </a:ext>
            </a:extLst>
          </p:cNvPr>
          <p:cNvSpPr>
            <a:spLocks noGrp="1"/>
          </p:cNvSpPr>
          <p:nvPr/>
        </p:nvSpPr>
        <p:spPr>
          <a:xfrm>
            <a:off x="723900" y="4343400"/>
            <a:ext cx="285750" cy="247650"/>
          </a:xfrm>
          <a:prstGeom prst="rect">
            <a:avLst/>
          </a:prstGeom>
          <a:noFill/>
          <a:ln w="0">
            <a:noFill/>
            <a:prstDash val="solid"/>
          </a:ln>
        </p:spPr>
        <p:txBody>
          <a:bodyPr wrap="square" lIns="0" tIns="0" rIns="0" bIns="0" anchor="t">
            <a:normAutofit fontScale="85979"/>
          </a:bodyPr>
          <a:lstStyle>
            <a:defPPr algn="l">
              <a:defRPr sz="1800" b="1">
                <a:solidFill>
                  <a:srgbClr val="148A78"/>
                </a:solidFill>
                <a:latin typeface="Arial"/>
                <a:ea typeface="Arial"/>
                <a:cs typeface="Arial"/>
              </a:defRPr>
            </a:defPPr>
          </a:lstStyle>
          <a:p>
            <a:pPr algn="l">
              <a:lnSpc>
                <a:spcPct val="105000"/>
              </a:lnSpc>
              <a:buNone/>
              <a:defRPr sz="1800" b="1">
                <a:solidFill>
                  <a:srgbClr val="148A78"/>
                </a:solidFill>
                <a:latin typeface="Arial"/>
                <a:ea typeface="Arial"/>
                <a:cs typeface="Arial"/>
              </a:defRPr>
            </a:pPr>
            <a:r>
              <a:rPr sz="1800" b="1">
                <a:solidFill>
                  <a:srgbClr val="148A78"/>
                </a:solidFill>
                <a:latin typeface="Arial"/>
                <a:ea typeface="Arial"/>
                <a:cs typeface="Arial"/>
              </a:rPr>
              <a:t>+</a:t>
            </a:r>
          </a:p>
        </p:txBody>
      </p:sp>
      <p:sp>
        <p:nvSpPr>
          <p:cNvPr id="12" name="Rectangle 11">
            <a:extLst>
              <a:ext uri="{FF2B5EF4-FFF2-40B4-BE49-F238E27FC236}">
                <a16:creationId xmlns:a16="http://schemas.microsoft.com/office/drawing/2014/main" id="{8B0B16E7-6988-490F-BAA5-6C1C458B873F}"/>
              </a:ext>
            </a:extLst>
          </p:cNvPr>
          <p:cNvSpPr>
            <a:spLocks noGrp="1"/>
          </p:cNvSpPr>
          <p:nvPr/>
        </p:nvSpPr>
        <p:spPr>
          <a:xfrm>
            <a:off x="1095375" y="4324350"/>
            <a:ext cx="4714875" cy="419100"/>
          </a:xfrm>
          <a:prstGeom prst="rect">
            <a:avLst/>
          </a:prstGeom>
          <a:noFill/>
          <a:ln w="0">
            <a:noFill/>
            <a:prstDash val="solid"/>
          </a:ln>
        </p:spPr>
        <p:txBody>
          <a:bodyPr wrap="square" lIns="0" tIns="0" rIns="0" bIns="0" anchor="t">
            <a:normAutofit/>
          </a:bodyPr>
          <a:lstStyle>
            <a:defPPr algn="l">
              <a:defRPr sz="1425" b="0">
                <a:solidFill>
                  <a:srgbClr val="14241F"/>
                </a:solidFill>
                <a:latin typeface="Arial"/>
                <a:ea typeface="Arial"/>
                <a:cs typeface="Arial"/>
              </a:defRPr>
            </a:defPPr>
          </a:lstStyle>
          <a:p>
            <a:pPr algn="l">
              <a:lnSpc>
                <a:spcPct val="105000"/>
              </a:lnSpc>
              <a:buNone/>
              <a:defRPr sz="1425" b="0">
                <a:solidFill>
                  <a:srgbClr val="14241F"/>
                </a:solidFill>
                <a:latin typeface="Arial"/>
                <a:ea typeface="Arial"/>
                <a:cs typeface="Arial"/>
              </a:defRPr>
            </a:pPr>
            <a:r>
              <a:rPr sz="1425" b="0">
                <a:solidFill>
                  <a:srgbClr val="14241F"/>
                </a:solidFill>
                <a:latin typeface="Arial"/>
                <a:ea typeface="Arial"/>
                <a:cs typeface="Arial"/>
              </a:rPr>
              <a:t>The demo dataset is labeled synthetic</a:t>
            </a:r>
          </a:p>
        </p:txBody>
      </p:sp>
      <p:sp>
        <p:nvSpPr>
          <p:cNvPr id="13" name="Straight Connector 12">
            <a:extLst>
              <a:ext uri="{FF2B5EF4-FFF2-40B4-BE49-F238E27FC236}">
                <a16:creationId xmlns:a16="http://schemas.microsoft.com/office/drawing/2014/main" id="{865576A9-4847-49FF-BF20-BE7413189A39}"/>
              </a:ext>
            </a:extLst>
          </p:cNvPr>
          <p:cNvSpPr>
            <a:spLocks noGrp="1"/>
          </p:cNvSpPr>
          <p:nvPr/>
        </p:nvSpPr>
        <p:spPr>
          <a:xfrm>
            <a:off x="5981700" y="2305050"/>
            <a:ext cx="0" cy="2647950"/>
          </a:xfrm>
          <a:prstGeom prst="line">
            <a:avLst/>
          </a:prstGeom>
          <a:noFill/>
          <a:ln w="14288">
            <a:solidFill>
              <a:srgbClr val="D4DBD0"/>
            </a:solidFill>
            <a:prstDash val="solid"/>
          </a:ln>
        </p:spPr>
      </p:sp>
      <p:sp>
        <p:nvSpPr>
          <p:cNvPr id="14" name="Rectangle 13">
            <a:extLst>
              <a:ext uri="{FF2B5EF4-FFF2-40B4-BE49-F238E27FC236}">
                <a16:creationId xmlns:a16="http://schemas.microsoft.com/office/drawing/2014/main" id="{A1686806-632A-4991-A7E6-FCD2DBEA3F7F}"/>
              </a:ext>
            </a:extLst>
          </p:cNvPr>
          <p:cNvSpPr>
            <a:spLocks noGrp="1"/>
          </p:cNvSpPr>
          <p:nvPr/>
        </p:nvSpPr>
        <p:spPr>
          <a:xfrm>
            <a:off x="6343650" y="2333625"/>
            <a:ext cx="4762500" cy="266700"/>
          </a:xfrm>
          <a:prstGeom prst="rect">
            <a:avLst/>
          </a:prstGeom>
          <a:noFill/>
          <a:ln w="0">
            <a:noFill/>
            <a:prstDash val="solid"/>
          </a:ln>
        </p:spPr>
        <p:txBody>
          <a:bodyPr wrap="square" lIns="0" tIns="0" rIns="0" bIns="0" anchor="t">
            <a:normAutofit/>
          </a:bodyPr>
          <a:lstStyle>
            <a:defPPr algn="l">
              <a:defRPr sz="1125" b="1">
                <a:solidFill>
                  <a:srgbClr val="E79B54"/>
                </a:solidFill>
                <a:latin typeface="Arial"/>
                <a:ea typeface="Arial"/>
                <a:cs typeface="Arial"/>
              </a:defRPr>
            </a:defPPr>
          </a:lstStyle>
          <a:p>
            <a:pPr algn="l">
              <a:lnSpc>
                <a:spcPct val="105000"/>
              </a:lnSpc>
              <a:buNone/>
              <a:defRPr sz="1125" b="1">
                <a:solidFill>
                  <a:srgbClr val="E79B54"/>
                </a:solidFill>
                <a:latin typeface="Arial"/>
                <a:ea typeface="Arial"/>
                <a:cs typeface="Arial"/>
              </a:defRPr>
            </a:pPr>
            <a:r>
              <a:rPr sz="1125" b="1">
                <a:solidFill>
                  <a:srgbClr val="E79B54"/>
                </a:solidFill>
                <a:latin typeface="Arial"/>
                <a:ea typeface="Arial"/>
                <a:cs typeface="Arial"/>
              </a:rPr>
              <a:t>OPTIONAL / NOT AUTOMATIC</a:t>
            </a:r>
          </a:p>
        </p:txBody>
      </p:sp>
      <p:sp>
        <p:nvSpPr>
          <p:cNvPr id="15" name="Rectangle 14">
            <a:extLst>
              <a:ext uri="{FF2B5EF4-FFF2-40B4-BE49-F238E27FC236}">
                <a16:creationId xmlns:a16="http://schemas.microsoft.com/office/drawing/2014/main" id="{B3F17FCE-A5B1-4D3C-A74B-D1964DB5EAB3}"/>
              </a:ext>
            </a:extLst>
          </p:cNvPr>
          <p:cNvSpPr>
            <a:spLocks noGrp="1"/>
          </p:cNvSpPr>
          <p:nvPr/>
        </p:nvSpPr>
        <p:spPr>
          <a:xfrm>
            <a:off x="6343650" y="2800350"/>
            <a:ext cx="333375" cy="24765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01</a:t>
            </a:r>
          </a:p>
        </p:txBody>
      </p:sp>
      <p:sp>
        <p:nvSpPr>
          <p:cNvPr id="16" name="Rectangle 15">
            <a:extLst>
              <a:ext uri="{FF2B5EF4-FFF2-40B4-BE49-F238E27FC236}">
                <a16:creationId xmlns:a16="http://schemas.microsoft.com/office/drawing/2014/main" id="{1401B3B7-CBE3-4036-B48C-4943C67B6D7B}"/>
              </a:ext>
            </a:extLst>
          </p:cNvPr>
          <p:cNvSpPr>
            <a:spLocks noGrp="1"/>
          </p:cNvSpPr>
          <p:nvPr/>
        </p:nvSpPr>
        <p:spPr>
          <a:xfrm>
            <a:off x="6743700" y="2781300"/>
            <a:ext cx="4686300" cy="43815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Hugging Face Jobs needs token, namespace and public HTTPS URL</a:t>
            </a:r>
          </a:p>
        </p:txBody>
      </p:sp>
      <p:sp>
        <p:nvSpPr>
          <p:cNvPr id="17" name="Rectangle 16">
            <a:extLst>
              <a:ext uri="{FF2B5EF4-FFF2-40B4-BE49-F238E27FC236}">
                <a16:creationId xmlns:a16="http://schemas.microsoft.com/office/drawing/2014/main" id="{61208E3B-746F-437B-9B5B-FD41C66AB899}"/>
              </a:ext>
            </a:extLst>
          </p:cNvPr>
          <p:cNvSpPr>
            <a:spLocks noGrp="1"/>
          </p:cNvSpPr>
          <p:nvPr/>
        </p:nvSpPr>
        <p:spPr>
          <a:xfrm>
            <a:off x="6343650" y="3314700"/>
            <a:ext cx="333375" cy="24765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02</a:t>
            </a:r>
          </a:p>
        </p:txBody>
      </p:sp>
      <p:sp>
        <p:nvSpPr>
          <p:cNvPr id="18" name="Rectangle 17">
            <a:extLst>
              <a:ext uri="{FF2B5EF4-FFF2-40B4-BE49-F238E27FC236}">
                <a16:creationId xmlns:a16="http://schemas.microsoft.com/office/drawing/2014/main" id="{12CB9D52-113A-485F-943C-A0614134CBF2}"/>
              </a:ext>
            </a:extLst>
          </p:cNvPr>
          <p:cNvSpPr>
            <a:spLocks noGrp="1"/>
          </p:cNvSpPr>
          <p:nvPr/>
        </p:nvSpPr>
        <p:spPr>
          <a:xfrm>
            <a:off x="6743700" y="3295650"/>
            <a:ext cx="4686300" cy="43815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Remote jobs may consume account credits</a:t>
            </a:r>
          </a:p>
        </p:txBody>
      </p:sp>
      <p:sp>
        <p:nvSpPr>
          <p:cNvPr id="19" name="Rectangle 18">
            <a:extLst>
              <a:ext uri="{FF2B5EF4-FFF2-40B4-BE49-F238E27FC236}">
                <a16:creationId xmlns:a16="http://schemas.microsoft.com/office/drawing/2014/main" id="{41504FC8-A04E-46D6-A235-8DDA89E1609C}"/>
              </a:ext>
            </a:extLst>
          </p:cNvPr>
          <p:cNvSpPr>
            <a:spLocks noGrp="1"/>
          </p:cNvSpPr>
          <p:nvPr/>
        </p:nvSpPr>
        <p:spPr>
          <a:xfrm>
            <a:off x="6343650" y="3829050"/>
            <a:ext cx="333375" cy="24765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03</a:t>
            </a:r>
          </a:p>
        </p:txBody>
      </p:sp>
      <p:sp>
        <p:nvSpPr>
          <p:cNvPr id="20" name="Rectangle 19">
            <a:extLst>
              <a:ext uri="{FF2B5EF4-FFF2-40B4-BE49-F238E27FC236}">
                <a16:creationId xmlns:a16="http://schemas.microsoft.com/office/drawing/2014/main" id="{538B417E-D299-4F2F-93EC-5B14D1B10BF7}"/>
              </a:ext>
            </a:extLst>
          </p:cNvPr>
          <p:cNvSpPr>
            <a:spLocks noGrp="1"/>
          </p:cNvSpPr>
          <p:nvPr/>
        </p:nvSpPr>
        <p:spPr>
          <a:xfrm>
            <a:off x="6743700" y="3810000"/>
            <a:ext cx="4686300" cy="43815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Resource entries do not create cloud machines</a:t>
            </a:r>
          </a:p>
        </p:txBody>
      </p:sp>
      <p:sp>
        <p:nvSpPr>
          <p:cNvPr id="21" name="Rectangle 20">
            <a:extLst>
              <a:ext uri="{FF2B5EF4-FFF2-40B4-BE49-F238E27FC236}">
                <a16:creationId xmlns:a16="http://schemas.microsoft.com/office/drawing/2014/main" id="{155AB2E0-696C-4CC7-B305-451D31C55314}"/>
              </a:ext>
            </a:extLst>
          </p:cNvPr>
          <p:cNvSpPr>
            <a:spLocks noGrp="1"/>
          </p:cNvSpPr>
          <p:nvPr/>
        </p:nvSpPr>
        <p:spPr>
          <a:xfrm>
            <a:off x="6343650" y="4343400"/>
            <a:ext cx="333375" cy="247650"/>
          </a:xfrm>
          <a:prstGeom prst="rect">
            <a:avLst/>
          </a:prstGeom>
          <a:noFill/>
          <a:ln w="0">
            <a:noFill/>
            <a:prstDash val="solid"/>
          </a:ln>
        </p:spPr>
        <p:txBody>
          <a:bodyPr wrap="square" lIns="0" tIns="0" rIns="0" bIns="0" anchor="t">
            <a:normAutofit/>
          </a:bodyPr>
          <a:lstStyle>
            <a:defPPr algn="l">
              <a:defRPr sz="975" b="1">
                <a:solidFill>
                  <a:srgbClr val="E79B54"/>
                </a:solidFill>
                <a:latin typeface="Arial"/>
                <a:ea typeface="Arial"/>
                <a:cs typeface="Arial"/>
              </a:defRPr>
            </a:defPPr>
          </a:lstStyle>
          <a:p>
            <a:pPr algn="l">
              <a:lnSpc>
                <a:spcPct val="105000"/>
              </a:lnSpc>
              <a:buNone/>
              <a:defRPr sz="975" b="1">
                <a:solidFill>
                  <a:srgbClr val="E79B54"/>
                </a:solidFill>
                <a:latin typeface="Arial"/>
                <a:ea typeface="Arial"/>
                <a:cs typeface="Arial"/>
              </a:defRPr>
            </a:pPr>
            <a:r>
              <a:rPr sz="975" b="1">
                <a:solidFill>
                  <a:srgbClr val="E79B54"/>
                </a:solidFill>
                <a:latin typeface="Arial"/>
                <a:ea typeface="Arial"/>
                <a:cs typeface="Arial"/>
              </a:rPr>
              <a:t>04</a:t>
            </a:r>
          </a:p>
        </p:txBody>
      </p:sp>
      <p:sp>
        <p:nvSpPr>
          <p:cNvPr id="22" name="Rectangle 21">
            <a:extLst>
              <a:ext uri="{FF2B5EF4-FFF2-40B4-BE49-F238E27FC236}">
                <a16:creationId xmlns:a16="http://schemas.microsoft.com/office/drawing/2014/main" id="{73499550-1FD0-4B98-9BED-0155F39CA69B}"/>
              </a:ext>
            </a:extLst>
          </p:cNvPr>
          <p:cNvSpPr>
            <a:spLocks noGrp="1"/>
          </p:cNvSpPr>
          <p:nvPr/>
        </p:nvSpPr>
        <p:spPr>
          <a:xfrm>
            <a:off x="6743700" y="4324350"/>
            <a:ext cx="4686300" cy="438150"/>
          </a:xfrm>
          <a:prstGeom prst="rect">
            <a:avLst/>
          </a:prstGeom>
          <a:noFill/>
          <a:ln w="0">
            <a:noFill/>
            <a:prstDash val="solid"/>
          </a:ln>
        </p:spPr>
        <p:txBody>
          <a:bodyPr wrap="square" lIns="0" tIns="0" rIns="0" bIns="0" anchor="t">
            <a:normAutofit/>
          </a:bodyPr>
          <a:lstStyle>
            <a:defPPr algn="l">
              <a:defRPr sz="1350" b="0">
                <a:solidFill>
                  <a:srgbClr val="14241F"/>
                </a:solidFill>
                <a:latin typeface="Arial"/>
                <a:ea typeface="Arial"/>
                <a:cs typeface="Arial"/>
              </a:defRPr>
            </a:defPPr>
          </a:lstStyle>
          <a:p>
            <a:pPr algn="l">
              <a:lnSpc>
                <a:spcPct val="105000"/>
              </a:lnSpc>
              <a:buNone/>
              <a:defRPr sz="1350" b="0">
                <a:solidFill>
                  <a:srgbClr val="14241F"/>
                </a:solidFill>
                <a:latin typeface="Arial"/>
                <a:ea typeface="Arial"/>
                <a:cs typeface="Arial"/>
              </a:defRPr>
            </a:pPr>
            <a:r>
              <a:rPr sz="1350" b="0">
                <a:solidFill>
                  <a:srgbClr val="14241F"/>
                </a:solidFill>
                <a:latin typeface="Arial"/>
                <a:ea typeface="Arial"/>
                <a:cs typeface="Arial"/>
              </a:rPr>
              <a:t>Arbitrary notebooks and downloadable model artifacts are not supported</a:t>
            </a:r>
          </a:p>
        </p:txBody>
      </p:sp>
      <p:sp>
        <p:nvSpPr>
          <p:cNvPr id="23" name="Rectangle 22">
            <a:extLst>
              <a:ext uri="{FF2B5EF4-FFF2-40B4-BE49-F238E27FC236}">
                <a16:creationId xmlns:a16="http://schemas.microsoft.com/office/drawing/2014/main" id="{6B48D58D-E837-49D0-B5EB-7A9CB0997D11}"/>
              </a:ext>
            </a:extLst>
          </p:cNvPr>
          <p:cNvSpPr>
            <a:spLocks noGrp="1"/>
          </p:cNvSpPr>
          <p:nvPr/>
        </p:nvSpPr>
        <p:spPr>
          <a:xfrm>
            <a:off x="723900" y="5562600"/>
            <a:ext cx="10477500" cy="323850"/>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Local CPU training remains available without Hugging Face configuration.</a:t>
            </a:r>
          </a:p>
        </p:txBody>
      </p:sp>
    </p:spTree>
    <p:extLst>
      <p:ext uri="{BB962C8B-B14F-4D97-AF65-F5344CB8AC3E}">
        <p14:creationId xmlns:p14="http://schemas.microsoft.com/office/powerpoint/2010/main" val="1752407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10431B1-3E72-4986-A334-11817EAFB79A}"/>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13 / JUDGING RUBRIC</a:t>
            </a:r>
          </a:p>
        </p:txBody>
      </p:sp>
      <p:sp>
        <p:nvSpPr>
          <p:cNvPr id="2" name="Rectangle 1">
            <a:extLst>
              <a:ext uri="{FF2B5EF4-FFF2-40B4-BE49-F238E27FC236}">
                <a16:creationId xmlns:a16="http://schemas.microsoft.com/office/drawing/2014/main" id="{EC6543BA-5EAE-486F-AB33-EE50DD25B44F}"/>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The implementation maps to the Java Web criteria</a:t>
            </a:r>
          </a:p>
        </p:txBody>
      </p:sp>
      <p:sp>
        <p:nvSpPr>
          <p:cNvPr id="3" name="Rectangle 2">
            <a:extLst>
              <a:ext uri="{FF2B5EF4-FFF2-40B4-BE49-F238E27FC236}">
                <a16:creationId xmlns:a16="http://schemas.microsoft.com/office/drawing/2014/main" id="{10E585D2-3A83-4C86-BC8E-B271EBF3821D}"/>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The supplied rubric totals 33 marks across solution design, Core Java, JDBC and web integration.</a:t>
            </a:r>
          </a:p>
        </p:txBody>
      </p:sp>
      <p:graphicFrame>
        <p:nvGraphicFramePr>
          <p:cNvPr id="4" name="Table 3">
            <a:extLst>
              <a:ext uri="{FF2B5EF4-FFF2-40B4-BE49-F238E27FC236}">
                <a16:creationId xmlns:a16="http://schemas.microsoft.com/office/drawing/2014/main" id="{03A2181B-434B-4D41-916B-EE5A0D9714AB}"/>
              </a:ext>
            </a:extLst>
          </p:cNvPr>
          <p:cNvGraphicFramePr/>
          <p:nvPr/>
        </p:nvGraphicFramePr>
        <p:xfrm>
          <a:off x="590550" y="2286000"/>
          <a:ext cx="11010900" cy="3333750"/>
        </p:xfrm>
        <a:graphic>
          <a:graphicData uri="http://schemas.openxmlformats.org/drawingml/2006/table">
            <a:tbl>
              <a:tblPr/>
              <a:tblGrid>
                <a:gridCol w="3238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6819900">
                  <a:extLst>
                    <a:ext uri="{9D8B030D-6E8A-4147-A177-3AD203B41FA5}">
                      <a16:colId xmlns:a16="http://schemas.microsoft.com/office/drawing/2014/main" val="20002"/>
                    </a:ext>
                  </a:extLst>
                </a:gridCol>
              </a:tblGrid>
              <a:tr h="666750">
                <a:tc>
                  <a:txBody>
                    <a:bodyPr/>
                    <a:lstStyle/>
                    <a:p>
                      <a:r>
                        <a:rPr sz="1200" b="1">
                          <a:solidFill>
                            <a:srgbClr val="FFFFFF"/>
                          </a:solidFill>
                          <a:latin typeface="Arial"/>
                          <a:ea typeface="Arial"/>
                          <a:cs typeface="Arial"/>
                        </a:rPr>
                        <a:t>RUBRIC AREA</a:t>
                      </a:r>
                    </a:p>
                  </a:txBody>
                  <a:tcPr anchor="ctr">
                    <a:solidFill>
                      <a:srgbClr val="101D1A"/>
                    </a:solidFill>
                  </a:tcPr>
                </a:tc>
                <a:tc>
                  <a:txBody>
                    <a:bodyPr/>
                    <a:lstStyle/>
                    <a:p>
                      <a:r>
                        <a:rPr sz="1200" b="1">
                          <a:solidFill>
                            <a:srgbClr val="FFFFFF"/>
                          </a:solidFill>
                          <a:latin typeface="Arial"/>
                          <a:ea typeface="Arial"/>
                          <a:cs typeface="Arial"/>
                        </a:rPr>
                        <a:t>MARKS</a:t>
                      </a:r>
                    </a:p>
                  </a:txBody>
                  <a:tcPr anchor="ctr">
                    <a:solidFill>
                      <a:srgbClr val="101D1A"/>
                    </a:solidFill>
                  </a:tcPr>
                </a:tc>
                <a:tc>
                  <a:txBody>
                    <a:bodyPr/>
                    <a:lstStyle/>
                    <a:p>
                      <a:r>
                        <a:rPr sz="1200" b="1">
                          <a:solidFill>
                            <a:srgbClr val="FFFFFF"/>
                          </a:solidFill>
                          <a:latin typeface="Arial"/>
                          <a:ea typeface="Arial"/>
                          <a:cs typeface="Arial"/>
                        </a:rPr>
                        <a:t>PROJECT EVIDENCE</a:t>
                      </a:r>
                    </a:p>
                  </a:txBody>
                  <a:tcPr anchor="ctr">
                    <a:solidFill>
                      <a:srgbClr val="101D1A"/>
                    </a:solidFill>
                  </a:tcPr>
                </a:tc>
                <a:extLst>
                  <a:ext uri="{0D108BD9-81ED-4DB2-BD59-A6C34878D82A}">
                    <a16:rowId xmlns:a16="http://schemas.microsoft.com/office/drawing/2014/main" val="10000"/>
                  </a:ext>
                </a:extLst>
              </a:tr>
              <a:tr h="666750">
                <a:tc>
                  <a:txBody>
                    <a:bodyPr/>
                    <a:lstStyle/>
                    <a:p>
                      <a:r>
                        <a:rPr sz="1500" b="1">
                          <a:solidFill>
                            <a:srgbClr val="14241F"/>
                          </a:solidFill>
                          <a:latin typeface="Arial"/>
                          <a:ea typeface="Arial"/>
                          <a:cs typeface="Arial"/>
                        </a:rPr>
                        <a:t>Problem understanding &amp; solution design</a:t>
                      </a:r>
                    </a:p>
                  </a:txBody>
                  <a:tcPr anchor="ctr">
                    <a:solidFill>
                      <a:srgbClr val="F6F6EF"/>
                    </a:solidFill>
                  </a:tcPr>
                </a:tc>
                <a:tc>
                  <a:txBody>
                    <a:bodyPr/>
                    <a:lstStyle/>
                    <a:p>
                      <a:r>
                        <a:rPr sz="1500" b="0">
                          <a:solidFill>
                            <a:srgbClr val="148A78"/>
                          </a:solidFill>
                          <a:latin typeface="Arial"/>
                          <a:ea typeface="Arial"/>
                          <a:cs typeface="Arial"/>
                        </a:rPr>
                        <a:t>8</a:t>
                      </a:r>
                    </a:p>
                  </a:txBody>
                  <a:tcPr anchor="ctr">
                    <a:solidFill>
                      <a:srgbClr val="F6F6EF"/>
                    </a:solidFill>
                  </a:tcPr>
                </a:tc>
                <a:tc>
                  <a:txBody>
                    <a:bodyPr/>
                    <a:lstStyle/>
                    <a:p>
                      <a:r>
                        <a:rPr sz="1500" b="0">
                          <a:solidFill>
                            <a:srgbClr val="62736B"/>
                          </a:solidFill>
                          <a:latin typeface="Arial"/>
                          <a:ea typeface="Arial"/>
                          <a:cs typeface="Arial"/>
                        </a:rPr>
                        <a:t>Role-based workflows, project model, architecture and end-to-end demo</a:t>
                      </a:r>
                    </a:p>
                  </a:txBody>
                  <a:tcPr anchor="ctr">
                    <a:solidFill>
                      <a:srgbClr val="F6F6EF"/>
                    </a:solidFill>
                  </a:tcPr>
                </a:tc>
                <a:extLst>
                  <a:ext uri="{0D108BD9-81ED-4DB2-BD59-A6C34878D82A}">
                    <a16:rowId xmlns:a16="http://schemas.microsoft.com/office/drawing/2014/main" val="10001"/>
                  </a:ext>
                </a:extLst>
              </a:tr>
              <a:tr h="666750">
                <a:tc>
                  <a:txBody>
                    <a:bodyPr/>
                    <a:lstStyle/>
                    <a:p>
                      <a:r>
                        <a:rPr sz="1500" b="1">
                          <a:solidFill>
                            <a:srgbClr val="14241F"/>
                          </a:solidFill>
                          <a:latin typeface="Arial"/>
                          <a:ea typeface="Arial"/>
                          <a:cs typeface="Arial"/>
                        </a:rPr>
                        <a:t>Core Java concepts</a:t>
                      </a:r>
                    </a:p>
                  </a:txBody>
                  <a:tcPr anchor="ctr">
                    <a:solidFill>
                      <a:srgbClr val="EEF1E9"/>
                    </a:solidFill>
                  </a:tcPr>
                </a:tc>
                <a:tc>
                  <a:txBody>
                    <a:bodyPr/>
                    <a:lstStyle/>
                    <a:p>
                      <a:r>
                        <a:rPr sz="1500" b="0">
                          <a:solidFill>
                            <a:srgbClr val="148A78"/>
                          </a:solidFill>
                          <a:latin typeface="Arial"/>
                          <a:ea typeface="Arial"/>
                          <a:cs typeface="Arial"/>
                        </a:rPr>
                        <a:t>10</a:t>
                      </a:r>
                    </a:p>
                  </a:txBody>
                  <a:tcPr anchor="ctr">
                    <a:solidFill>
                      <a:srgbClr val="EEF1E9"/>
                    </a:solidFill>
                  </a:tcPr>
                </a:tc>
                <a:tc>
                  <a:txBody>
                    <a:bodyPr/>
                    <a:lstStyle/>
                    <a:p>
                      <a:r>
                        <a:rPr sz="1500" b="0">
                          <a:solidFill>
                            <a:srgbClr val="62736B"/>
                          </a:solidFill>
                          <a:latin typeface="Arial"/>
                          <a:ea typeface="Arial"/>
                          <a:cs typeface="Arial"/>
                        </a:rPr>
                        <a:t>Models, services, validation, exceptions, collections and bounded worker</a:t>
                      </a:r>
                    </a:p>
                  </a:txBody>
                  <a:tcPr anchor="ctr">
                    <a:solidFill>
                      <a:srgbClr val="EEF1E9"/>
                    </a:solidFill>
                  </a:tcPr>
                </a:tc>
                <a:extLst>
                  <a:ext uri="{0D108BD9-81ED-4DB2-BD59-A6C34878D82A}">
                    <a16:rowId xmlns:a16="http://schemas.microsoft.com/office/drawing/2014/main" val="10002"/>
                  </a:ext>
                </a:extLst>
              </a:tr>
              <a:tr h="666750">
                <a:tc>
                  <a:txBody>
                    <a:bodyPr/>
                    <a:lstStyle/>
                    <a:p>
                      <a:r>
                        <a:rPr sz="1500" b="1">
                          <a:solidFill>
                            <a:srgbClr val="14241F"/>
                          </a:solidFill>
                          <a:latin typeface="Arial"/>
                          <a:ea typeface="Arial"/>
                          <a:cs typeface="Arial"/>
                        </a:rPr>
                        <a:t>Database integration (JDBC)</a:t>
                      </a:r>
                    </a:p>
                  </a:txBody>
                  <a:tcPr anchor="ctr">
                    <a:solidFill>
                      <a:srgbClr val="F6F6EF"/>
                    </a:solidFill>
                  </a:tcPr>
                </a:tc>
                <a:tc>
                  <a:txBody>
                    <a:bodyPr/>
                    <a:lstStyle/>
                    <a:p>
                      <a:r>
                        <a:rPr sz="1500" b="0">
                          <a:solidFill>
                            <a:srgbClr val="148A78"/>
                          </a:solidFill>
                          <a:latin typeface="Arial"/>
                          <a:ea typeface="Arial"/>
                          <a:cs typeface="Arial"/>
                        </a:rPr>
                        <a:t>8</a:t>
                      </a:r>
                    </a:p>
                  </a:txBody>
                  <a:tcPr anchor="ctr">
                    <a:solidFill>
                      <a:srgbClr val="F6F6EF"/>
                    </a:solidFill>
                  </a:tcPr>
                </a:tc>
                <a:tc>
                  <a:txBody>
                    <a:bodyPr/>
                    <a:lstStyle/>
                    <a:p>
                      <a:r>
                        <a:rPr sz="1500" b="0">
                          <a:solidFill>
                            <a:srgbClr val="62736B"/>
                          </a:solidFill>
                          <a:latin typeface="Arial"/>
                          <a:ea typeface="Arial"/>
                          <a:cs typeface="Arial"/>
                        </a:rPr>
                        <a:t>H2 schema, DAO classes, prepared statements and persisted run records</a:t>
                      </a:r>
                    </a:p>
                  </a:txBody>
                  <a:tcPr anchor="ctr">
                    <a:solidFill>
                      <a:srgbClr val="F6F6EF"/>
                    </a:solidFill>
                  </a:tcPr>
                </a:tc>
                <a:extLst>
                  <a:ext uri="{0D108BD9-81ED-4DB2-BD59-A6C34878D82A}">
                    <a16:rowId xmlns:a16="http://schemas.microsoft.com/office/drawing/2014/main" val="10003"/>
                  </a:ext>
                </a:extLst>
              </a:tr>
              <a:tr h="666750">
                <a:tc>
                  <a:txBody>
                    <a:bodyPr/>
                    <a:lstStyle/>
                    <a:p>
                      <a:r>
                        <a:rPr sz="1500" b="1">
                          <a:solidFill>
                            <a:srgbClr val="14241F"/>
                          </a:solidFill>
                          <a:latin typeface="Arial"/>
                          <a:ea typeface="Arial"/>
                          <a:cs typeface="Arial"/>
                        </a:rPr>
                        <a:t>Servlets &amp; web integration</a:t>
                      </a:r>
                    </a:p>
                  </a:txBody>
                  <a:tcPr anchor="ctr">
                    <a:solidFill>
                      <a:srgbClr val="EEF1E9"/>
                    </a:solidFill>
                  </a:tcPr>
                </a:tc>
                <a:tc>
                  <a:txBody>
                    <a:bodyPr/>
                    <a:lstStyle/>
                    <a:p>
                      <a:r>
                        <a:rPr sz="1500" b="0">
                          <a:solidFill>
                            <a:srgbClr val="148A78"/>
                          </a:solidFill>
                          <a:latin typeface="Arial"/>
                          <a:ea typeface="Arial"/>
                          <a:cs typeface="Arial"/>
                        </a:rPr>
                        <a:t>7</a:t>
                      </a:r>
                    </a:p>
                  </a:txBody>
                  <a:tcPr anchor="ctr">
                    <a:solidFill>
                      <a:srgbClr val="EEF1E9"/>
                    </a:solidFill>
                  </a:tcPr>
                </a:tc>
                <a:tc>
                  <a:txBody>
                    <a:bodyPr/>
                    <a:lstStyle/>
                    <a:p>
                      <a:r>
                        <a:rPr sz="1500" b="0">
                          <a:solidFill>
                            <a:srgbClr val="62736B"/>
                          </a:solidFill>
                          <a:latin typeface="Arial"/>
                          <a:ea typeface="Arial"/>
                          <a:cs typeface="Arial"/>
                        </a:rPr>
                        <a:t>Servlet routes, auth/role filters, JSP pages and responsive UI</a:t>
                      </a:r>
                    </a:p>
                  </a:txBody>
                  <a:tcPr anchor="ctr">
                    <a:solidFill>
                      <a:srgbClr val="EEF1E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368A4D4F-0DE1-465A-AAAC-DD7E9B4853FA}"/>
              </a:ext>
            </a:extLst>
          </p:cNvPr>
          <p:cNvSpPr>
            <a:spLocks noGrp="1"/>
          </p:cNvSpPr>
          <p:nvPr/>
        </p:nvSpPr>
        <p:spPr>
          <a:xfrm>
            <a:off x="609600" y="5876925"/>
            <a:ext cx="8763000" cy="266700"/>
          </a:xfrm>
          <a:prstGeom prst="rect">
            <a:avLst/>
          </a:prstGeom>
          <a:noFill/>
          <a:ln w="0">
            <a:noFill/>
            <a:prstDash val="solid"/>
          </a:ln>
        </p:spPr>
        <p:txBody>
          <a:bodyPr wrap="square" lIns="0" tIns="0" rIns="0" bIns="0" anchor="t">
            <a:normAutofit/>
          </a:bodyPr>
          <a:lstStyle>
            <a:defPPr algn="l">
              <a:defRPr sz="1275" b="1">
                <a:solidFill>
                  <a:srgbClr val="62736B"/>
                </a:solidFill>
                <a:latin typeface="Arial"/>
                <a:ea typeface="Arial"/>
                <a:cs typeface="Arial"/>
              </a:defRPr>
            </a:defPPr>
          </a:lstStyle>
          <a:p>
            <a:pPr algn="l">
              <a:lnSpc>
                <a:spcPct val="105000"/>
              </a:lnSpc>
              <a:buNone/>
              <a:defRPr sz="1275" b="1">
                <a:solidFill>
                  <a:srgbClr val="62736B"/>
                </a:solidFill>
                <a:latin typeface="Arial"/>
                <a:ea typeface="Arial"/>
                <a:cs typeface="Arial"/>
              </a:defRPr>
            </a:pPr>
            <a:r>
              <a:rPr sz="1275" b="1">
                <a:solidFill>
                  <a:srgbClr val="62736B"/>
                </a:solidFill>
                <a:latin typeface="Arial"/>
                <a:ea typeface="Arial"/>
                <a:cs typeface="Arial"/>
              </a:rPr>
              <a:t>Core Java web rubric: 33 marks total</a:t>
            </a:r>
          </a:p>
        </p:txBody>
      </p:sp>
    </p:spTree>
    <p:extLst>
      <p:ext uri="{BB962C8B-B14F-4D97-AF65-F5344CB8AC3E}">
        <p14:creationId xmlns:p14="http://schemas.microsoft.com/office/powerpoint/2010/main" val="360530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E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F4FD557-84CE-40BE-936C-DB32FC92E0C1}"/>
              </a:ext>
            </a:extLst>
          </p:cNvPr>
          <p:cNvSpPr>
            <a:spLocks noGrp="1"/>
          </p:cNvSpPr>
          <p:nvPr/>
        </p:nvSpPr>
        <p:spPr>
          <a:xfrm>
            <a:off x="533400" y="323850"/>
            <a:ext cx="5715000" cy="209550"/>
          </a:xfrm>
          <a:prstGeom prst="rect">
            <a:avLst/>
          </a:prstGeom>
          <a:noFill/>
          <a:ln w="0">
            <a:noFill/>
            <a:prstDash val="solid"/>
          </a:ln>
        </p:spPr>
        <p:txBody>
          <a:bodyPr wrap="square" lIns="0" tIns="0" rIns="0" bIns="0" anchor="t">
            <a:normAutofit/>
          </a:bodyPr>
          <a:lstStyle>
            <a:defPPr algn="l">
              <a:defRPr sz="1050" b="1">
                <a:solidFill>
                  <a:srgbClr val="148A78"/>
                </a:solidFill>
                <a:latin typeface="Arial"/>
                <a:ea typeface="Arial"/>
                <a:cs typeface="Arial"/>
              </a:defRPr>
            </a:defPPr>
          </a:lstStyle>
          <a:p>
            <a:pPr algn="l">
              <a:lnSpc>
                <a:spcPct val="105000"/>
              </a:lnSpc>
              <a:buNone/>
              <a:defRPr sz="1050" b="1">
                <a:solidFill>
                  <a:srgbClr val="148A78"/>
                </a:solidFill>
                <a:latin typeface="Arial"/>
                <a:ea typeface="Arial"/>
                <a:cs typeface="Arial"/>
              </a:defRPr>
            </a:pPr>
            <a:r>
              <a:rPr sz="1050" b="1">
                <a:solidFill>
                  <a:srgbClr val="148A78"/>
                </a:solidFill>
                <a:latin typeface="Arial"/>
                <a:ea typeface="Arial"/>
                <a:cs typeface="Arial"/>
              </a:rPr>
              <a:t>14 / LIVE DEMONSTRATION</a:t>
            </a:r>
          </a:p>
        </p:txBody>
      </p:sp>
      <p:sp>
        <p:nvSpPr>
          <p:cNvPr id="2" name="Rectangle 1">
            <a:extLst>
              <a:ext uri="{FF2B5EF4-FFF2-40B4-BE49-F238E27FC236}">
                <a16:creationId xmlns:a16="http://schemas.microsoft.com/office/drawing/2014/main" id="{2D9250D1-DFCB-4DC1-A44F-259523A40DAF}"/>
              </a:ext>
            </a:extLst>
          </p:cNvPr>
          <p:cNvSpPr>
            <a:spLocks noGrp="1"/>
          </p:cNvSpPr>
          <p:nvPr/>
        </p:nvSpPr>
        <p:spPr>
          <a:xfrm>
            <a:off x="533400" y="666750"/>
            <a:ext cx="11096625" cy="628650"/>
          </a:xfrm>
          <a:prstGeom prst="rect">
            <a:avLst/>
          </a:prstGeom>
          <a:noFill/>
          <a:ln w="0">
            <a:noFill/>
            <a:prstDash val="solid"/>
          </a:ln>
        </p:spPr>
        <p:txBody>
          <a:bodyPr wrap="square" lIns="0" tIns="0" rIns="0" bIns="0" anchor="t">
            <a:normAutofit/>
          </a:bodyPr>
          <a:lstStyle>
            <a:defPPr algn="l">
              <a:defRPr sz="3225" b="1">
                <a:solidFill>
                  <a:srgbClr val="14241F"/>
                </a:solidFill>
                <a:latin typeface="Arial"/>
                <a:ea typeface="Arial"/>
                <a:cs typeface="Arial"/>
              </a:defRPr>
            </a:defPPr>
          </a:lstStyle>
          <a:p>
            <a:pPr algn="l">
              <a:lnSpc>
                <a:spcPct val="105000"/>
              </a:lnSpc>
              <a:buNone/>
              <a:defRPr sz="3225" b="1">
                <a:solidFill>
                  <a:srgbClr val="14241F"/>
                </a:solidFill>
                <a:latin typeface="Arial"/>
                <a:ea typeface="Arial"/>
                <a:cs typeface="Arial"/>
              </a:defRPr>
            </a:pPr>
            <a:r>
              <a:rPr sz="3225" b="1">
                <a:solidFill>
                  <a:srgbClr val="14241F"/>
                </a:solidFill>
                <a:latin typeface="Arial"/>
                <a:ea typeface="Arial"/>
                <a:cs typeface="Arial"/>
              </a:rPr>
              <a:t>A short demo shows the full research loop</a:t>
            </a:r>
          </a:p>
        </p:txBody>
      </p:sp>
      <p:sp>
        <p:nvSpPr>
          <p:cNvPr id="3" name="Rectangle 2">
            <a:extLst>
              <a:ext uri="{FF2B5EF4-FFF2-40B4-BE49-F238E27FC236}">
                <a16:creationId xmlns:a16="http://schemas.microsoft.com/office/drawing/2014/main" id="{B5D53374-0B06-4500-AFAD-08DFB1EAAA5B}"/>
              </a:ext>
            </a:extLst>
          </p:cNvPr>
          <p:cNvSpPr>
            <a:spLocks noGrp="1"/>
          </p:cNvSpPr>
          <p:nvPr/>
        </p:nvSpPr>
        <p:spPr>
          <a:xfrm>
            <a:off x="552450" y="1352550"/>
            <a:ext cx="10763250" cy="400050"/>
          </a:xfrm>
          <a:prstGeom prst="rect">
            <a:avLst/>
          </a:prstGeom>
          <a:noFill/>
          <a:ln w="0">
            <a:noFill/>
            <a:prstDash val="solid"/>
          </a:ln>
        </p:spPr>
        <p:txBody>
          <a:bodyPr wrap="square" lIns="0" tIns="0" rIns="0" bIns="0" anchor="t">
            <a:normAutofit/>
          </a:bodyPr>
          <a:lstStyle>
            <a:defPPr algn="l">
              <a:defRPr sz="1500" b="0">
                <a:solidFill>
                  <a:srgbClr val="62736B"/>
                </a:solidFill>
                <a:latin typeface="Arial"/>
                <a:ea typeface="Arial"/>
                <a:cs typeface="Arial"/>
              </a:defRPr>
            </a:defPPr>
          </a:lstStyle>
          <a:p>
            <a:pPr algn="l">
              <a:lnSpc>
                <a:spcPct val="105000"/>
              </a:lnSpc>
              <a:buNone/>
              <a:defRPr sz="1500" b="0">
                <a:solidFill>
                  <a:srgbClr val="62736B"/>
                </a:solidFill>
                <a:latin typeface="Arial"/>
                <a:ea typeface="Arial"/>
                <a:cs typeface="Arial"/>
              </a:defRPr>
            </a:pPr>
            <a:r>
              <a:rPr sz="1500" b="0">
                <a:solidFill>
                  <a:srgbClr val="62736B"/>
                </a:solidFill>
                <a:latin typeface="Arial"/>
                <a:ea typeface="Arial"/>
                <a:cs typeface="Arial"/>
              </a:rPr>
              <a:t>Suggested flow for a five-minute presentation.</a:t>
            </a:r>
          </a:p>
        </p:txBody>
      </p:sp>
      <p:sp>
        <p:nvSpPr>
          <p:cNvPr id="4" name="Rectangle 3">
            <a:extLst>
              <a:ext uri="{FF2B5EF4-FFF2-40B4-BE49-F238E27FC236}">
                <a16:creationId xmlns:a16="http://schemas.microsoft.com/office/drawing/2014/main" id="{A20C1EB0-F4AC-4902-8A43-7A1A6216B87E}"/>
              </a:ext>
            </a:extLst>
          </p:cNvPr>
          <p:cNvSpPr>
            <a:spLocks noGrp="1"/>
          </p:cNvSpPr>
          <p:nvPr/>
        </p:nvSpPr>
        <p:spPr>
          <a:xfrm>
            <a:off x="685800" y="2190750"/>
            <a:ext cx="971550" cy="28575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0:00</a:t>
            </a:r>
          </a:p>
        </p:txBody>
      </p:sp>
      <p:sp>
        <p:nvSpPr>
          <p:cNvPr id="5" name="Rectangle 4">
            <a:extLst>
              <a:ext uri="{FF2B5EF4-FFF2-40B4-BE49-F238E27FC236}">
                <a16:creationId xmlns:a16="http://schemas.microsoft.com/office/drawing/2014/main" id="{6B2563E0-A594-4542-8839-16DFF94D812E}"/>
              </a:ext>
            </a:extLst>
          </p:cNvPr>
          <p:cNvSpPr>
            <a:spLocks noGrp="1"/>
          </p:cNvSpPr>
          <p:nvPr/>
        </p:nvSpPr>
        <p:spPr>
          <a:xfrm>
            <a:off x="1943100" y="2190750"/>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Sign in as Researcher</a:t>
            </a:r>
          </a:p>
        </p:txBody>
      </p:sp>
      <p:sp>
        <p:nvSpPr>
          <p:cNvPr id="6" name="Rectangle 5">
            <a:extLst>
              <a:ext uri="{FF2B5EF4-FFF2-40B4-BE49-F238E27FC236}">
                <a16:creationId xmlns:a16="http://schemas.microsoft.com/office/drawing/2014/main" id="{86CD9202-C575-4C44-934B-CE4B7E219018}"/>
              </a:ext>
            </a:extLst>
          </p:cNvPr>
          <p:cNvSpPr>
            <a:spLocks noGrp="1"/>
          </p:cNvSpPr>
          <p:nvPr/>
        </p:nvSpPr>
        <p:spPr>
          <a:xfrm>
            <a:off x="5000625" y="2190750"/>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Open the seeded research project.</a:t>
            </a:r>
          </a:p>
        </p:txBody>
      </p:sp>
      <p:sp>
        <p:nvSpPr>
          <p:cNvPr id="7" name="Straight Connector 6">
            <a:extLst>
              <a:ext uri="{FF2B5EF4-FFF2-40B4-BE49-F238E27FC236}">
                <a16:creationId xmlns:a16="http://schemas.microsoft.com/office/drawing/2014/main" id="{989AB54F-6739-4D99-AC97-7A2E381E111F}"/>
              </a:ext>
            </a:extLst>
          </p:cNvPr>
          <p:cNvSpPr>
            <a:spLocks noGrp="1"/>
          </p:cNvSpPr>
          <p:nvPr/>
        </p:nvSpPr>
        <p:spPr>
          <a:xfrm>
            <a:off x="1943100" y="2562225"/>
            <a:ext cx="9315450" cy="0"/>
          </a:xfrm>
          <a:prstGeom prst="line">
            <a:avLst/>
          </a:prstGeom>
          <a:noFill/>
          <a:ln w="9525">
            <a:solidFill>
              <a:srgbClr val="D4DBD0"/>
            </a:solidFill>
            <a:prstDash val="solid"/>
          </a:ln>
        </p:spPr>
      </p:sp>
      <p:sp>
        <p:nvSpPr>
          <p:cNvPr id="8" name="Rectangle 7">
            <a:extLst>
              <a:ext uri="{FF2B5EF4-FFF2-40B4-BE49-F238E27FC236}">
                <a16:creationId xmlns:a16="http://schemas.microsoft.com/office/drawing/2014/main" id="{A3C1217D-4FDD-42A8-81E0-C6E09AAA4FC4}"/>
              </a:ext>
            </a:extLst>
          </p:cNvPr>
          <p:cNvSpPr>
            <a:spLocks noGrp="1"/>
          </p:cNvSpPr>
          <p:nvPr/>
        </p:nvSpPr>
        <p:spPr>
          <a:xfrm>
            <a:off x="685800" y="2809875"/>
            <a:ext cx="971550" cy="28575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0:40</a:t>
            </a:r>
          </a:p>
        </p:txBody>
      </p:sp>
      <p:sp>
        <p:nvSpPr>
          <p:cNvPr id="9" name="Rectangle 8">
            <a:extLst>
              <a:ext uri="{FF2B5EF4-FFF2-40B4-BE49-F238E27FC236}">
                <a16:creationId xmlns:a16="http://schemas.microsoft.com/office/drawing/2014/main" id="{B94846C2-953E-4C61-BEAF-3170C972FDF1}"/>
              </a:ext>
            </a:extLst>
          </p:cNvPr>
          <p:cNvSpPr>
            <a:spLocks noGrp="1"/>
          </p:cNvSpPr>
          <p:nvPr/>
        </p:nvSpPr>
        <p:spPr>
          <a:xfrm>
            <a:off x="1943100" y="2809875"/>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Inspect the CSV</a:t>
            </a:r>
          </a:p>
        </p:txBody>
      </p:sp>
      <p:sp>
        <p:nvSpPr>
          <p:cNvPr id="10" name="Rectangle 9">
            <a:extLst>
              <a:ext uri="{FF2B5EF4-FFF2-40B4-BE49-F238E27FC236}">
                <a16:creationId xmlns:a16="http://schemas.microsoft.com/office/drawing/2014/main" id="{35A12AE8-D85F-47D3-B1E2-4E446F85EAFA}"/>
              </a:ext>
            </a:extLst>
          </p:cNvPr>
          <p:cNvSpPr>
            <a:spLocks noGrp="1"/>
          </p:cNvSpPr>
          <p:nvPr/>
        </p:nvSpPr>
        <p:spPr>
          <a:xfrm>
            <a:off x="5000625" y="2809875"/>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Show the profile, row/column counts and missing values.</a:t>
            </a:r>
          </a:p>
        </p:txBody>
      </p:sp>
      <p:sp>
        <p:nvSpPr>
          <p:cNvPr id="11" name="Straight Connector 10">
            <a:extLst>
              <a:ext uri="{FF2B5EF4-FFF2-40B4-BE49-F238E27FC236}">
                <a16:creationId xmlns:a16="http://schemas.microsoft.com/office/drawing/2014/main" id="{B3D4EE6E-09CA-4606-876F-8FB42712A9CD}"/>
              </a:ext>
            </a:extLst>
          </p:cNvPr>
          <p:cNvSpPr>
            <a:spLocks noGrp="1"/>
          </p:cNvSpPr>
          <p:nvPr/>
        </p:nvSpPr>
        <p:spPr>
          <a:xfrm>
            <a:off x="1943100" y="3181350"/>
            <a:ext cx="9315450" cy="0"/>
          </a:xfrm>
          <a:prstGeom prst="line">
            <a:avLst/>
          </a:prstGeom>
          <a:noFill/>
          <a:ln w="9525">
            <a:solidFill>
              <a:srgbClr val="D4DBD0"/>
            </a:solidFill>
            <a:prstDash val="solid"/>
          </a:ln>
        </p:spPr>
      </p:sp>
      <p:sp>
        <p:nvSpPr>
          <p:cNvPr id="12" name="Rectangle 11">
            <a:extLst>
              <a:ext uri="{FF2B5EF4-FFF2-40B4-BE49-F238E27FC236}">
                <a16:creationId xmlns:a16="http://schemas.microsoft.com/office/drawing/2014/main" id="{F1E0E2E6-816F-4BB3-B69C-3F1590DF364E}"/>
              </a:ext>
            </a:extLst>
          </p:cNvPr>
          <p:cNvSpPr>
            <a:spLocks noGrp="1"/>
          </p:cNvSpPr>
          <p:nvPr/>
        </p:nvSpPr>
        <p:spPr>
          <a:xfrm>
            <a:off x="685800" y="3429000"/>
            <a:ext cx="971550" cy="28575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1:30</a:t>
            </a:r>
          </a:p>
        </p:txBody>
      </p:sp>
      <p:sp>
        <p:nvSpPr>
          <p:cNvPr id="13" name="Rectangle 12">
            <a:extLst>
              <a:ext uri="{FF2B5EF4-FFF2-40B4-BE49-F238E27FC236}">
                <a16:creationId xmlns:a16="http://schemas.microsoft.com/office/drawing/2014/main" id="{0CE8C55C-A814-404B-A933-2A09B24969F3}"/>
              </a:ext>
            </a:extLst>
          </p:cNvPr>
          <p:cNvSpPr>
            <a:spLocks noGrp="1"/>
          </p:cNvSpPr>
          <p:nvPr/>
        </p:nvSpPr>
        <p:spPr>
          <a:xfrm>
            <a:off x="1943100" y="3429000"/>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Start a model run</a:t>
            </a:r>
          </a:p>
        </p:txBody>
      </p:sp>
      <p:sp>
        <p:nvSpPr>
          <p:cNvPr id="14" name="Rectangle 13">
            <a:extLst>
              <a:ext uri="{FF2B5EF4-FFF2-40B4-BE49-F238E27FC236}">
                <a16:creationId xmlns:a16="http://schemas.microsoft.com/office/drawing/2014/main" id="{20722083-099A-4F80-BE3B-3C609CEC464A}"/>
              </a:ext>
            </a:extLst>
          </p:cNvPr>
          <p:cNvSpPr>
            <a:spLocks noGrp="1"/>
          </p:cNvSpPr>
          <p:nvPr/>
        </p:nvSpPr>
        <p:spPr>
          <a:xfrm>
            <a:off x="5000625" y="3429000"/>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Select target/features and explain the 80/20 holdout.</a:t>
            </a:r>
          </a:p>
        </p:txBody>
      </p:sp>
      <p:sp>
        <p:nvSpPr>
          <p:cNvPr id="15" name="Straight Connector 14">
            <a:extLst>
              <a:ext uri="{FF2B5EF4-FFF2-40B4-BE49-F238E27FC236}">
                <a16:creationId xmlns:a16="http://schemas.microsoft.com/office/drawing/2014/main" id="{CB8D8CF0-B3E0-403F-95D7-BDDEEDBE54C0}"/>
              </a:ext>
            </a:extLst>
          </p:cNvPr>
          <p:cNvSpPr>
            <a:spLocks noGrp="1"/>
          </p:cNvSpPr>
          <p:nvPr/>
        </p:nvSpPr>
        <p:spPr>
          <a:xfrm>
            <a:off x="1943100" y="3800475"/>
            <a:ext cx="9315450" cy="0"/>
          </a:xfrm>
          <a:prstGeom prst="line">
            <a:avLst/>
          </a:prstGeom>
          <a:noFill/>
          <a:ln w="9525">
            <a:solidFill>
              <a:srgbClr val="D4DBD0"/>
            </a:solidFill>
            <a:prstDash val="solid"/>
          </a:ln>
        </p:spPr>
      </p:sp>
      <p:sp>
        <p:nvSpPr>
          <p:cNvPr id="16" name="Rectangle 15">
            <a:extLst>
              <a:ext uri="{FF2B5EF4-FFF2-40B4-BE49-F238E27FC236}">
                <a16:creationId xmlns:a16="http://schemas.microsoft.com/office/drawing/2014/main" id="{066B8FAA-4E96-4307-9125-A886190FE0BF}"/>
              </a:ext>
            </a:extLst>
          </p:cNvPr>
          <p:cNvSpPr>
            <a:spLocks noGrp="1"/>
          </p:cNvSpPr>
          <p:nvPr/>
        </p:nvSpPr>
        <p:spPr>
          <a:xfrm>
            <a:off x="685800" y="4048125"/>
            <a:ext cx="971550" cy="285750"/>
          </a:xfrm>
          <a:prstGeom prst="rect">
            <a:avLst/>
          </a:prstGeom>
          <a:noFill/>
          <a:ln w="0">
            <a:noFill/>
            <a:prstDash val="solid"/>
          </a:ln>
        </p:spPr>
        <p:txBody>
          <a:bodyPr wrap="square" lIns="0" tIns="0" rIns="0" bIns="0" anchor="t">
            <a:normAutofit/>
          </a:bodyPr>
          <a:lstStyle>
            <a:defPPr algn="l">
              <a:defRPr sz="1425" b="1">
                <a:solidFill>
                  <a:srgbClr val="E79B54"/>
                </a:solidFill>
                <a:latin typeface="Arial"/>
                <a:ea typeface="Arial"/>
                <a:cs typeface="Arial"/>
              </a:defRPr>
            </a:defPPr>
          </a:lstStyle>
          <a:p>
            <a:pPr algn="l">
              <a:lnSpc>
                <a:spcPct val="105000"/>
              </a:lnSpc>
              <a:buNone/>
              <a:defRPr sz="1425" b="1">
                <a:solidFill>
                  <a:srgbClr val="E79B54"/>
                </a:solidFill>
                <a:latin typeface="Arial"/>
                <a:ea typeface="Arial"/>
                <a:cs typeface="Arial"/>
              </a:defRPr>
            </a:pPr>
            <a:r>
              <a:rPr sz="1425" b="1">
                <a:solidFill>
                  <a:srgbClr val="E79B54"/>
                </a:solidFill>
                <a:latin typeface="Arial"/>
                <a:ea typeface="Arial"/>
                <a:cs typeface="Arial"/>
              </a:rPr>
              <a:t>2:30</a:t>
            </a:r>
          </a:p>
        </p:txBody>
      </p:sp>
      <p:sp>
        <p:nvSpPr>
          <p:cNvPr id="17" name="Rectangle 16">
            <a:extLst>
              <a:ext uri="{FF2B5EF4-FFF2-40B4-BE49-F238E27FC236}">
                <a16:creationId xmlns:a16="http://schemas.microsoft.com/office/drawing/2014/main" id="{B5E9884E-0359-4F9E-8697-96D6B7C0D76B}"/>
              </a:ext>
            </a:extLst>
          </p:cNvPr>
          <p:cNvSpPr>
            <a:spLocks noGrp="1"/>
          </p:cNvSpPr>
          <p:nvPr/>
        </p:nvSpPr>
        <p:spPr>
          <a:xfrm>
            <a:off x="1943100" y="4048125"/>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Review the evidence</a:t>
            </a:r>
          </a:p>
        </p:txBody>
      </p:sp>
      <p:sp>
        <p:nvSpPr>
          <p:cNvPr id="18" name="Rectangle 17">
            <a:extLst>
              <a:ext uri="{FF2B5EF4-FFF2-40B4-BE49-F238E27FC236}">
                <a16:creationId xmlns:a16="http://schemas.microsoft.com/office/drawing/2014/main" id="{995F9FCD-C6EE-46DD-96EC-682CB47BA0DF}"/>
              </a:ext>
            </a:extLst>
          </p:cNvPr>
          <p:cNvSpPr>
            <a:spLocks noGrp="1"/>
          </p:cNvSpPr>
          <p:nvPr/>
        </p:nvSpPr>
        <p:spPr>
          <a:xfrm>
            <a:off x="5000625" y="4048125"/>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Open status, logs and calculated metrics.</a:t>
            </a:r>
          </a:p>
        </p:txBody>
      </p:sp>
      <p:sp>
        <p:nvSpPr>
          <p:cNvPr id="19" name="Straight Connector 18">
            <a:extLst>
              <a:ext uri="{FF2B5EF4-FFF2-40B4-BE49-F238E27FC236}">
                <a16:creationId xmlns:a16="http://schemas.microsoft.com/office/drawing/2014/main" id="{ACD752A0-3611-4F48-AB21-EFB5571A4BF6}"/>
              </a:ext>
            </a:extLst>
          </p:cNvPr>
          <p:cNvSpPr>
            <a:spLocks noGrp="1"/>
          </p:cNvSpPr>
          <p:nvPr/>
        </p:nvSpPr>
        <p:spPr>
          <a:xfrm>
            <a:off x="1943100" y="4419600"/>
            <a:ext cx="9315450" cy="0"/>
          </a:xfrm>
          <a:prstGeom prst="line">
            <a:avLst/>
          </a:prstGeom>
          <a:noFill/>
          <a:ln w="9525">
            <a:solidFill>
              <a:srgbClr val="D4DBD0"/>
            </a:solidFill>
            <a:prstDash val="solid"/>
          </a:ln>
        </p:spPr>
      </p:sp>
      <p:sp>
        <p:nvSpPr>
          <p:cNvPr id="20" name="Rectangle 19">
            <a:extLst>
              <a:ext uri="{FF2B5EF4-FFF2-40B4-BE49-F238E27FC236}">
                <a16:creationId xmlns:a16="http://schemas.microsoft.com/office/drawing/2014/main" id="{91E550C8-EEF9-4476-A650-6673928BA191}"/>
              </a:ext>
            </a:extLst>
          </p:cNvPr>
          <p:cNvSpPr>
            <a:spLocks noGrp="1"/>
          </p:cNvSpPr>
          <p:nvPr/>
        </p:nvSpPr>
        <p:spPr>
          <a:xfrm>
            <a:off x="685800" y="4667250"/>
            <a:ext cx="971550" cy="28575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3:30</a:t>
            </a:r>
          </a:p>
        </p:txBody>
      </p:sp>
      <p:sp>
        <p:nvSpPr>
          <p:cNvPr id="21" name="Rectangle 20">
            <a:extLst>
              <a:ext uri="{FF2B5EF4-FFF2-40B4-BE49-F238E27FC236}">
                <a16:creationId xmlns:a16="http://schemas.microsoft.com/office/drawing/2014/main" id="{AB28E795-BB6C-4C3E-B079-98890AE6688F}"/>
              </a:ext>
            </a:extLst>
          </p:cNvPr>
          <p:cNvSpPr>
            <a:spLocks noGrp="1"/>
          </p:cNvSpPr>
          <p:nvPr/>
        </p:nvSpPr>
        <p:spPr>
          <a:xfrm>
            <a:off x="1943100" y="4667250"/>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Show collaboration</a:t>
            </a:r>
          </a:p>
        </p:txBody>
      </p:sp>
      <p:sp>
        <p:nvSpPr>
          <p:cNvPr id="22" name="Rectangle 21">
            <a:extLst>
              <a:ext uri="{FF2B5EF4-FFF2-40B4-BE49-F238E27FC236}">
                <a16:creationId xmlns:a16="http://schemas.microsoft.com/office/drawing/2014/main" id="{11154FA2-AA16-46DE-9FE9-099BA6F45B22}"/>
              </a:ext>
            </a:extLst>
          </p:cNvPr>
          <p:cNvSpPr>
            <a:spLocks noGrp="1"/>
          </p:cNvSpPr>
          <p:nvPr/>
        </p:nvSpPr>
        <p:spPr>
          <a:xfrm>
            <a:off x="5000625" y="4667250"/>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Open the project member list.</a:t>
            </a:r>
          </a:p>
        </p:txBody>
      </p:sp>
      <p:sp>
        <p:nvSpPr>
          <p:cNvPr id="23" name="Straight Connector 22">
            <a:extLst>
              <a:ext uri="{FF2B5EF4-FFF2-40B4-BE49-F238E27FC236}">
                <a16:creationId xmlns:a16="http://schemas.microsoft.com/office/drawing/2014/main" id="{90BF66FC-497F-40D9-B873-DA1D941BCF16}"/>
              </a:ext>
            </a:extLst>
          </p:cNvPr>
          <p:cNvSpPr>
            <a:spLocks noGrp="1"/>
          </p:cNvSpPr>
          <p:nvPr/>
        </p:nvSpPr>
        <p:spPr>
          <a:xfrm>
            <a:off x="1943100" y="5038725"/>
            <a:ext cx="9315450" cy="0"/>
          </a:xfrm>
          <a:prstGeom prst="line">
            <a:avLst/>
          </a:prstGeom>
          <a:noFill/>
          <a:ln w="9525">
            <a:solidFill>
              <a:srgbClr val="D4DBD0"/>
            </a:solidFill>
            <a:prstDash val="solid"/>
          </a:ln>
        </p:spPr>
      </p:sp>
      <p:sp>
        <p:nvSpPr>
          <p:cNvPr id="24" name="Rectangle 23">
            <a:extLst>
              <a:ext uri="{FF2B5EF4-FFF2-40B4-BE49-F238E27FC236}">
                <a16:creationId xmlns:a16="http://schemas.microsoft.com/office/drawing/2014/main" id="{E560906A-8D3D-4433-B4AE-AA5DC04C9C7C}"/>
              </a:ext>
            </a:extLst>
          </p:cNvPr>
          <p:cNvSpPr>
            <a:spLocks noGrp="1"/>
          </p:cNvSpPr>
          <p:nvPr/>
        </p:nvSpPr>
        <p:spPr>
          <a:xfrm>
            <a:off x="685800" y="5286375"/>
            <a:ext cx="971550" cy="285750"/>
          </a:xfrm>
          <a:prstGeom prst="rect">
            <a:avLst/>
          </a:prstGeom>
          <a:noFill/>
          <a:ln w="0">
            <a:noFill/>
            <a:prstDash val="solid"/>
          </a:ln>
        </p:spPr>
        <p:txBody>
          <a:bodyPr wrap="square" lIns="0" tIns="0" rIns="0" bIns="0" anchor="t">
            <a:normAutofit/>
          </a:bodyPr>
          <a:lstStyle>
            <a:defPPr algn="l">
              <a:defRPr sz="1425" b="1">
                <a:solidFill>
                  <a:srgbClr val="148A78"/>
                </a:solidFill>
                <a:latin typeface="Arial"/>
                <a:ea typeface="Arial"/>
                <a:cs typeface="Arial"/>
              </a:defRPr>
            </a:defPPr>
          </a:lstStyle>
          <a:p>
            <a:pPr algn="l">
              <a:lnSpc>
                <a:spcPct val="105000"/>
              </a:lnSpc>
              <a:buNone/>
              <a:defRPr sz="1425" b="1">
                <a:solidFill>
                  <a:srgbClr val="148A78"/>
                </a:solidFill>
                <a:latin typeface="Arial"/>
                <a:ea typeface="Arial"/>
                <a:cs typeface="Arial"/>
              </a:defRPr>
            </a:pPr>
            <a:r>
              <a:rPr sz="1425" b="1">
                <a:solidFill>
                  <a:srgbClr val="148A78"/>
                </a:solidFill>
                <a:latin typeface="Arial"/>
                <a:ea typeface="Arial"/>
                <a:cs typeface="Arial"/>
              </a:rPr>
              <a:t>4:00</a:t>
            </a:r>
          </a:p>
        </p:txBody>
      </p:sp>
      <p:sp>
        <p:nvSpPr>
          <p:cNvPr id="25" name="Rectangle 24">
            <a:extLst>
              <a:ext uri="{FF2B5EF4-FFF2-40B4-BE49-F238E27FC236}">
                <a16:creationId xmlns:a16="http://schemas.microsoft.com/office/drawing/2014/main" id="{6C3B0E4F-644F-42FD-BD98-D4D893B2D514}"/>
              </a:ext>
            </a:extLst>
          </p:cNvPr>
          <p:cNvSpPr>
            <a:spLocks noGrp="1"/>
          </p:cNvSpPr>
          <p:nvPr/>
        </p:nvSpPr>
        <p:spPr>
          <a:xfrm>
            <a:off x="1943100" y="5286375"/>
            <a:ext cx="2857500" cy="276225"/>
          </a:xfrm>
          <a:prstGeom prst="rect">
            <a:avLst/>
          </a:prstGeom>
          <a:noFill/>
          <a:ln w="0">
            <a:noFill/>
            <a:prstDash val="solid"/>
          </a:ln>
        </p:spPr>
        <p:txBody>
          <a:bodyPr wrap="square" lIns="0" tIns="0" rIns="0" bIns="0" anchor="t">
            <a:normAutofit/>
          </a:bodyPr>
          <a:lstStyle>
            <a:defPPr algn="l">
              <a:defRPr sz="1500" b="1">
                <a:solidFill>
                  <a:srgbClr val="14241F"/>
                </a:solidFill>
                <a:latin typeface="Arial"/>
                <a:ea typeface="Arial"/>
                <a:cs typeface="Arial"/>
              </a:defRPr>
            </a:defPPr>
          </a:lstStyle>
          <a:p>
            <a:pPr algn="l">
              <a:lnSpc>
                <a:spcPct val="105000"/>
              </a:lnSpc>
              <a:buNone/>
              <a:defRPr sz="1500" b="1">
                <a:solidFill>
                  <a:srgbClr val="14241F"/>
                </a:solidFill>
                <a:latin typeface="Arial"/>
                <a:ea typeface="Arial"/>
                <a:cs typeface="Arial"/>
              </a:defRPr>
            </a:pPr>
            <a:r>
              <a:rPr sz="1500" b="1">
                <a:solidFill>
                  <a:srgbClr val="14241F"/>
                </a:solidFill>
                <a:latin typeface="Arial"/>
                <a:ea typeface="Arial"/>
                <a:cs typeface="Arial"/>
              </a:rPr>
              <a:t>Switch to Admin</a:t>
            </a:r>
          </a:p>
        </p:txBody>
      </p:sp>
      <p:sp>
        <p:nvSpPr>
          <p:cNvPr id="26" name="Rectangle 25">
            <a:extLst>
              <a:ext uri="{FF2B5EF4-FFF2-40B4-BE49-F238E27FC236}">
                <a16:creationId xmlns:a16="http://schemas.microsoft.com/office/drawing/2014/main" id="{45BA56F0-1909-4E2D-A27E-6951513CC491}"/>
              </a:ext>
            </a:extLst>
          </p:cNvPr>
          <p:cNvSpPr>
            <a:spLocks noGrp="1"/>
          </p:cNvSpPr>
          <p:nvPr/>
        </p:nvSpPr>
        <p:spPr>
          <a:xfrm>
            <a:off x="5000625" y="5286375"/>
            <a:ext cx="6191250" cy="342900"/>
          </a:xfrm>
          <a:prstGeom prst="rect">
            <a:avLst/>
          </a:prstGeom>
          <a:noFill/>
          <a:ln w="0">
            <a:noFill/>
            <a:prstDash val="solid"/>
          </a:ln>
        </p:spPr>
        <p:txBody>
          <a:bodyPr wrap="square" lIns="0" tIns="0" rIns="0" bIns="0" anchor="t">
            <a:normAutofit/>
          </a:bodyPr>
          <a:lstStyle>
            <a:defPPr algn="l">
              <a:defRPr sz="1350" b="0">
                <a:solidFill>
                  <a:srgbClr val="62736B"/>
                </a:solidFill>
                <a:latin typeface="Arial"/>
                <a:ea typeface="Arial"/>
                <a:cs typeface="Arial"/>
              </a:defRPr>
            </a:defPPr>
          </a:lstStyle>
          <a:p>
            <a:pPr algn="l">
              <a:lnSpc>
                <a:spcPct val="105000"/>
              </a:lnSpc>
              <a:buNone/>
              <a:defRPr sz="1350" b="0">
                <a:solidFill>
                  <a:srgbClr val="62736B"/>
                </a:solidFill>
                <a:latin typeface="Arial"/>
                <a:ea typeface="Arial"/>
                <a:cs typeface="Arial"/>
              </a:defRPr>
            </a:pPr>
            <a:r>
              <a:rPr sz="1350" b="0">
                <a:solidFill>
                  <a:srgbClr val="62736B"/>
                </a:solidFill>
                <a:latin typeface="Arial"/>
                <a:ea typeface="Arial"/>
                <a:cs typeface="Arial"/>
              </a:rPr>
              <a:t>Review accounts, projects, usage and audit history.</a:t>
            </a:r>
          </a:p>
        </p:txBody>
      </p:sp>
      <p:sp>
        <p:nvSpPr>
          <p:cNvPr id="27" name="Rectangle 26">
            <a:extLst>
              <a:ext uri="{FF2B5EF4-FFF2-40B4-BE49-F238E27FC236}">
                <a16:creationId xmlns:a16="http://schemas.microsoft.com/office/drawing/2014/main" id="{2D09198F-95D2-4703-9F52-A2AB4283DC6B}"/>
              </a:ext>
            </a:extLst>
          </p:cNvPr>
          <p:cNvSpPr>
            <a:spLocks noGrp="1"/>
          </p:cNvSpPr>
          <p:nvPr/>
        </p:nvSpPr>
        <p:spPr>
          <a:xfrm>
            <a:off x="695325" y="6038850"/>
            <a:ext cx="10572750" cy="228600"/>
          </a:xfrm>
          <a:prstGeom prst="rect">
            <a:avLst/>
          </a:prstGeom>
          <a:noFill/>
          <a:ln w="0">
            <a:noFill/>
            <a:prstDash val="solid"/>
          </a:ln>
        </p:spPr>
        <p:txBody>
          <a:bodyPr wrap="square" lIns="0" tIns="0" rIns="0" bIns="0" anchor="t">
            <a:normAutofit/>
          </a:bodyPr>
          <a:lstStyle>
            <a:defPPr algn="l">
              <a:defRPr sz="1275" b="1">
                <a:solidFill>
                  <a:srgbClr val="E79B54"/>
                </a:solidFill>
                <a:latin typeface="Arial"/>
                <a:ea typeface="Arial"/>
                <a:cs typeface="Arial"/>
              </a:defRPr>
            </a:defPPr>
          </a:lstStyle>
          <a:p>
            <a:pPr algn="l">
              <a:lnSpc>
                <a:spcPct val="105000"/>
              </a:lnSpc>
              <a:buNone/>
              <a:defRPr sz="1275" b="1">
                <a:solidFill>
                  <a:srgbClr val="E79B54"/>
                </a:solidFill>
                <a:latin typeface="Arial"/>
                <a:ea typeface="Arial"/>
                <a:cs typeface="Arial"/>
              </a:defRPr>
            </a:pPr>
            <a:r>
              <a:rPr sz="1275" b="1">
                <a:solidFill>
                  <a:srgbClr val="E79B54"/>
                </a:solidFill>
                <a:latin typeface="Arial"/>
                <a:ea typeface="Arial"/>
                <a:cs typeface="Arial"/>
              </a:rPr>
              <a:t>Show actual metrics from the live run. Label synthetic seed data before presenting it.</a:t>
            </a:r>
          </a:p>
        </p:txBody>
      </p:sp>
    </p:spTree>
    <p:extLst>
      <p:ext uri="{BB962C8B-B14F-4D97-AF65-F5344CB8AC3E}">
        <p14:creationId xmlns:p14="http://schemas.microsoft.com/office/powerpoint/2010/main" val="601625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D1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99ADD75-BDE1-4EA6-9CF7-DD71B4E05623}"/>
              </a:ext>
            </a:extLst>
          </p:cNvPr>
          <p:cNvSpPr>
            <a:spLocks noGrp="1"/>
          </p:cNvSpPr>
          <p:nvPr/>
        </p:nvSpPr>
        <p:spPr>
          <a:xfrm>
            <a:off x="609600" y="476250"/>
            <a:ext cx="4286250" cy="228600"/>
          </a:xfrm>
          <a:prstGeom prst="rect">
            <a:avLst/>
          </a:prstGeom>
          <a:noFill/>
          <a:ln w="0">
            <a:noFill/>
            <a:prstDash val="solid"/>
          </a:ln>
        </p:spPr>
        <p:txBody>
          <a:bodyPr wrap="square" lIns="0" tIns="0" rIns="0" bIns="0" anchor="t">
            <a:normAutofit/>
          </a:bodyPr>
          <a:lstStyle>
            <a:defPPr algn="l">
              <a:defRPr sz="1125" b="1">
                <a:solidFill>
                  <a:srgbClr val="A8E66B"/>
                </a:solidFill>
                <a:latin typeface="Arial"/>
                <a:ea typeface="Arial"/>
                <a:cs typeface="Arial"/>
              </a:defRPr>
            </a:defPPr>
          </a:lstStyle>
          <a:p>
            <a:pPr algn="l">
              <a:lnSpc>
                <a:spcPct val="105000"/>
              </a:lnSpc>
              <a:buNone/>
              <a:defRPr sz="1125" b="1">
                <a:solidFill>
                  <a:srgbClr val="A8E66B"/>
                </a:solidFill>
                <a:latin typeface="Arial"/>
                <a:ea typeface="Arial"/>
                <a:cs typeface="Arial"/>
              </a:defRPr>
            </a:pPr>
            <a:r>
              <a:rPr sz="1125" b="1">
                <a:solidFill>
                  <a:srgbClr val="A8E66B"/>
                </a:solidFill>
                <a:latin typeface="Arial"/>
                <a:ea typeface="Arial"/>
                <a:cs typeface="Arial"/>
              </a:rPr>
              <a:t>15 / NEXT ITERATIONS</a:t>
            </a:r>
          </a:p>
        </p:txBody>
      </p:sp>
      <p:sp>
        <p:nvSpPr>
          <p:cNvPr id="2" name="Rectangle 1">
            <a:extLst>
              <a:ext uri="{FF2B5EF4-FFF2-40B4-BE49-F238E27FC236}">
                <a16:creationId xmlns:a16="http://schemas.microsoft.com/office/drawing/2014/main" id="{BC0B09C0-4BEA-4BAF-9F06-181DBBAED55A}"/>
              </a:ext>
            </a:extLst>
          </p:cNvPr>
          <p:cNvSpPr>
            <a:spLocks noGrp="1"/>
          </p:cNvSpPr>
          <p:nvPr/>
        </p:nvSpPr>
        <p:spPr>
          <a:xfrm>
            <a:off x="609600" y="1057275"/>
            <a:ext cx="6667500" cy="1952625"/>
          </a:xfrm>
          <a:prstGeom prst="rect">
            <a:avLst/>
          </a:prstGeom>
          <a:noFill/>
          <a:ln w="0">
            <a:noFill/>
            <a:prstDash val="solid"/>
          </a:ln>
        </p:spPr>
        <p:txBody>
          <a:bodyPr wrap="square" lIns="0" tIns="0" rIns="0" bIns="0" anchor="t">
            <a:normAutofit/>
          </a:bodyPr>
          <a:lstStyle>
            <a:defPPr algn="l">
              <a:defRPr sz="3900" b="1">
                <a:solidFill>
                  <a:srgbClr val="FFFFFF"/>
                </a:solidFill>
                <a:latin typeface="Arial"/>
                <a:ea typeface="Arial"/>
                <a:cs typeface="Arial"/>
              </a:defRPr>
            </a:defPPr>
          </a:lstStyle>
          <a:p>
            <a:pPr algn="l">
              <a:lnSpc>
                <a:spcPct val="98000"/>
              </a:lnSpc>
              <a:buNone/>
              <a:defRPr sz="3900" b="1">
                <a:solidFill>
                  <a:srgbClr val="FFFFFF"/>
                </a:solidFill>
                <a:latin typeface="Arial"/>
                <a:ea typeface="Arial"/>
                <a:cs typeface="Arial"/>
              </a:defRPr>
            </a:pPr>
            <a:r>
              <a:rPr sz="3900" b="1">
                <a:solidFill>
                  <a:srgbClr val="FFFFFF"/>
                </a:solidFill>
                <a:latin typeface="Arial"/>
                <a:ea typeface="Arial"/>
                <a:cs typeface="Arial"/>
              </a:rPr>
              <a:t>A research platform</a:t>
            </a:r>
          </a:p>
          <a:p>
            <a:pPr algn="l">
              <a:lnSpc>
                <a:spcPct val="98000"/>
              </a:lnSpc>
              <a:buNone/>
              <a:defRPr sz="3900" b="1">
                <a:solidFill>
                  <a:srgbClr val="FFFFFF"/>
                </a:solidFill>
                <a:latin typeface="Arial"/>
                <a:ea typeface="Arial"/>
                <a:cs typeface="Arial"/>
              </a:defRPr>
            </a:pPr>
            <a:r>
              <a:rPr sz="3900" b="1">
                <a:solidFill>
                  <a:srgbClr val="FFFFFF"/>
                </a:solidFill>
                <a:latin typeface="Arial"/>
                <a:ea typeface="Arial"/>
                <a:cs typeface="Arial"/>
              </a:rPr>
              <a:t>that can grow with</a:t>
            </a:r>
          </a:p>
          <a:p>
            <a:pPr algn="l">
              <a:lnSpc>
                <a:spcPct val="98000"/>
              </a:lnSpc>
              <a:buNone/>
              <a:defRPr sz="3900" b="1">
                <a:solidFill>
                  <a:srgbClr val="FFFFFF"/>
                </a:solidFill>
                <a:latin typeface="Arial"/>
                <a:ea typeface="Arial"/>
                <a:cs typeface="Arial"/>
              </a:defRPr>
            </a:pPr>
            <a:r>
              <a:rPr sz="3900" b="1">
                <a:solidFill>
                  <a:srgbClr val="FFFFFF"/>
                </a:solidFill>
                <a:latin typeface="Arial"/>
                <a:ea typeface="Arial"/>
                <a:cs typeface="Arial"/>
              </a:rPr>
              <a:t>the work.</a:t>
            </a:r>
          </a:p>
        </p:txBody>
      </p:sp>
      <p:sp>
        <p:nvSpPr>
          <p:cNvPr id="3" name="Rectangle 2">
            <a:extLst>
              <a:ext uri="{FF2B5EF4-FFF2-40B4-BE49-F238E27FC236}">
                <a16:creationId xmlns:a16="http://schemas.microsoft.com/office/drawing/2014/main" id="{6697F1F5-82AA-4968-8898-152F5C6A4DD9}"/>
              </a:ext>
            </a:extLst>
          </p:cNvPr>
          <p:cNvSpPr>
            <a:spLocks noGrp="1"/>
          </p:cNvSpPr>
          <p:nvPr/>
        </p:nvSpPr>
        <p:spPr>
          <a:xfrm>
            <a:off x="609600" y="3476625"/>
            <a:ext cx="3619500" cy="209550"/>
          </a:xfrm>
          <a:prstGeom prst="rect">
            <a:avLst/>
          </a:prstGeom>
          <a:noFill/>
          <a:ln w="0">
            <a:noFill/>
            <a:prstDash val="solid"/>
          </a:ln>
        </p:spPr>
        <p:txBody>
          <a:bodyPr wrap="square" lIns="0" tIns="0" rIns="0" bIns="0" anchor="t">
            <a:normAutofit/>
          </a:bodyPr>
          <a:lstStyle>
            <a:defPPr algn="l">
              <a:defRPr sz="1050" b="1">
                <a:solidFill>
                  <a:srgbClr val="A8E66B"/>
                </a:solidFill>
                <a:latin typeface="Arial"/>
                <a:ea typeface="Arial"/>
                <a:cs typeface="Arial"/>
              </a:defRPr>
            </a:defPPr>
          </a:lstStyle>
          <a:p>
            <a:pPr algn="l">
              <a:lnSpc>
                <a:spcPct val="105000"/>
              </a:lnSpc>
              <a:buNone/>
              <a:defRPr sz="1050" b="1">
                <a:solidFill>
                  <a:srgbClr val="A8E66B"/>
                </a:solidFill>
                <a:latin typeface="Arial"/>
                <a:ea typeface="Arial"/>
                <a:cs typeface="Arial"/>
              </a:defRPr>
            </a:pPr>
            <a:r>
              <a:rPr sz="1050" b="1">
                <a:solidFill>
                  <a:srgbClr val="A8E66B"/>
                </a:solidFill>
                <a:latin typeface="Arial"/>
                <a:ea typeface="Arial"/>
                <a:cs typeface="Arial"/>
              </a:rPr>
              <a:t>CURRENT FOUNDATION</a:t>
            </a:r>
          </a:p>
        </p:txBody>
      </p:sp>
      <p:sp>
        <p:nvSpPr>
          <p:cNvPr id="4" name="Rectangle 3">
            <a:extLst>
              <a:ext uri="{FF2B5EF4-FFF2-40B4-BE49-F238E27FC236}">
                <a16:creationId xmlns:a16="http://schemas.microsoft.com/office/drawing/2014/main" id="{307F0FB9-7DD0-437A-B0B3-28B842EE09D3}"/>
              </a:ext>
            </a:extLst>
          </p:cNvPr>
          <p:cNvSpPr>
            <a:spLocks noGrp="1"/>
          </p:cNvSpPr>
          <p:nvPr/>
        </p:nvSpPr>
        <p:spPr>
          <a:xfrm>
            <a:off x="609600" y="3838575"/>
            <a:ext cx="4953000" cy="790575"/>
          </a:xfrm>
          <a:prstGeom prst="rect">
            <a:avLst/>
          </a:prstGeom>
          <a:noFill/>
          <a:ln w="0">
            <a:noFill/>
            <a:prstDash val="solid"/>
          </a:ln>
        </p:spPr>
        <p:txBody>
          <a:bodyPr wrap="square" lIns="0" tIns="0" rIns="0" bIns="0" anchor="t">
            <a:normAutofit/>
          </a:bodyPr>
          <a:lstStyle>
            <a:defPPr algn="l">
              <a:defRPr sz="1575" b="0">
                <a:solidFill>
                  <a:srgbClr val="D0DDD4"/>
                </a:solidFill>
                <a:latin typeface="Arial"/>
                <a:ea typeface="Arial"/>
                <a:cs typeface="Arial"/>
              </a:defRPr>
            </a:defPPr>
          </a:lstStyle>
          <a:p>
            <a:pPr algn="l">
              <a:lnSpc>
                <a:spcPct val="105000"/>
              </a:lnSpc>
              <a:buNone/>
              <a:defRPr sz="1575" b="0">
                <a:solidFill>
                  <a:srgbClr val="D0DDD4"/>
                </a:solidFill>
                <a:latin typeface="Arial"/>
                <a:ea typeface="Arial"/>
                <a:cs typeface="Arial"/>
              </a:defRPr>
            </a:pPr>
            <a:r>
              <a:rPr sz="1575" b="0">
                <a:solidFill>
                  <a:srgbClr val="D0DDD4"/>
                </a:solidFill>
                <a:latin typeface="Arial"/>
                <a:ea typeface="Arial"/>
                <a:cs typeface="Arial"/>
              </a:rPr>
              <a:t>CSV profiling, real baseline training, saved runs, collaboration and platform administration.</a:t>
            </a:r>
          </a:p>
        </p:txBody>
      </p:sp>
      <p:sp>
        <p:nvSpPr>
          <p:cNvPr id="5" name="Straight Connector 4">
            <a:extLst>
              <a:ext uri="{FF2B5EF4-FFF2-40B4-BE49-F238E27FC236}">
                <a16:creationId xmlns:a16="http://schemas.microsoft.com/office/drawing/2014/main" id="{265D8222-657C-4160-A72A-FECA77863402}"/>
              </a:ext>
            </a:extLst>
          </p:cNvPr>
          <p:cNvSpPr>
            <a:spLocks noGrp="1"/>
          </p:cNvSpPr>
          <p:nvPr/>
        </p:nvSpPr>
        <p:spPr>
          <a:xfrm>
            <a:off x="5962650" y="3429000"/>
            <a:ext cx="0" cy="2400300"/>
          </a:xfrm>
          <a:prstGeom prst="line">
            <a:avLst/>
          </a:prstGeom>
          <a:noFill/>
          <a:ln w="14288">
            <a:solidFill>
              <a:srgbClr val="314039"/>
            </a:solidFill>
            <a:prstDash val="solid"/>
          </a:ln>
        </p:spPr>
      </p:sp>
      <p:sp>
        <p:nvSpPr>
          <p:cNvPr id="6" name="Rectangle 5">
            <a:extLst>
              <a:ext uri="{FF2B5EF4-FFF2-40B4-BE49-F238E27FC236}">
                <a16:creationId xmlns:a16="http://schemas.microsoft.com/office/drawing/2014/main" id="{9CDBDC14-9153-47C9-AB42-56C1E21119E9}"/>
              </a:ext>
            </a:extLst>
          </p:cNvPr>
          <p:cNvSpPr>
            <a:spLocks noGrp="1"/>
          </p:cNvSpPr>
          <p:nvPr/>
        </p:nvSpPr>
        <p:spPr>
          <a:xfrm>
            <a:off x="6419850" y="3476625"/>
            <a:ext cx="2381250" cy="209550"/>
          </a:xfrm>
          <a:prstGeom prst="rect">
            <a:avLst/>
          </a:prstGeom>
          <a:noFill/>
          <a:ln w="0">
            <a:noFill/>
            <a:prstDash val="solid"/>
          </a:ln>
        </p:spPr>
        <p:txBody>
          <a:bodyPr wrap="square" lIns="0" tIns="0" rIns="0" bIns="0" anchor="t">
            <a:normAutofit/>
          </a:bodyPr>
          <a:lstStyle>
            <a:defPPr algn="l">
              <a:defRPr sz="1050" b="1">
                <a:solidFill>
                  <a:srgbClr val="A8E66B"/>
                </a:solidFill>
                <a:latin typeface="Arial"/>
                <a:ea typeface="Arial"/>
                <a:cs typeface="Arial"/>
              </a:defRPr>
            </a:defPPr>
          </a:lstStyle>
          <a:p>
            <a:pPr algn="l">
              <a:lnSpc>
                <a:spcPct val="105000"/>
              </a:lnSpc>
              <a:buNone/>
              <a:defRPr sz="1050" b="1">
                <a:solidFill>
                  <a:srgbClr val="A8E66B"/>
                </a:solidFill>
                <a:latin typeface="Arial"/>
                <a:ea typeface="Arial"/>
                <a:cs typeface="Arial"/>
              </a:defRPr>
            </a:pPr>
            <a:r>
              <a:rPr sz="1050" b="1">
                <a:solidFill>
                  <a:srgbClr val="A8E66B"/>
                </a:solidFill>
                <a:latin typeface="Arial"/>
                <a:ea typeface="Arial"/>
                <a:cs typeface="Arial"/>
              </a:rPr>
              <a:t>NEXT</a:t>
            </a:r>
          </a:p>
        </p:txBody>
      </p:sp>
      <p:sp>
        <p:nvSpPr>
          <p:cNvPr id="7" name="Rectangle 6">
            <a:extLst>
              <a:ext uri="{FF2B5EF4-FFF2-40B4-BE49-F238E27FC236}">
                <a16:creationId xmlns:a16="http://schemas.microsoft.com/office/drawing/2014/main" id="{279F1846-962F-4E74-A94A-32895EE1BF1C}"/>
              </a:ext>
            </a:extLst>
          </p:cNvPr>
          <p:cNvSpPr>
            <a:spLocks noGrp="1"/>
          </p:cNvSpPr>
          <p:nvPr/>
        </p:nvSpPr>
        <p:spPr>
          <a:xfrm>
            <a:off x="6438900" y="3914775"/>
            <a:ext cx="342900" cy="219075"/>
          </a:xfrm>
          <a:prstGeom prst="rect">
            <a:avLst/>
          </a:prstGeom>
          <a:noFill/>
          <a:ln w="0">
            <a:noFill/>
            <a:prstDash val="solid"/>
          </a:ln>
        </p:spPr>
        <p:txBody>
          <a:bodyPr wrap="square" lIns="0" tIns="0" rIns="0" bIns="0" anchor="t">
            <a:normAutofit/>
          </a:bodyPr>
          <a:lstStyle>
            <a:defPPr algn="l">
              <a:defRPr sz="975" b="1">
                <a:solidFill>
                  <a:srgbClr val="39C4A4"/>
                </a:solidFill>
                <a:latin typeface="Arial"/>
                <a:ea typeface="Arial"/>
                <a:cs typeface="Arial"/>
              </a:defRPr>
            </a:defPPr>
          </a:lstStyle>
          <a:p>
            <a:pPr algn="l">
              <a:lnSpc>
                <a:spcPct val="105000"/>
              </a:lnSpc>
              <a:buNone/>
              <a:defRPr sz="975" b="1">
                <a:solidFill>
                  <a:srgbClr val="39C4A4"/>
                </a:solidFill>
                <a:latin typeface="Arial"/>
                <a:ea typeface="Arial"/>
                <a:cs typeface="Arial"/>
              </a:defRPr>
            </a:pPr>
            <a:r>
              <a:rPr sz="975" b="1">
                <a:solidFill>
                  <a:srgbClr val="39C4A4"/>
                </a:solidFill>
                <a:latin typeface="Arial"/>
                <a:ea typeface="Arial"/>
                <a:cs typeface="Arial"/>
              </a:rPr>
              <a:t>01</a:t>
            </a:r>
          </a:p>
        </p:txBody>
      </p:sp>
      <p:sp>
        <p:nvSpPr>
          <p:cNvPr id="8" name="Rectangle 7">
            <a:extLst>
              <a:ext uri="{FF2B5EF4-FFF2-40B4-BE49-F238E27FC236}">
                <a16:creationId xmlns:a16="http://schemas.microsoft.com/office/drawing/2014/main" id="{4707DADE-3D99-46FE-BB1A-5AEBC981CBB3}"/>
              </a:ext>
            </a:extLst>
          </p:cNvPr>
          <p:cNvSpPr>
            <a:spLocks noGrp="1"/>
          </p:cNvSpPr>
          <p:nvPr/>
        </p:nvSpPr>
        <p:spPr>
          <a:xfrm>
            <a:off x="6905625" y="3895725"/>
            <a:ext cx="4572000" cy="285750"/>
          </a:xfrm>
          <a:prstGeom prst="rect">
            <a:avLst/>
          </a:prstGeom>
          <a:noFill/>
          <a:ln w="0">
            <a:noFill/>
            <a:prstDash val="solid"/>
          </a:ln>
        </p:spPr>
        <p:txBody>
          <a:bodyPr wrap="square" lIns="0" tIns="0" rIns="0" bIns="0" anchor="t">
            <a:normAutofit/>
          </a:bodyPr>
          <a:lstStyle>
            <a:defPPr algn="l">
              <a:defRPr sz="1425" b="0">
                <a:solidFill>
                  <a:srgbClr val="FFFFFF"/>
                </a:solidFill>
                <a:latin typeface="Arial"/>
                <a:ea typeface="Arial"/>
                <a:cs typeface="Arial"/>
              </a:defRPr>
            </a:defPPr>
          </a:lstStyle>
          <a:p>
            <a:pPr algn="l">
              <a:lnSpc>
                <a:spcPct val="105000"/>
              </a:lnSpc>
              <a:buNone/>
              <a:defRPr sz="1425" b="0">
                <a:solidFill>
                  <a:srgbClr val="FFFFFF"/>
                </a:solidFill>
                <a:latin typeface="Arial"/>
                <a:ea typeface="Arial"/>
                <a:cs typeface="Arial"/>
              </a:defRPr>
            </a:pPr>
            <a:r>
              <a:rPr sz="1425" b="0">
                <a:solidFill>
                  <a:srgbClr val="FFFFFF"/>
                </a:solidFill>
                <a:latin typeface="Arial"/>
                <a:ea typeface="Arial"/>
                <a:cs typeface="Arial"/>
              </a:rPr>
              <a:t>Persistent production database and storage</a:t>
            </a:r>
          </a:p>
        </p:txBody>
      </p:sp>
      <p:sp>
        <p:nvSpPr>
          <p:cNvPr id="9" name="Rectangle 8">
            <a:extLst>
              <a:ext uri="{FF2B5EF4-FFF2-40B4-BE49-F238E27FC236}">
                <a16:creationId xmlns:a16="http://schemas.microsoft.com/office/drawing/2014/main" id="{BD6594F5-99B4-4B7E-81B8-91077CA83B6E}"/>
              </a:ext>
            </a:extLst>
          </p:cNvPr>
          <p:cNvSpPr>
            <a:spLocks noGrp="1"/>
          </p:cNvSpPr>
          <p:nvPr/>
        </p:nvSpPr>
        <p:spPr>
          <a:xfrm>
            <a:off x="6438900" y="4381500"/>
            <a:ext cx="342900" cy="219075"/>
          </a:xfrm>
          <a:prstGeom prst="rect">
            <a:avLst/>
          </a:prstGeom>
          <a:noFill/>
          <a:ln w="0">
            <a:noFill/>
            <a:prstDash val="solid"/>
          </a:ln>
        </p:spPr>
        <p:txBody>
          <a:bodyPr wrap="square" lIns="0" tIns="0" rIns="0" bIns="0" anchor="t">
            <a:normAutofit/>
          </a:bodyPr>
          <a:lstStyle>
            <a:defPPr algn="l">
              <a:defRPr sz="975" b="1">
                <a:solidFill>
                  <a:srgbClr val="39C4A4"/>
                </a:solidFill>
                <a:latin typeface="Arial"/>
                <a:ea typeface="Arial"/>
                <a:cs typeface="Arial"/>
              </a:defRPr>
            </a:defPPr>
          </a:lstStyle>
          <a:p>
            <a:pPr algn="l">
              <a:lnSpc>
                <a:spcPct val="105000"/>
              </a:lnSpc>
              <a:buNone/>
              <a:defRPr sz="975" b="1">
                <a:solidFill>
                  <a:srgbClr val="39C4A4"/>
                </a:solidFill>
                <a:latin typeface="Arial"/>
                <a:ea typeface="Arial"/>
                <a:cs typeface="Arial"/>
              </a:defRPr>
            </a:pPr>
            <a:r>
              <a:rPr sz="975" b="1">
                <a:solidFill>
                  <a:srgbClr val="39C4A4"/>
                </a:solidFill>
                <a:latin typeface="Arial"/>
                <a:ea typeface="Arial"/>
                <a:cs typeface="Arial"/>
              </a:rPr>
              <a:t>02</a:t>
            </a:r>
          </a:p>
        </p:txBody>
      </p:sp>
      <p:sp>
        <p:nvSpPr>
          <p:cNvPr id="10" name="Rectangle 9">
            <a:extLst>
              <a:ext uri="{FF2B5EF4-FFF2-40B4-BE49-F238E27FC236}">
                <a16:creationId xmlns:a16="http://schemas.microsoft.com/office/drawing/2014/main" id="{DE33C82D-B2E4-4716-A773-D4DA86DBC170}"/>
              </a:ext>
            </a:extLst>
          </p:cNvPr>
          <p:cNvSpPr>
            <a:spLocks noGrp="1"/>
          </p:cNvSpPr>
          <p:nvPr/>
        </p:nvSpPr>
        <p:spPr>
          <a:xfrm>
            <a:off x="6905625" y="4362450"/>
            <a:ext cx="4572000" cy="285750"/>
          </a:xfrm>
          <a:prstGeom prst="rect">
            <a:avLst/>
          </a:prstGeom>
          <a:noFill/>
          <a:ln w="0">
            <a:noFill/>
            <a:prstDash val="solid"/>
          </a:ln>
        </p:spPr>
        <p:txBody>
          <a:bodyPr wrap="square" lIns="0" tIns="0" rIns="0" bIns="0" anchor="t">
            <a:normAutofit/>
          </a:bodyPr>
          <a:lstStyle>
            <a:defPPr algn="l">
              <a:defRPr sz="1425" b="0">
                <a:solidFill>
                  <a:srgbClr val="FFFFFF"/>
                </a:solidFill>
                <a:latin typeface="Arial"/>
                <a:ea typeface="Arial"/>
                <a:cs typeface="Arial"/>
              </a:defRPr>
            </a:defPPr>
          </a:lstStyle>
          <a:p>
            <a:pPr algn="l">
              <a:lnSpc>
                <a:spcPct val="105000"/>
              </a:lnSpc>
              <a:buNone/>
              <a:defRPr sz="1425" b="0">
                <a:solidFill>
                  <a:srgbClr val="FFFFFF"/>
                </a:solidFill>
                <a:latin typeface="Arial"/>
                <a:ea typeface="Arial"/>
                <a:cs typeface="Arial"/>
              </a:defRPr>
            </a:pPr>
            <a:r>
              <a:rPr sz="1425" b="0">
                <a:solidFill>
                  <a:srgbClr val="FFFFFF"/>
                </a:solidFill>
                <a:latin typeface="Arial"/>
                <a:ea typeface="Arial"/>
                <a:cs typeface="Arial"/>
              </a:rPr>
              <a:t>Saved model artifacts and prediction workflow</a:t>
            </a:r>
          </a:p>
        </p:txBody>
      </p:sp>
      <p:sp>
        <p:nvSpPr>
          <p:cNvPr id="11" name="Rectangle 10">
            <a:extLst>
              <a:ext uri="{FF2B5EF4-FFF2-40B4-BE49-F238E27FC236}">
                <a16:creationId xmlns:a16="http://schemas.microsoft.com/office/drawing/2014/main" id="{F6A51034-408E-4511-ADB1-C90FFFF4B848}"/>
              </a:ext>
            </a:extLst>
          </p:cNvPr>
          <p:cNvSpPr>
            <a:spLocks noGrp="1"/>
          </p:cNvSpPr>
          <p:nvPr/>
        </p:nvSpPr>
        <p:spPr>
          <a:xfrm>
            <a:off x="6438900" y="4848225"/>
            <a:ext cx="342900" cy="219075"/>
          </a:xfrm>
          <a:prstGeom prst="rect">
            <a:avLst/>
          </a:prstGeom>
          <a:noFill/>
          <a:ln w="0">
            <a:noFill/>
            <a:prstDash val="solid"/>
          </a:ln>
        </p:spPr>
        <p:txBody>
          <a:bodyPr wrap="square" lIns="0" tIns="0" rIns="0" bIns="0" anchor="t">
            <a:normAutofit/>
          </a:bodyPr>
          <a:lstStyle>
            <a:defPPr algn="l">
              <a:defRPr sz="975" b="1">
                <a:solidFill>
                  <a:srgbClr val="39C4A4"/>
                </a:solidFill>
                <a:latin typeface="Arial"/>
                <a:ea typeface="Arial"/>
                <a:cs typeface="Arial"/>
              </a:defRPr>
            </a:defPPr>
          </a:lstStyle>
          <a:p>
            <a:pPr algn="l">
              <a:lnSpc>
                <a:spcPct val="105000"/>
              </a:lnSpc>
              <a:buNone/>
              <a:defRPr sz="975" b="1">
                <a:solidFill>
                  <a:srgbClr val="39C4A4"/>
                </a:solidFill>
                <a:latin typeface="Arial"/>
                <a:ea typeface="Arial"/>
                <a:cs typeface="Arial"/>
              </a:defRPr>
            </a:pPr>
            <a:r>
              <a:rPr sz="975" b="1">
                <a:solidFill>
                  <a:srgbClr val="39C4A4"/>
                </a:solidFill>
                <a:latin typeface="Arial"/>
                <a:ea typeface="Arial"/>
                <a:cs typeface="Arial"/>
              </a:rPr>
              <a:t>03</a:t>
            </a:r>
          </a:p>
        </p:txBody>
      </p:sp>
      <p:sp>
        <p:nvSpPr>
          <p:cNvPr id="12" name="Rectangle 11">
            <a:extLst>
              <a:ext uri="{FF2B5EF4-FFF2-40B4-BE49-F238E27FC236}">
                <a16:creationId xmlns:a16="http://schemas.microsoft.com/office/drawing/2014/main" id="{A8B48C66-BDD9-4667-B9FB-21856E5073F2}"/>
              </a:ext>
            </a:extLst>
          </p:cNvPr>
          <p:cNvSpPr>
            <a:spLocks noGrp="1"/>
          </p:cNvSpPr>
          <p:nvPr/>
        </p:nvSpPr>
        <p:spPr>
          <a:xfrm>
            <a:off x="6905625" y="4829175"/>
            <a:ext cx="4572000" cy="285750"/>
          </a:xfrm>
          <a:prstGeom prst="rect">
            <a:avLst/>
          </a:prstGeom>
          <a:noFill/>
          <a:ln w="0">
            <a:noFill/>
            <a:prstDash val="solid"/>
          </a:ln>
        </p:spPr>
        <p:txBody>
          <a:bodyPr wrap="square" lIns="0" tIns="0" rIns="0" bIns="0" anchor="t">
            <a:normAutofit/>
          </a:bodyPr>
          <a:lstStyle>
            <a:defPPr algn="l">
              <a:defRPr sz="1425" b="0">
                <a:solidFill>
                  <a:srgbClr val="FFFFFF"/>
                </a:solidFill>
                <a:latin typeface="Arial"/>
                <a:ea typeface="Arial"/>
                <a:cs typeface="Arial"/>
              </a:defRPr>
            </a:defPPr>
          </a:lstStyle>
          <a:p>
            <a:pPr algn="l">
              <a:lnSpc>
                <a:spcPct val="105000"/>
              </a:lnSpc>
              <a:buNone/>
              <a:defRPr sz="1425" b="0">
                <a:solidFill>
                  <a:srgbClr val="FFFFFF"/>
                </a:solidFill>
                <a:latin typeface="Arial"/>
                <a:ea typeface="Arial"/>
                <a:cs typeface="Arial"/>
              </a:defRPr>
            </a:pPr>
            <a:r>
              <a:rPr sz="1425" b="0">
                <a:solidFill>
                  <a:srgbClr val="FFFFFF"/>
                </a:solidFill>
                <a:latin typeface="Arial"/>
                <a:ea typeface="Arial"/>
                <a:cs typeface="Arial"/>
              </a:rPr>
              <a:t>More model families and richer dataset formats</a:t>
            </a:r>
          </a:p>
        </p:txBody>
      </p:sp>
      <p:sp>
        <p:nvSpPr>
          <p:cNvPr id="13" name="Rectangle 12">
            <a:extLst>
              <a:ext uri="{FF2B5EF4-FFF2-40B4-BE49-F238E27FC236}">
                <a16:creationId xmlns:a16="http://schemas.microsoft.com/office/drawing/2014/main" id="{76180F57-530A-44C6-80F7-C639CA833341}"/>
              </a:ext>
            </a:extLst>
          </p:cNvPr>
          <p:cNvSpPr>
            <a:spLocks noGrp="1"/>
          </p:cNvSpPr>
          <p:nvPr/>
        </p:nvSpPr>
        <p:spPr>
          <a:xfrm>
            <a:off x="6438900" y="5314950"/>
            <a:ext cx="342900" cy="219075"/>
          </a:xfrm>
          <a:prstGeom prst="rect">
            <a:avLst/>
          </a:prstGeom>
          <a:noFill/>
          <a:ln w="0">
            <a:noFill/>
            <a:prstDash val="solid"/>
          </a:ln>
        </p:spPr>
        <p:txBody>
          <a:bodyPr wrap="square" lIns="0" tIns="0" rIns="0" bIns="0" anchor="t">
            <a:normAutofit/>
          </a:bodyPr>
          <a:lstStyle>
            <a:defPPr algn="l">
              <a:defRPr sz="975" b="1">
                <a:solidFill>
                  <a:srgbClr val="39C4A4"/>
                </a:solidFill>
                <a:latin typeface="Arial"/>
                <a:ea typeface="Arial"/>
                <a:cs typeface="Arial"/>
              </a:defRPr>
            </a:defPPr>
          </a:lstStyle>
          <a:p>
            <a:pPr algn="l">
              <a:lnSpc>
                <a:spcPct val="105000"/>
              </a:lnSpc>
              <a:buNone/>
              <a:defRPr sz="975" b="1">
                <a:solidFill>
                  <a:srgbClr val="39C4A4"/>
                </a:solidFill>
                <a:latin typeface="Arial"/>
                <a:ea typeface="Arial"/>
                <a:cs typeface="Arial"/>
              </a:defRPr>
            </a:pPr>
            <a:r>
              <a:rPr sz="975" b="1">
                <a:solidFill>
                  <a:srgbClr val="39C4A4"/>
                </a:solidFill>
                <a:latin typeface="Arial"/>
                <a:ea typeface="Arial"/>
                <a:cs typeface="Arial"/>
              </a:rPr>
              <a:t>04</a:t>
            </a:r>
          </a:p>
        </p:txBody>
      </p:sp>
      <p:sp>
        <p:nvSpPr>
          <p:cNvPr id="14" name="Rectangle 13">
            <a:extLst>
              <a:ext uri="{FF2B5EF4-FFF2-40B4-BE49-F238E27FC236}">
                <a16:creationId xmlns:a16="http://schemas.microsoft.com/office/drawing/2014/main" id="{0478A12E-CA0F-4922-8BC7-0FB8194261B7}"/>
              </a:ext>
            </a:extLst>
          </p:cNvPr>
          <p:cNvSpPr>
            <a:spLocks noGrp="1"/>
          </p:cNvSpPr>
          <p:nvPr/>
        </p:nvSpPr>
        <p:spPr>
          <a:xfrm>
            <a:off x="6905625" y="5295900"/>
            <a:ext cx="4572000" cy="285750"/>
          </a:xfrm>
          <a:prstGeom prst="rect">
            <a:avLst/>
          </a:prstGeom>
          <a:noFill/>
          <a:ln w="0">
            <a:noFill/>
            <a:prstDash val="solid"/>
          </a:ln>
        </p:spPr>
        <p:txBody>
          <a:bodyPr wrap="square" lIns="0" tIns="0" rIns="0" bIns="0" anchor="t">
            <a:normAutofit/>
          </a:bodyPr>
          <a:lstStyle>
            <a:defPPr algn="l">
              <a:defRPr sz="1425" b="0">
                <a:solidFill>
                  <a:srgbClr val="FFFFFF"/>
                </a:solidFill>
                <a:latin typeface="Arial"/>
                <a:ea typeface="Arial"/>
                <a:cs typeface="Arial"/>
              </a:defRPr>
            </a:defPPr>
          </a:lstStyle>
          <a:p>
            <a:pPr algn="l">
              <a:lnSpc>
                <a:spcPct val="105000"/>
              </a:lnSpc>
              <a:buNone/>
              <a:defRPr sz="1425" b="0">
                <a:solidFill>
                  <a:srgbClr val="FFFFFF"/>
                </a:solidFill>
                <a:latin typeface="Arial"/>
                <a:ea typeface="Arial"/>
                <a:cs typeface="Arial"/>
              </a:defRPr>
            </a:pPr>
            <a:r>
              <a:rPr sz="1425" b="0">
                <a:solidFill>
                  <a:srgbClr val="FFFFFF"/>
                </a:solidFill>
                <a:latin typeface="Arial"/>
                <a:ea typeface="Arial"/>
                <a:cs typeface="Arial"/>
              </a:rPr>
              <a:t>Deployment hardening and larger-scale compute</a:t>
            </a:r>
          </a:p>
        </p:txBody>
      </p:sp>
      <p:sp>
        <p:nvSpPr>
          <p:cNvPr id="15" name="Rectangle 14">
            <a:extLst>
              <a:ext uri="{FF2B5EF4-FFF2-40B4-BE49-F238E27FC236}">
                <a16:creationId xmlns:a16="http://schemas.microsoft.com/office/drawing/2014/main" id="{DC6B3F3D-4FB2-4038-993A-746DE4497483}"/>
              </a:ext>
            </a:extLst>
          </p:cNvPr>
          <p:cNvSpPr>
            <a:spLocks noGrp="1"/>
          </p:cNvSpPr>
          <p:nvPr/>
        </p:nvSpPr>
        <p:spPr>
          <a:xfrm>
            <a:off x="609600" y="5657850"/>
            <a:ext cx="2476500" cy="295275"/>
          </a:xfrm>
          <a:prstGeom prst="rect">
            <a:avLst/>
          </a:prstGeom>
          <a:noFill/>
          <a:ln w="0">
            <a:noFill/>
            <a:prstDash val="solid"/>
          </a:ln>
        </p:spPr>
        <p:txBody>
          <a:bodyPr wrap="square" lIns="0" tIns="0" rIns="0" bIns="0" anchor="t">
            <a:normAutofit/>
          </a:bodyPr>
          <a:lstStyle>
            <a:defPPr algn="l">
              <a:defRPr sz="1350" b="1">
                <a:solidFill>
                  <a:srgbClr val="A8E66B"/>
                </a:solidFill>
                <a:latin typeface="Arial"/>
                <a:ea typeface="Arial"/>
                <a:cs typeface="Arial"/>
              </a:defRPr>
            </a:defPPr>
          </a:lstStyle>
          <a:p>
            <a:pPr algn="l">
              <a:lnSpc>
                <a:spcPct val="105000"/>
              </a:lnSpc>
              <a:buNone/>
              <a:defRPr sz="1350" b="1">
                <a:solidFill>
                  <a:srgbClr val="A8E66B"/>
                </a:solidFill>
                <a:latin typeface="Arial"/>
                <a:ea typeface="Arial"/>
                <a:cs typeface="Arial"/>
              </a:defRPr>
            </a:pPr>
            <a:r>
              <a:rPr sz="1350" b="1">
                <a:solidFill>
                  <a:srgbClr val="A8E66B"/>
                </a:solidFill>
                <a:latin typeface="Arial"/>
                <a:ea typeface="Arial"/>
                <a:cs typeface="Arial"/>
              </a:rPr>
              <a:t>DATAHIVE</a:t>
            </a:r>
          </a:p>
        </p:txBody>
      </p:sp>
      <p:sp>
        <p:nvSpPr>
          <p:cNvPr id="16" name="Rectangle 15">
            <a:extLst>
              <a:ext uri="{FF2B5EF4-FFF2-40B4-BE49-F238E27FC236}">
                <a16:creationId xmlns:a16="http://schemas.microsoft.com/office/drawing/2014/main" id="{AFA96045-05E7-4387-8A59-9C5E3153BD1C}"/>
              </a:ext>
            </a:extLst>
          </p:cNvPr>
          <p:cNvSpPr>
            <a:spLocks noGrp="1"/>
          </p:cNvSpPr>
          <p:nvPr/>
        </p:nvSpPr>
        <p:spPr>
          <a:xfrm>
            <a:off x="609600" y="5981700"/>
            <a:ext cx="8477250" cy="247650"/>
          </a:xfrm>
          <a:prstGeom prst="rect">
            <a:avLst/>
          </a:prstGeom>
          <a:noFill/>
          <a:ln w="0">
            <a:noFill/>
            <a:prstDash val="solid"/>
          </a:ln>
        </p:spPr>
        <p:txBody>
          <a:bodyPr wrap="square" lIns="0" tIns="0" rIns="0" bIns="0" anchor="t">
            <a:normAutofit/>
          </a:bodyPr>
          <a:lstStyle>
            <a:defPPr algn="l">
              <a:defRPr sz="1500" b="0">
                <a:solidFill>
                  <a:srgbClr val="D0DDD4"/>
                </a:solidFill>
                <a:latin typeface="Arial"/>
                <a:ea typeface="Arial"/>
                <a:cs typeface="Arial"/>
              </a:defRPr>
            </a:defPPr>
          </a:lstStyle>
          <a:p>
            <a:pPr algn="l">
              <a:lnSpc>
                <a:spcPct val="105000"/>
              </a:lnSpc>
              <a:buNone/>
              <a:defRPr sz="1500" b="0">
                <a:solidFill>
                  <a:srgbClr val="D0DDD4"/>
                </a:solidFill>
                <a:latin typeface="Arial"/>
                <a:ea typeface="Arial"/>
                <a:cs typeface="Arial"/>
              </a:defRPr>
            </a:pPr>
            <a:r>
              <a:rPr sz="1500" b="0">
                <a:solidFill>
                  <a:srgbClr val="D0DDD4"/>
                </a:solidFill>
                <a:latin typeface="Arial"/>
                <a:ea typeface="Arial"/>
                <a:cs typeface="Arial"/>
              </a:rPr>
              <a:t>A shared record of how a model result was produced.</a:t>
            </a:r>
          </a:p>
        </p:txBody>
      </p:sp>
      <p:sp>
        <p:nvSpPr>
          <p:cNvPr id="17" name="Straight Connector 16">
            <a:extLst>
              <a:ext uri="{FF2B5EF4-FFF2-40B4-BE49-F238E27FC236}">
                <a16:creationId xmlns:a16="http://schemas.microsoft.com/office/drawing/2014/main" id="{4E59FFBE-630A-4C94-9AAF-5B236CD5F7F8}"/>
              </a:ext>
            </a:extLst>
          </p:cNvPr>
          <p:cNvSpPr>
            <a:spLocks noGrp="1"/>
          </p:cNvSpPr>
          <p:nvPr/>
        </p:nvSpPr>
        <p:spPr>
          <a:xfrm>
            <a:off x="533400" y="6457950"/>
            <a:ext cx="11125200" cy="0"/>
          </a:xfrm>
          <a:prstGeom prst="line">
            <a:avLst/>
          </a:prstGeom>
          <a:noFill/>
          <a:ln w="9525">
            <a:solidFill>
              <a:srgbClr val="314039"/>
            </a:solidFill>
            <a:prstDash val="solid"/>
          </a:ln>
        </p:spPr>
      </p:sp>
      <p:sp>
        <p:nvSpPr>
          <p:cNvPr id="18" name="Oval 17">
            <a:extLst>
              <a:ext uri="{FF2B5EF4-FFF2-40B4-BE49-F238E27FC236}">
                <a16:creationId xmlns:a16="http://schemas.microsoft.com/office/drawing/2014/main" id="{C4BE2590-B6D9-49E3-BC7F-C6084223EBA1}"/>
              </a:ext>
            </a:extLst>
          </p:cNvPr>
          <p:cNvSpPr>
            <a:spLocks noGrp="1"/>
          </p:cNvSpPr>
          <p:nvPr/>
        </p:nvSpPr>
        <p:spPr>
          <a:xfrm>
            <a:off x="542925" y="6591300"/>
            <a:ext cx="114300" cy="114300"/>
          </a:xfrm>
          <a:prstGeom prst="ellipse">
            <a:avLst/>
          </a:prstGeom>
          <a:solidFill>
            <a:srgbClr val="A8E66B"/>
          </a:solidFill>
          <a:ln w="0">
            <a:noFill/>
            <a:prstDash val="solid"/>
          </a:ln>
        </p:spPr>
      </p:sp>
      <p:sp>
        <p:nvSpPr>
          <p:cNvPr id="19" name="Rectangle 18">
            <a:extLst>
              <a:ext uri="{FF2B5EF4-FFF2-40B4-BE49-F238E27FC236}">
                <a16:creationId xmlns:a16="http://schemas.microsoft.com/office/drawing/2014/main" id="{3D3CC311-2EA7-40CE-B30B-E43CD2EF6C7A}"/>
              </a:ext>
            </a:extLst>
          </p:cNvPr>
          <p:cNvSpPr>
            <a:spLocks noGrp="1"/>
          </p:cNvSpPr>
          <p:nvPr/>
        </p:nvSpPr>
        <p:spPr>
          <a:xfrm>
            <a:off x="742950" y="6553200"/>
            <a:ext cx="5238750" cy="190500"/>
          </a:xfrm>
          <a:prstGeom prst="rect">
            <a:avLst/>
          </a:prstGeom>
          <a:noFill/>
          <a:ln w="0">
            <a:noFill/>
            <a:prstDash val="solid"/>
          </a:ln>
        </p:spPr>
        <p:txBody>
          <a:bodyPr wrap="square" lIns="0" tIns="0" rIns="0" bIns="0" anchor="t">
            <a:normAutofit/>
          </a:bodyPr>
          <a:lstStyle>
            <a:defPPr algn="l">
              <a:defRPr sz="900" b="1">
                <a:solidFill>
                  <a:srgbClr val="9AAEA3"/>
                </a:solidFill>
                <a:latin typeface="Arial"/>
                <a:ea typeface="Arial"/>
                <a:cs typeface="Arial"/>
              </a:defRPr>
            </a:defPPr>
          </a:lstStyle>
          <a:p>
            <a:pPr algn="l">
              <a:lnSpc>
                <a:spcPct val="105000"/>
              </a:lnSpc>
              <a:buNone/>
              <a:defRPr sz="900" b="1">
                <a:solidFill>
                  <a:srgbClr val="9AAEA3"/>
                </a:solidFill>
                <a:latin typeface="Arial"/>
                <a:ea typeface="Arial"/>
                <a:cs typeface="Arial"/>
              </a:defRPr>
            </a:pPr>
            <a:r>
              <a:rPr sz="900" b="1">
                <a:solidFill>
                  <a:srgbClr val="9AAEA3"/>
                </a:solidFill>
                <a:latin typeface="Arial"/>
                <a:ea typeface="Arial"/>
                <a:cs typeface="Arial"/>
              </a:rPr>
              <a:t>DATAHIVE  /  AI RESEARCH &amp; DEVELOPMENT</a:t>
            </a:r>
          </a:p>
        </p:txBody>
      </p:sp>
      <p:sp>
        <p:nvSpPr>
          <p:cNvPr id="20" name="Rectangle 19">
            <a:extLst>
              <a:ext uri="{FF2B5EF4-FFF2-40B4-BE49-F238E27FC236}">
                <a16:creationId xmlns:a16="http://schemas.microsoft.com/office/drawing/2014/main" id="{DD038E5A-26A8-4653-8B6B-0C99CCED8CB1}"/>
              </a:ext>
            </a:extLst>
          </p:cNvPr>
          <p:cNvSpPr>
            <a:spLocks noGrp="1"/>
          </p:cNvSpPr>
          <p:nvPr/>
        </p:nvSpPr>
        <p:spPr>
          <a:xfrm>
            <a:off x="11258550" y="6553200"/>
            <a:ext cx="400050" cy="171450"/>
          </a:xfrm>
          <a:prstGeom prst="rect">
            <a:avLst/>
          </a:prstGeom>
          <a:noFill/>
          <a:ln w="0">
            <a:noFill/>
            <a:prstDash val="solid"/>
          </a:ln>
        </p:spPr>
        <p:txBody>
          <a:bodyPr wrap="square" lIns="0" tIns="0" rIns="0" bIns="0" anchor="t">
            <a:normAutofit/>
          </a:bodyPr>
          <a:lstStyle>
            <a:defPPr algn="r">
              <a:defRPr sz="975" b="1">
                <a:solidFill>
                  <a:srgbClr val="9AAEA3"/>
                </a:solidFill>
                <a:latin typeface="Arial"/>
                <a:ea typeface="Arial"/>
                <a:cs typeface="Arial"/>
              </a:defRPr>
            </a:defPPr>
          </a:lstStyle>
          <a:p>
            <a:pPr algn="r">
              <a:lnSpc>
                <a:spcPct val="105000"/>
              </a:lnSpc>
              <a:buNone/>
              <a:defRPr sz="975" b="1">
                <a:solidFill>
                  <a:srgbClr val="9AAEA3"/>
                </a:solidFill>
                <a:latin typeface="Arial"/>
                <a:ea typeface="Arial"/>
                <a:cs typeface="Arial"/>
              </a:defRPr>
            </a:pPr>
            <a:r>
              <a:rPr sz="975" b="1">
                <a:solidFill>
                  <a:srgbClr val="9AAEA3"/>
                </a:solidFill>
                <a:latin typeface="Arial"/>
                <a:ea typeface="Arial"/>
                <a:cs typeface="Arial"/>
              </a:rPr>
              <a:t>16</a:t>
            </a:r>
          </a:p>
        </p:txBody>
      </p:sp>
    </p:spTree>
    <p:extLst>
      <p:ext uri="{BB962C8B-B14F-4D97-AF65-F5344CB8AC3E}">
        <p14:creationId xmlns:p14="http://schemas.microsoft.com/office/powerpoint/2010/main" val="14043857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2300</Words>
  <Application>Microsoft Office PowerPoint</Application>
  <DocSecurity>0</DocSecurity>
  <PresentationFormat>Widescreen</PresentationFormat>
  <Paragraphs>347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Shreya `</cp:lastModifiedBy>
  <cp:revision>1</cp:revision>
  <dcterms:created xsi:type="dcterms:W3CDTF">2026-10-10T09:02:33Z</dcterms:created>
  <dcterms:modified xsi:type="dcterms:W3CDTF">2026-10-10T09:06:04Z</dcterms:modified>
</cp:coreProperties>
</file>