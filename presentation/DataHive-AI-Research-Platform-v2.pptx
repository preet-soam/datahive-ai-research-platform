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77a1458d2044c6" /><Relationship Type="http://schemas.openxmlformats.org/officeDocument/2006/relationships/extended-properties" Target="/docProps/app.xml" Id="Rdf5b7f56f51b4e08" /><Relationship Type="http://schemas.openxmlformats.org/officeDocument/2006/relationships/officeDocument" Target="/ppt/presentation.xml" Id="R7951265dd4b341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60ae5876fe4dfa"/>
  </p:sldMasterIdLst>
  <p:notesMasterIdLst>
    <p:notesMasterId xmlns:r="http://schemas.openxmlformats.org/officeDocument/2006/relationships" r:id="R4dc8ccecba654c2c"/>
  </p:notesMasterIdLst>
  <p:sldIdLst>
    <p:sldId xmlns:r="http://schemas.openxmlformats.org/officeDocument/2006/relationships" id="256" r:id="Re5411e3842bc466d"/>
    <p:sldId xmlns:r="http://schemas.openxmlformats.org/officeDocument/2006/relationships" id="257" r:id="R27d022f09fba47ae"/>
    <p:sldId xmlns:r="http://schemas.openxmlformats.org/officeDocument/2006/relationships" id="258" r:id="Rdc858b6eb56a4c35"/>
    <p:sldId xmlns:r="http://schemas.openxmlformats.org/officeDocument/2006/relationships" id="259" r:id="R0eec986efe0842b4"/>
    <p:sldId xmlns:r="http://schemas.openxmlformats.org/officeDocument/2006/relationships" id="260" r:id="Re41fe45795314487"/>
    <p:sldId xmlns:r="http://schemas.openxmlformats.org/officeDocument/2006/relationships" id="261" r:id="R8df1ab2b198b4a87"/>
    <p:sldId xmlns:r="http://schemas.openxmlformats.org/officeDocument/2006/relationships" id="262" r:id="R7cca2a2efe7f4735"/>
    <p:sldId xmlns:r="http://schemas.openxmlformats.org/officeDocument/2006/relationships" id="263" r:id="R36189552756e48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653127f5f04684" /><Relationship Type="http://schemas.openxmlformats.org/officeDocument/2006/relationships/slideMaster" Target="/ppt/slideMasters/slideMaster1.xml" Id="Rbe60ae5876fe4dfa" /><Relationship Type="http://schemas.openxmlformats.org/officeDocument/2006/relationships/notesMaster" Target="/ppt/notesMasters/notesMaster1.xml" Id="R4dc8ccecba654c2c" /><Relationship Type="http://schemas.openxmlformats.org/officeDocument/2006/relationships/presProps" Target="/ppt/presProps.xml" Id="R7a9bcd6099e746fd" /><Relationship Type="http://schemas.openxmlformats.org/officeDocument/2006/relationships/tableStyles" Target="/ppt/tableStyles.xml" Id="R9058a9ca2fa34b51" /><Relationship Type="http://schemas.openxmlformats.org/officeDocument/2006/relationships/slide" Target="/ppt/slides/slide1.xml" Id="Re5411e3842bc466d" /><Relationship Type="http://schemas.openxmlformats.org/officeDocument/2006/relationships/slide" Target="/ppt/slides/slide2.xml" Id="R27d022f09fba47ae" /><Relationship Type="http://schemas.openxmlformats.org/officeDocument/2006/relationships/slide" Target="/ppt/slides/slide3.xml" Id="Rdc858b6eb56a4c35" /><Relationship Type="http://schemas.openxmlformats.org/officeDocument/2006/relationships/slide" Target="/ppt/slides/slide4.xml" Id="R0eec986efe0842b4" /><Relationship Type="http://schemas.openxmlformats.org/officeDocument/2006/relationships/slide" Target="/ppt/slides/slide5.xml" Id="Re41fe45795314487" /><Relationship Type="http://schemas.openxmlformats.org/officeDocument/2006/relationships/slide" Target="/ppt/slides/slide6.xml" Id="R8df1ab2b198b4a87" /><Relationship Type="http://schemas.openxmlformats.org/officeDocument/2006/relationships/slide" Target="/ppt/slides/slide7.xml" Id="R7cca2a2efe7f4735" /><Relationship Type="http://schemas.openxmlformats.org/officeDocument/2006/relationships/slide" Target="/ppt/slides/slide8.xml" Id="R36189552756e48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24571deb1d49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fe7a571c6b49de" /><Relationship Type="http://schemas.openxmlformats.org/officeDocument/2006/relationships/notesMaster" Target="/ppt/notesMasters/notesMaster1.xml" Id="R44dbeb0212df4b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c6929ad1dd491d" /><Relationship Type="http://schemas.openxmlformats.org/officeDocument/2006/relationships/notesMaster" Target="/ppt/notesMasters/notesMaster1.xml" Id="R45c6d594a5c448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e75da6448f4938" /><Relationship Type="http://schemas.openxmlformats.org/officeDocument/2006/relationships/notesMaster" Target="/ppt/notesMasters/notesMaster1.xml" Id="Re01f5372acdb42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9558ce35ba4fed" /><Relationship Type="http://schemas.openxmlformats.org/officeDocument/2006/relationships/notesMaster" Target="/ppt/notesMasters/notesMaster1.xml" Id="R89b1c8ddc61b4b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9519c4e6684257" /><Relationship Type="http://schemas.openxmlformats.org/officeDocument/2006/relationships/notesMaster" Target="/ppt/notesMasters/notesMaster1.xml" Id="R5b4102e697e447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031612d5e84272" /><Relationship Type="http://schemas.openxmlformats.org/officeDocument/2006/relationships/notesMaster" Target="/ppt/notesMasters/notesMaster1.xml" Id="R4cad2a4e97b142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5e737cc18b4763" /><Relationship Type="http://schemas.openxmlformats.org/officeDocument/2006/relationships/notesMaster" Target="/ppt/notesMasters/notesMaster1.xml" Id="R7c67b6e2260340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7bad96b5cb44f7" /><Relationship Type="http://schemas.openxmlformats.org/officeDocument/2006/relationships/notesMaster" Target="/ppt/notesMasters/notesMaster1.xml" Id="Rf1619d74bef343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the supplied AI Research project brief and marking rubric screenshots.</a:t>
            </a:r>
          </a:p>
          <a:p xmlns:a="http://schemas.openxmlformats.org/drawingml/2006/main">
            <a:r>
              <a:t>Implementation details are taken from the DataHive source tree and README. The Java web package has not yet been launched in Tomcat.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 synthesizes the supplied project description and researcher/admin feature lists.</a:t>
            </a:r>
          </a:p>
          <a:p xmlns:a="http://schemas.openxmlformats.org/drawingml/2006/main">
            <a:r>
              <a:t>The demo researcher receives a clearly labeled synthetic churn dataset on first database initialization.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 and researcher functions are transcribed and consolidated from the supplied specification screenshots.</a:t>
            </a:r>
          </a:p>
          <a:p xmlns:a="http://schemas.openxmlformats.org/drawingml/2006/main">
            <a:r>
              <a:t>DataHive implements local resource inventory and usage accounting; it does not allocate cloud instances.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reflects the repository packages under src/main/java/org/datahive, JSP views and assets, schema.sql, and README.</a:t>
            </a:r>
          </a:p>
          <a:p xmlns:a="http://schemas.openxmlformats.org/drawingml/2006/main">
            <a:r>
              <a:t>Local H2 and filesystem uploads are development/demo choices; production hosting and cloud resource provisioning are not part of this build.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Logical model is based on src/main/resources/db/schema.sql and the JDBC DAO relationships.</a:t>
            </a:r>
          </a:p>
          <a:p xmlns:a="http://schemas.openxmlformats.org/drawingml/2006/main">
            <a:r>
              <a:t>The duplicate project and dataset labels show two different relationship paths through the same entity, not separate physical tables.</a:t>
            </a:r>
          </a:p>
          <a:p xmlns:a="http://schemas.openxmlformats.org/drawingml/2006/main">
            <a:r>
              <a:t>Arrow labels are abbreviated relationship cues; the schema foreign keys provide the actual constraints.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Training settings and workflow are taken from TrainingService, TrainingRunServlet and the experiment JSPs.</a:t>
            </a:r>
          </a:p>
          <a:p xmlns:a="http://schemas.openxmlformats.org/drawingml/2006/main">
            <a:r>
              <a:t>No example metric scores are shown here. Reported metrics are generated by a completed run, not placeholders.</a:t>
            </a:r>
          </a:p>
          <a:p xmlns:a="http://schemas.openxmlformats.org/drawingml/2006/main">
            <a:r>
              <a:t>The model scope is an interpretable binary classification baseline and is not a general model-training service.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Marks and rubric wording are from the supplied Java Web Based Projects Marking Rubric screenshot.</a:t>
            </a:r>
          </a:p>
          <a:p xmlns:a="http://schemas.openxmlformats.org/drawingml/2006/main">
            <a:r>
              <a:t>The source screenshot separately lists a Java GUI rubric; DataHive is explicitly a web-based application.</a:t>
            </a:r>
          </a:p>
          <a:p xmlns:a="http://schemas.openxmlformats.org/drawingml/2006/main">
            <a:r>
              <a:t>Code exists for the cited areas, but the full WAR/Tomcat execution has not been verified yet.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demo order and deadline are from the team brief. The screenshot lists the deadline as 10 October 2026 at 11:59 PM without a timezone.</a:t>
            </a:r>
          </a:p>
          <a:p xmlns:a="http://schemas.openxmlformats.org/drawingml/2006/main">
            <a:r>
              <a:t>Maven 3.9.16 successfully packaged target/datahive.war with Java 21. Tests were skipped. A Tomcat runtime launch and genuine browser screenshots are still pending.</a:t>
            </a:r>
          </a:p>
          <a:p xmlns:a="http://schemas.openxmlformats.org/drawingml/2006/main">
            <a:r>
              <a:t>Before submission, grant reviewer access to the GitHub repository and upload the final PPT or exported PDF through the provided 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d912af48bf4a3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a9fa7e6cd34b9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c29c29953c439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2a742d772b43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5c40538c145c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84a81d004c4f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BB9FFD-EC22-4501-9784-86F453921D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BA8672B-0741-4191-AB1B-DEB6EC5A64D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092CB71-7AAB-4AB7-BCD7-7F4156009D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69C4E5-2AB3-4850-8DD7-CE96DBC638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D413A7-0157-44E1-B776-74C9F3FD6B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24BAFDD-243E-4B1F-864C-B9DC5A8B2C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20BEF9-2C4D-4414-A7F2-A3454FDCF5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3402B5A-2057-4B49-B3E1-205E06FA9A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84E9FC-063B-4C43-B2D5-256406A49C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1B0495D-787E-4D8A-950A-A6DB54ADA8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6a3ebc7b50474d" /><Relationship Type="http://schemas.openxmlformats.org/officeDocument/2006/relationships/slideLayout" Target="/ppt/slideLayouts/slideLayout1.xml" Id="R841dcf6603834ff5" /><Relationship Type="http://schemas.openxmlformats.org/officeDocument/2006/relationships/slideLayout" Target="/ppt/slideLayouts/slideLayout2.xml" Id="Rf8c0740dc0d24e8b" /><Relationship Type="http://schemas.openxmlformats.org/officeDocument/2006/relationships/slideLayout" Target="/ppt/slideLayouts/slideLayout3.xml" Id="R95695e2f6f2b44cc" /><Relationship Type="http://schemas.openxmlformats.org/officeDocument/2006/relationships/slideLayout" Target="/ppt/slideLayouts/slideLayout4.xml" Id="R0df19e593aa045c7" /><Relationship Type="http://schemas.openxmlformats.org/officeDocument/2006/relationships/slideLayout" Target="/ppt/slideLayouts/slideLayout5.xml" Id="R7e5ff18b566744ea" /><Relationship Type="http://schemas.openxmlformats.org/officeDocument/2006/relationships/slideLayout" Target="/ppt/slideLayouts/slideLayout6.xml" Id="Rd11831cf19f243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1dcf6603834ff5"/>
    <p:sldLayoutId xmlns:r="http://schemas.openxmlformats.org/officeDocument/2006/relationships" id="2147483650" r:id="Rf8c0740dc0d24e8b"/>
    <p:sldLayoutId xmlns:r="http://schemas.openxmlformats.org/officeDocument/2006/relationships" id="2147483651" r:id="R95695e2f6f2b44cc"/>
    <p:sldLayoutId xmlns:r="http://schemas.openxmlformats.org/officeDocument/2006/relationships" id="2147483652" r:id="R0df19e593aa045c7"/>
    <p:sldLayoutId xmlns:r="http://schemas.openxmlformats.org/officeDocument/2006/relationships" id="2147483653" r:id="R7e5ff18b566744ea"/>
    <p:sldLayoutId xmlns:r="http://schemas.openxmlformats.org/officeDocument/2006/relationships" id="2147483654" r:id="Rd11831cf19f243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8f8645a9014155" /><Relationship Type="http://schemas.openxmlformats.org/officeDocument/2006/relationships/notesSlide" Target="/ppt/notesSlides/notesSlide1.xml" Id="R3ffdf71d7da94e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503a68bc404e90" /><Relationship Type="http://schemas.openxmlformats.org/officeDocument/2006/relationships/notesSlide" Target="/ppt/notesSlides/notesSlide2.xml" Id="R6f2f954898bf4e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2510c9002544de" /><Relationship Type="http://schemas.openxmlformats.org/officeDocument/2006/relationships/notesSlide" Target="/ppt/notesSlides/notesSlide3.xml" Id="Re54e13a004fe42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e28ab09f9f4afe" /><Relationship Type="http://schemas.openxmlformats.org/officeDocument/2006/relationships/notesSlide" Target="/ppt/notesSlides/notesSlide4.xml" Id="R4194fe35ce4248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93e3fa116646a6" /><Relationship Type="http://schemas.openxmlformats.org/officeDocument/2006/relationships/notesSlide" Target="/ppt/notesSlides/notesSlide5.xml" Id="R9f29c52a59694d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2c41fab0a045b0" /><Relationship Type="http://schemas.openxmlformats.org/officeDocument/2006/relationships/notesSlide" Target="/ppt/notesSlides/notesSlide6.xml" Id="R9b20147d519548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55a51397d14b4a" /><Relationship Type="http://schemas.openxmlformats.org/officeDocument/2006/relationships/notesSlide" Target="/ppt/notesSlides/notesSlide7.xml" Id="Rc03ba8e8801145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7e3c729c8644b6" /><Relationship Type="http://schemas.openxmlformats.org/officeDocument/2006/relationships/notesSlide" Target="/ppt/notesSlides/notesSlide8.xml" Id="Re0c2b726029e4b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ver-accent-bar">
            <a:extLst xmlns:a="http://schemas.openxmlformats.org/drawingml/2006/main">
              <a:ext uri="{FF2B5EF4-FFF2-40B4-BE49-F238E27FC236}">
                <a16:creationId xmlns:a16="http://schemas.microsoft.com/office/drawing/2014/main" id="{FFE39D91-811D-48DD-A112-F681B4C5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7620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E8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9A4281A7-C660-44EA-89EC-8F99176A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42975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CBE8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CBE8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BE86B"/>
                </a:solidFill>
                <a:latin typeface="Arial"/>
                <a:ea typeface="Arial"/>
                <a:cs typeface="Arial"/>
              </a:rPr>
              <a:t>JAVA WEB PROJECT  /  AI RESEARCH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7F10A86-ADAE-42A7-BE73-6EA06A72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476375"/>
            <a:ext cx="809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DataHive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04C18CA-6494-4C1C-8931-B5867B20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38425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0">
                <a:solidFill>
                  <a:srgbClr val="D3E2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D3E2E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3E2E0"/>
                </a:solidFill>
                <a:latin typeface="Arial"/>
                <a:ea typeface="Arial"/>
                <a:cs typeface="Arial"/>
              </a:rPr>
              <a:t>A research workspace from dataset to experiment evidence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68EA7FB2-3065-422C-B5B0-67228025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86200"/>
            <a:ext cx="1021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0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positioning">
            <a:extLst xmlns:a="http://schemas.openxmlformats.org/drawingml/2006/main">
              <a:ext uri="{FF2B5EF4-FFF2-40B4-BE49-F238E27FC236}">
                <a16:creationId xmlns:a16="http://schemas.microsoft.com/office/drawing/2014/main" id="{DCB11367-D5D3-480C-8C7D-C702BFD5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904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Projects  ·  CSV data  ·  CPU training  ·  Collaboration</a:t>
            </a:r>
          </a:p>
        </p:txBody>
      </p:sp>
      <p:sp>
        <p:nvSpPr>
          <p:cNvPr id="7" name="cover-scope-shape">
            <a:extLst xmlns:a="http://schemas.openxmlformats.org/drawingml/2006/main">
              <a:ext uri="{FF2B5EF4-FFF2-40B4-BE49-F238E27FC236}">
                <a16:creationId xmlns:a16="http://schemas.microsoft.com/office/drawing/2014/main" id="{3C60D4CB-4338-4423-AD3A-0DD2813E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2038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39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scope-text">
            <a:extLst xmlns:a="http://schemas.openxmlformats.org/drawingml/2006/main">
              <a:ext uri="{FF2B5EF4-FFF2-40B4-BE49-F238E27FC236}">
                <a16:creationId xmlns:a16="http://schemas.microsoft.com/office/drawing/2014/main" id="{9040A9E2-DDCF-4F89-8D74-32238F56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1967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CBE8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CBE8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BE86B"/>
                </a:solidFill>
                <a:latin typeface="Arial"/>
                <a:ea typeface="Arial"/>
                <a:cs typeface="Arial"/>
              </a:rPr>
              <a:t>LOCAL DEMO BASELINE</a:t>
            </a:r>
          </a:p>
        </p:txBody>
      </p:sp>
      <p:sp>
        <p:nvSpPr>
          <p:cNvPr id="9" name="cover-team">
            <a:extLst xmlns:a="http://schemas.openxmlformats.org/drawingml/2006/main">
              <a:ext uri="{FF2B5EF4-FFF2-40B4-BE49-F238E27FC236}">
                <a16:creationId xmlns:a16="http://schemas.microsoft.com/office/drawing/2014/main" id="{7B833717-853B-4A35-94B2-06FCF8DF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292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7C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C9C9"/>
                </a:solidFill>
                <a:latin typeface="Arial"/>
                <a:ea typeface="Arial"/>
                <a:cs typeface="Arial"/>
              </a:rPr>
              <a:t>Team project: 4 members  /  Implementation: one builder</a:t>
            </a:r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CF83D87C-CFD0-4DA5-8553-7AB32230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292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B7C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7C9C9"/>
                </a:solidFill>
                <a:latin typeface="Arial"/>
                <a:ea typeface="Arial"/>
                <a:cs typeface="Arial"/>
              </a:rPr>
              <a:t>8 October 2026</a:t>
            </a:r>
          </a:p>
        </p:txBody>
      </p:sp>
    </p:spTree>
    <p:extLst>
      <p:ext uri="{BB962C8B-B14F-4D97-AF65-F5344CB8AC3E}">
        <p14:creationId xmlns:p14="http://schemas.microsoft.com/office/powerpoint/2010/main" val="21391079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ection-2">
            <a:extLst xmlns:a="http://schemas.openxmlformats.org/drawingml/2006/main">
              <a:ext uri="{FF2B5EF4-FFF2-40B4-BE49-F238E27FC236}">
                <a16:creationId xmlns:a16="http://schemas.microsoft.com/office/drawing/2014/main" id="{1A9F91F6-07FE-401C-A0A0-C5C44C3F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98F"/>
                </a:solidFill>
                <a:latin typeface="Arial"/>
                <a:ea typeface="Arial"/>
                <a:cs typeface="Arial"/>
              </a:rPr>
              <a:t>01 / PRODUCT WORKFLOW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F0DD0C25-B0BF-4409-B506-0B13E1E9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One traceable research loop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E68FD218-81AF-43E8-A66F-4F38F9C2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Keep project context attached as data moves from upload to a reproducible model run.</a:t>
            </a:r>
          </a:p>
        </p:txBody>
      </p:sp>
      <p:sp>
        <p:nvSpPr>
          <p:cNvPr id="4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8BE09FB8-465F-4A4D-B3E3-A4F212F8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8F52640F-B3CF-459C-A740-CDD8A664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619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1125" b="1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061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journey-project-box">
            <a:extLst xmlns:a="http://schemas.openxmlformats.org/drawingml/2006/main">
              <a:ext uri="{FF2B5EF4-FFF2-40B4-BE49-F238E27FC236}">
                <a16:creationId xmlns:a16="http://schemas.microsoft.com/office/drawing/2014/main" id="{F37A0E03-0B22-49B0-8142-93F0CB5B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26695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B"/>
            </a:solidFill>
            <a:prstDash val="solid"/>
          </a:ln>
        </p:spPr>
      </p:sp>
      <p:sp>
        <p:nvSpPr>
          <p:cNvPr id="7" name="journey-project-accent">
            <a:extLst xmlns:a="http://schemas.openxmlformats.org/drawingml/2006/main">
              <a:ext uri="{FF2B5EF4-FFF2-40B4-BE49-F238E27FC236}">
                <a16:creationId xmlns:a16="http://schemas.microsoft.com/office/drawing/2014/main" id="{73435064-3EF1-4FFF-A5AA-0682418C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7625" cy="19431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journey-project-num-circle">
            <a:extLst xmlns:a="http://schemas.openxmlformats.org/drawingml/2006/main">
              <a:ext uri="{FF2B5EF4-FFF2-40B4-BE49-F238E27FC236}">
                <a16:creationId xmlns:a16="http://schemas.microsoft.com/office/drawing/2014/main" id="{E0C1AAA1-4622-4DAB-88FD-17F5129D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journey-project-num">
            <a:extLst xmlns:a="http://schemas.openxmlformats.org/drawingml/2006/main">
              <a:ext uri="{FF2B5EF4-FFF2-40B4-BE49-F238E27FC236}">
                <a16:creationId xmlns:a16="http://schemas.microsoft.com/office/drawing/2014/main" id="{291581AD-84C6-4A6B-92E7-67E2C971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journey-project-title">
            <a:extLst xmlns:a="http://schemas.openxmlformats.org/drawingml/2006/main">
              <a:ext uri="{FF2B5EF4-FFF2-40B4-BE49-F238E27FC236}">
                <a16:creationId xmlns:a16="http://schemas.microsoft.com/office/drawing/2014/main" id="{A633D55B-68CC-4B38-AB20-0662EAD4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5431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Project</a:t>
            </a:r>
          </a:p>
        </p:txBody>
      </p:sp>
      <p:sp>
        <p:nvSpPr>
          <p:cNvPr id="11" name="journey-project-body">
            <a:extLst xmlns:a="http://schemas.openxmlformats.org/drawingml/2006/main">
              <a:ext uri="{FF2B5EF4-FFF2-40B4-BE49-F238E27FC236}">
                <a16:creationId xmlns:a16="http://schemas.microsoft.com/office/drawing/2014/main" id="{15654406-E96A-4C99-9158-F80E4200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18859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Create a workspace and invite existing researcher accounts.</a:t>
            </a:r>
          </a:p>
        </p:txBody>
      </p:sp>
      <p:sp>
        <p:nvSpPr>
          <p:cNvPr id="12" name="journey-data-box">
            <a:extLst xmlns:a="http://schemas.openxmlformats.org/drawingml/2006/main">
              <a:ext uri="{FF2B5EF4-FFF2-40B4-BE49-F238E27FC236}">
                <a16:creationId xmlns:a16="http://schemas.microsoft.com/office/drawing/2014/main" id="{13ABB2CD-A121-4B1B-8F99-6C37BE87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00300"/>
            <a:ext cx="226695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B"/>
            </a:solidFill>
            <a:prstDash val="solid"/>
          </a:ln>
        </p:spPr>
      </p:sp>
      <p:sp>
        <p:nvSpPr>
          <p:cNvPr id="13" name="journey-data-accent">
            <a:extLst xmlns:a="http://schemas.openxmlformats.org/drawingml/2006/main">
              <a:ext uri="{FF2B5EF4-FFF2-40B4-BE49-F238E27FC236}">
                <a16:creationId xmlns:a16="http://schemas.microsoft.com/office/drawing/2014/main" id="{21F81BED-5C83-43B0-88C4-51937AD1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00300"/>
            <a:ext cx="47625" cy="19431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journey-data-num-circle">
            <a:extLst xmlns:a="http://schemas.openxmlformats.org/drawingml/2006/main">
              <a:ext uri="{FF2B5EF4-FFF2-40B4-BE49-F238E27FC236}">
                <a16:creationId xmlns:a16="http://schemas.microsoft.com/office/drawing/2014/main" id="{3CD42A5F-F2D3-41D7-A533-B7DA4033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62225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journey-data-num">
            <a:extLst xmlns:a="http://schemas.openxmlformats.org/drawingml/2006/main">
              <a:ext uri="{FF2B5EF4-FFF2-40B4-BE49-F238E27FC236}">
                <a16:creationId xmlns:a16="http://schemas.microsoft.com/office/drawing/2014/main" id="{086B9D12-686B-4DA0-B0CD-C1A973EA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622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journey-data-title">
            <a:extLst xmlns:a="http://schemas.openxmlformats.org/drawingml/2006/main">
              <a:ext uri="{FF2B5EF4-FFF2-40B4-BE49-F238E27FC236}">
                <a16:creationId xmlns:a16="http://schemas.microsoft.com/office/drawing/2014/main" id="{79E61300-8BB8-46B7-B586-0FEAD57F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5431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17" name="journey-data-body">
            <a:extLst xmlns:a="http://schemas.openxmlformats.org/drawingml/2006/main">
              <a:ext uri="{FF2B5EF4-FFF2-40B4-BE49-F238E27FC236}">
                <a16:creationId xmlns:a16="http://schemas.microsoft.com/office/drawing/2014/main" id="{35AC4CD5-BAA6-4641-8AC0-D2A0406B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05125"/>
            <a:ext cx="18859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Upload CSV; inspect row count, column types, missingness and samples.</a:t>
            </a:r>
          </a:p>
        </p:txBody>
      </p:sp>
      <p:sp>
        <p:nvSpPr>
          <p:cNvPr id="18" name="journey-run-box">
            <a:extLst xmlns:a="http://schemas.openxmlformats.org/drawingml/2006/main">
              <a:ext uri="{FF2B5EF4-FFF2-40B4-BE49-F238E27FC236}">
                <a16:creationId xmlns:a16="http://schemas.microsoft.com/office/drawing/2014/main" id="{BEF6C328-7EA6-4065-AB45-B28B109C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0300"/>
            <a:ext cx="226695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B"/>
            </a:solidFill>
            <a:prstDash val="solid"/>
          </a:ln>
        </p:spPr>
      </p:sp>
      <p:sp>
        <p:nvSpPr>
          <p:cNvPr id="19" name="journey-run-accent">
            <a:extLst xmlns:a="http://schemas.openxmlformats.org/drawingml/2006/main">
              <a:ext uri="{FF2B5EF4-FFF2-40B4-BE49-F238E27FC236}">
                <a16:creationId xmlns:a16="http://schemas.microsoft.com/office/drawing/2014/main" id="{0C7BCC9F-2802-4272-8745-53BCDFBF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0300"/>
            <a:ext cx="47625" cy="19431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A9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journey-run-num-circle">
            <a:extLst xmlns:a="http://schemas.openxmlformats.org/drawingml/2006/main">
              <a:ext uri="{FF2B5EF4-FFF2-40B4-BE49-F238E27FC236}">
                <a16:creationId xmlns:a16="http://schemas.microsoft.com/office/drawing/2014/main" id="{DBFF93AA-FE7D-4FB1-9830-25695F4E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62225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A9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journey-run-num">
            <a:extLst xmlns:a="http://schemas.openxmlformats.org/drawingml/2006/main">
              <a:ext uri="{FF2B5EF4-FFF2-40B4-BE49-F238E27FC236}">
                <a16:creationId xmlns:a16="http://schemas.microsoft.com/office/drawing/2014/main" id="{48FEF37C-277C-4CA7-9328-446E912F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622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journey-run-title">
            <a:extLst xmlns:a="http://schemas.openxmlformats.org/drawingml/2006/main">
              <a:ext uri="{FF2B5EF4-FFF2-40B4-BE49-F238E27FC236}">
                <a16:creationId xmlns:a16="http://schemas.microsoft.com/office/drawing/2014/main" id="{50E45A46-8F83-4200-8AF0-1FB0912E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431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Training run</a:t>
            </a:r>
          </a:p>
        </p:txBody>
      </p:sp>
      <p:sp>
        <p:nvSpPr>
          <p:cNvPr id="23" name="journey-run-body">
            <a:extLst xmlns:a="http://schemas.openxmlformats.org/drawingml/2006/main">
              <a:ext uri="{FF2B5EF4-FFF2-40B4-BE49-F238E27FC236}">
                <a16:creationId xmlns:a16="http://schemas.microsoft.com/office/drawing/2014/main" id="{3D82E440-8434-4135-A087-446C7C80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05125"/>
            <a:ext cx="18859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Choose the binary target and baseline settings; follow job progress.</a:t>
            </a:r>
          </a:p>
        </p:txBody>
      </p:sp>
      <p:sp>
        <p:nvSpPr>
          <p:cNvPr id="24" name="journey-evidence-box">
            <a:extLst xmlns:a="http://schemas.openxmlformats.org/drawingml/2006/main">
              <a:ext uri="{FF2B5EF4-FFF2-40B4-BE49-F238E27FC236}">
                <a16:creationId xmlns:a16="http://schemas.microsoft.com/office/drawing/2014/main" id="{A11A7595-9160-4BE8-8D75-BBF67363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00300"/>
            <a:ext cx="226695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B"/>
            </a:solidFill>
            <a:prstDash val="solid"/>
          </a:ln>
        </p:spPr>
      </p:sp>
      <p:sp>
        <p:nvSpPr>
          <p:cNvPr id="25" name="journey-evidence-accent">
            <a:extLst xmlns:a="http://schemas.openxmlformats.org/drawingml/2006/main">
              <a:ext uri="{FF2B5EF4-FFF2-40B4-BE49-F238E27FC236}">
                <a16:creationId xmlns:a16="http://schemas.microsoft.com/office/drawing/2014/main" id="{BC9FE961-BE7E-4806-8AFC-E28B8815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00300"/>
            <a:ext cx="47625" cy="19431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journey-evidence-num-circle">
            <a:extLst xmlns:a="http://schemas.openxmlformats.org/drawingml/2006/main">
              <a:ext uri="{FF2B5EF4-FFF2-40B4-BE49-F238E27FC236}">
                <a16:creationId xmlns:a16="http://schemas.microsoft.com/office/drawing/2014/main" id="{9439B96B-161E-44EC-8712-0F4F2987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62225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journey-evidence-num">
            <a:extLst xmlns:a="http://schemas.openxmlformats.org/drawingml/2006/main">
              <a:ext uri="{FF2B5EF4-FFF2-40B4-BE49-F238E27FC236}">
                <a16:creationId xmlns:a16="http://schemas.microsoft.com/office/drawing/2014/main" id="{F05BE906-1C88-4BEA-A63B-E4C7A2CD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622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journey-evidence-title">
            <a:extLst xmlns:a="http://schemas.openxmlformats.org/drawingml/2006/main">
              <a:ext uri="{FF2B5EF4-FFF2-40B4-BE49-F238E27FC236}">
                <a16:creationId xmlns:a16="http://schemas.microsoft.com/office/drawing/2014/main" id="{8BCB347E-F205-4B39-BE80-D8263BD9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5431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9" name="journey-evidence-body">
            <a:extLst xmlns:a="http://schemas.openxmlformats.org/drawingml/2006/main">
              <a:ext uri="{FF2B5EF4-FFF2-40B4-BE49-F238E27FC236}">
                <a16:creationId xmlns:a16="http://schemas.microsoft.com/office/drawing/2014/main" id="{D0DF0CA2-0713-423C-A6DA-41BCCB39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05125"/>
            <a:ext cx="18859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Review holdout metrics, timestamped logs and saved configuration.</a:t>
            </a:r>
          </a:p>
        </p:txBody>
      </p:sp>
      <p:sp>
        <p:nvSpPr>
          <p:cNvPr id="30" name="journey-arrow-0">
            <a:extLst xmlns:a="http://schemas.openxmlformats.org/drawingml/2006/main">
              <a:ext uri="{FF2B5EF4-FFF2-40B4-BE49-F238E27FC236}">
                <a16:creationId xmlns:a16="http://schemas.microsoft.com/office/drawing/2014/main" id="{4A42BA7B-19E0-45C6-B79B-DE8097CD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24200"/>
            <a:ext cx="323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00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400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A98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1" name="journey-arrow-1">
            <a:extLst xmlns:a="http://schemas.openxmlformats.org/drawingml/2006/main">
              <a:ext uri="{FF2B5EF4-FFF2-40B4-BE49-F238E27FC236}">
                <a16:creationId xmlns:a16="http://schemas.microsoft.com/office/drawing/2014/main" id="{01FBB0FE-5CFC-4132-B5DE-AF3FD4E1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24200"/>
            <a:ext cx="323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00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400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A98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2" name="journey-arrow-2">
            <a:extLst xmlns:a="http://schemas.openxmlformats.org/drawingml/2006/main">
              <a:ext uri="{FF2B5EF4-FFF2-40B4-BE49-F238E27FC236}">
                <a16:creationId xmlns:a16="http://schemas.microsoft.com/office/drawing/2014/main" id="{9D5213A1-5D49-4EF2-91BB-2BB86571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24200"/>
            <a:ext cx="323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00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400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A98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3" name="journey-bottom-rule">
            <a:extLst xmlns:a="http://schemas.openxmlformats.org/drawingml/2006/main">
              <a:ext uri="{FF2B5EF4-FFF2-40B4-BE49-F238E27FC236}">
                <a16:creationId xmlns:a16="http://schemas.microsoft.com/office/drawing/2014/main" id="{D3B9C46F-DB9E-4837-B0F2-1345594F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journey-researcher-label">
            <a:extLst xmlns:a="http://schemas.openxmlformats.org/drawingml/2006/main">
              <a:ext uri="{FF2B5EF4-FFF2-40B4-BE49-F238E27FC236}">
                <a16:creationId xmlns:a16="http://schemas.microsoft.com/office/drawing/2014/main" id="{E6BD69E3-8306-4A20-82D8-6BE7ED8C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50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98F"/>
                </a:solidFill>
                <a:latin typeface="Arial"/>
                <a:ea typeface="Arial"/>
                <a:cs typeface="Arial"/>
              </a:rPr>
              <a:t>RESEARCHER</a:t>
            </a:r>
          </a:p>
        </p:txBody>
      </p:sp>
      <p:sp>
        <p:nvSpPr>
          <p:cNvPr id="35" name="journey-researcher-summary">
            <a:extLst xmlns:a="http://schemas.openxmlformats.org/drawingml/2006/main">
              <a:ext uri="{FF2B5EF4-FFF2-40B4-BE49-F238E27FC236}">
                <a16:creationId xmlns:a16="http://schemas.microsoft.com/office/drawing/2014/main" id="{00442C45-CB62-4C89-8A24-8D400A1E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04825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Owns the data, run settings and experiment history.</a:t>
            </a:r>
          </a:p>
        </p:txBody>
      </p:sp>
      <p:sp>
        <p:nvSpPr>
          <p:cNvPr id="36" name="journey-admin-label">
            <a:extLst xmlns:a="http://schemas.openxmlformats.org/drawingml/2006/main">
              <a:ext uri="{FF2B5EF4-FFF2-40B4-BE49-F238E27FC236}">
                <a16:creationId xmlns:a16="http://schemas.microsoft.com/office/drawing/2014/main" id="{C92F3A28-C0B5-4B03-A635-21C0B0C8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863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37" name="journey-admin-summary">
            <a:extLst xmlns:a="http://schemas.openxmlformats.org/drawingml/2006/main">
              <a:ext uri="{FF2B5EF4-FFF2-40B4-BE49-F238E27FC236}">
                <a16:creationId xmlns:a16="http://schemas.microsoft.com/office/drawing/2014/main" id="{C270B9F1-A812-4240-AAE9-FF01A5A4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0482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Manages accounts, projects, resource records and usage reports.</a:t>
            </a:r>
          </a:p>
        </p:txBody>
      </p:sp>
      <p:sp>
        <p:nvSpPr>
          <p:cNvPr id="38" name="footer-2">
            <a:extLst xmlns:a="http://schemas.openxmlformats.org/drawingml/2006/main">
              <a:ext uri="{FF2B5EF4-FFF2-40B4-BE49-F238E27FC236}">
                <a16:creationId xmlns:a16="http://schemas.microsoft.com/office/drawing/2014/main" id="{DC61F7FD-4E9D-44D9-8DC2-9FB8A712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48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00" b="1">
                <a:solidFill>
                  <a:srgbClr val="748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848B"/>
                </a:solidFill>
                <a:latin typeface="Arial"/>
                <a:ea typeface="Arial"/>
                <a:cs typeface="Arial"/>
              </a:rPr>
              <a:t>DATAHIVE  /  AI RESEARCH WORKSPACE</a:t>
            </a:r>
          </a:p>
        </p:txBody>
      </p:sp>
      <p:sp>
        <p:nvSpPr>
          <p:cNvPr id="39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11DF6ECE-67FC-4631-AA9A-7DE0FD2C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48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1">
                <a:solidFill>
                  <a:srgbClr val="748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848B"/>
                </a:solidFill>
                <a:latin typeface="Arial"/>
                <a:ea typeface="Arial"/>
                <a:cs typeface="Arial"/>
              </a:rPr>
              <a:t>2 / 8</a:t>
            </a:r>
          </a:p>
        </p:txBody>
      </p:sp>
    </p:spTree>
    <p:extLst>
      <p:ext uri="{BB962C8B-B14F-4D97-AF65-F5344CB8AC3E}">
        <p14:creationId xmlns:p14="http://schemas.microsoft.com/office/powerpoint/2010/main" val="16213805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section-3">
            <a:extLst xmlns:a="http://schemas.openxmlformats.org/drawingml/2006/main">
              <a:ext uri="{FF2B5EF4-FFF2-40B4-BE49-F238E27FC236}">
                <a16:creationId xmlns:a16="http://schemas.microsoft.com/office/drawing/2014/main" id="{5EBD10B6-70AA-4F9C-A49B-8A469819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98F"/>
                </a:solidFill>
                <a:latin typeface="Arial"/>
                <a:ea typeface="Arial"/>
                <a:cs typeface="Arial"/>
              </a:rPr>
              <a:t>02 / TWO ROLE WORKSPACES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82182D72-685F-48D6-822F-2B8BC071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Clear responsibilities, shared project context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BF10130B-EEC5-45E9-9304-03B84B64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The admin governs access and resource records; researchers move the experiment forward.</a:t>
            </a:r>
          </a:p>
        </p:txBody>
      </p:sp>
      <p:sp>
        <p:nvSpPr>
          <p:cNvPr id="4" name="header-rule-3">
            <a:extLst xmlns:a="http://schemas.openxmlformats.org/drawingml/2006/main">
              <a:ext uri="{FF2B5EF4-FFF2-40B4-BE49-F238E27FC236}">
                <a16:creationId xmlns:a16="http://schemas.microsoft.com/office/drawing/2014/main" id="{2B96B235-0A39-456F-A05B-2AA0A3CC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871CF654-1640-45C1-A6DE-5588BAF3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619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1125" b="1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061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roles-admin-mark">
            <a:extLst xmlns:a="http://schemas.openxmlformats.org/drawingml/2006/main">
              <a:ext uri="{FF2B5EF4-FFF2-40B4-BE49-F238E27FC236}">
                <a16:creationId xmlns:a16="http://schemas.microsoft.com/office/drawing/2014/main" id="{C3211C1F-9224-48B2-8474-EBB377FD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66675" cy="320992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oles-admin-eyebrow">
            <a:extLst xmlns:a="http://schemas.openxmlformats.org/drawingml/2006/main">
              <a:ext uri="{FF2B5EF4-FFF2-40B4-BE49-F238E27FC236}">
                <a16:creationId xmlns:a16="http://schemas.microsoft.com/office/drawing/2014/main" id="{5B924DB6-28B7-4EE9-A85D-B4E1B1B0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190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8" name="roles-admin-title">
            <a:extLst xmlns:a="http://schemas.openxmlformats.org/drawingml/2006/main">
              <a:ext uri="{FF2B5EF4-FFF2-40B4-BE49-F238E27FC236}">
                <a16:creationId xmlns:a16="http://schemas.microsoft.com/office/drawing/2014/main" id="{12D1C8A3-31B6-458F-91D9-284A3AF5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562225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Govern the workspace</a:t>
            </a:r>
          </a:p>
        </p:txBody>
      </p:sp>
      <p:sp>
        <p:nvSpPr>
          <p:cNvPr id="9" name="roles-admin-description">
            <a:extLst xmlns:a="http://schemas.openxmlformats.org/drawingml/2006/main">
              <a:ext uri="{FF2B5EF4-FFF2-40B4-BE49-F238E27FC236}">
                <a16:creationId xmlns:a16="http://schemas.microsoft.com/office/drawing/2014/main" id="{E6652AE8-F0FC-4395-8E64-79C19D4A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114675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Account access, project oversight, resource records and usage visibility.</a:t>
            </a:r>
          </a:p>
        </p:txBody>
      </p:sp>
      <p:sp>
        <p:nvSpPr>
          <p:cNvPr id="10" name="admin-item-no-0">
            <a:extLst xmlns:a="http://schemas.openxmlformats.org/drawingml/2006/main">
              <a:ext uri="{FF2B5EF4-FFF2-40B4-BE49-F238E27FC236}">
                <a16:creationId xmlns:a16="http://schemas.microsoft.com/office/drawing/2014/main" id="{F3F5A1B8-1EAC-4BFE-86F4-FFCBB83E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9147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admin-item-title-0">
            <a:extLst xmlns:a="http://schemas.openxmlformats.org/drawingml/2006/main">
              <a:ext uri="{FF2B5EF4-FFF2-40B4-BE49-F238E27FC236}">
                <a16:creationId xmlns:a16="http://schemas.microsoft.com/office/drawing/2014/main" id="{B5784E5C-3150-47F0-BE7A-C8B29DEF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89572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12" name="admin-item-body-0">
            <a:extLst xmlns:a="http://schemas.openxmlformats.org/drawingml/2006/main">
              <a:ext uri="{FF2B5EF4-FFF2-40B4-BE49-F238E27FC236}">
                <a16:creationId xmlns:a16="http://schemas.microsoft.com/office/drawing/2014/main" id="{4E614239-B3DF-4D96-9E90-8A5895EA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9572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Create, edit and deactivate Admin or Researcher accounts.</a:t>
            </a:r>
          </a:p>
        </p:txBody>
      </p:sp>
      <p:sp>
        <p:nvSpPr>
          <p:cNvPr id="13" name="admin-item-rule-0">
            <a:extLst xmlns:a="http://schemas.openxmlformats.org/drawingml/2006/main">
              <a:ext uri="{FF2B5EF4-FFF2-40B4-BE49-F238E27FC236}">
                <a16:creationId xmlns:a16="http://schemas.microsoft.com/office/drawing/2014/main" id="{BE0D32D9-B800-483A-A5AE-634AC586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305300"/>
            <a:ext cx="464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dmin-item-no-1">
            <a:extLst xmlns:a="http://schemas.openxmlformats.org/drawingml/2006/main">
              <a:ext uri="{FF2B5EF4-FFF2-40B4-BE49-F238E27FC236}">
                <a16:creationId xmlns:a16="http://schemas.microsoft.com/office/drawing/2014/main" id="{4BBA8CD9-2131-434E-933C-D417DDCE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4577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admin-item-title-1">
            <a:extLst xmlns:a="http://schemas.openxmlformats.org/drawingml/2006/main">
              <a:ext uri="{FF2B5EF4-FFF2-40B4-BE49-F238E27FC236}">
                <a16:creationId xmlns:a16="http://schemas.microsoft.com/office/drawing/2014/main" id="{F9681B3C-B1FA-49C4-A184-73E5EE41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4386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Projects</a:t>
            </a:r>
          </a:p>
        </p:txBody>
      </p:sp>
      <p:sp>
        <p:nvSpPr>
          <p:cNvPr id="16" name="admin-item-body-1">
            <a:extLst xmlns:a="http://schemas.openxmlformats.org/drawingml/2006/main">
              <a:ext uri="{FF2B5EF4-FFF2-40B4-BE49-F238E27FC236}">
                <a16:creationId xmlns:a16="http://schemas.microsoft.com/office/drawing/2014/main" id="{76051861-09A9-4808-A641-B93F313C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3865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Review project records and assign owners.</a:t>
            </a:r>
          </a:p>
        </p:txBody>
      </p:sp>
      <p:sp>
        <p:nvSpPr>
          <p:cNvPr id="17" name="admin-item-rule-1">
            <a:extLst xmlns:a="http://schemas.openxmlformats.org/drawingml/2006/main">
              <a:ext uri="{FF2B5EF4-FFF2-40B4-BE49-F238E27FC236}">
                <a16:creationId xmlns:a16="http://schemas.microsoft.com/office/drawing/2014/main" id="{5D01AF81-54AB-4B9B-B293-EEC33AF9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848225"/>
            <a:ext cx="464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dmin-item-no-2">
            <a:extLst xmlns:a="http://schemas.openxmlformats.org/drawingml/2006/main">
              <a:ext uri="{FF2B5EF4-FFF2-40B4-BE49-F238E27FC236}">
                <a16:creationId xmlns:a16="http://schemas.microsoft.com/office/drawing/2014/main" id="{45ED28C7-466E-4405-8C83-BC94D797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006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admin-item-title-2">
            <a:extLst xmlns:a="http://schemas.openxmlformats.org/drawingml/2006/main">
              <a:ext uri="{FF2B5EF4-FFF2-40B4-BE49-F238E27FC236}">
                <a16:creationId xmlns:a16="http://schemas.microsoft.com/office/drawing/2014/main" id="{6C28615E-40EE-46C8-AC3E-53D09F60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98157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Resources</a:t>
            </a:r>
          </a:p>
        </p:txBody>
      </p:sp>
      <p:sp>
        <p:nvSpPr>
          <p:cNvPr id="20" name="admin-item-body-2">
            <a:extLst xmlns:a="http://schemas.openxmlformats.org/drawingml/2006/main">
              <a:ext uri="{FF2B5EF4-FFF2-40B4-BE49-F238E27FC236}">
                <a16:creationId xmlns:a16="http://schemas.microsoft.com/office/drawing/2014/main" id="{A5E3F8BD-13DE-4FE8-95C0-2D1375D1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98157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Maintain compute and storage inventory records.</a:t>
            </a:r>
          </a:p>
        </p:txBody>
      </p:sp>
      <p:sp>
        <p:nvSpPr>
          <p:cNvPr id="21" name="admin-item-rule-2">
            <a:extLst xmlns:a="http://schemas.openxmlformats.org/drawingml/2006/main">
              <a:ext uri="{FF2B5EF4-FFF2-40B4-BE49-F238E27FC236}">
                <a16:creationId xmlns:a16="http://schemas.microsoft.com/office/drawing/2014/main" id="{522112A5-C1EF-4635-8E88-3455842B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91150"/>
            <a:ext cx="464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dmin-item-no-3">
            <a:extLst xmlns:a="http://schemas.openxmlformats.org/drawingml/2006/main">
              <a:ext uri="{FF2B5EF4-FFF2-40B4-BE49-F238E27FC236}">
                <a16:creationId xmlns:a16="http://schemas.microsoft.com/office/drawing/2014/main" id="{C5EF9A35-EF0B-4077-857B-4F6E24F4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5435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admin-item-title-3">
            <a:extLst xmlns:a="http://schemas.openxmlformats.org/drawingml/2006/main">
              <a:ext uri="{FF2B5EF4-FFF2-40B4-BE49-F238E27FC236}">
                <a16:creationId xmlns:a16="http://schemas.microsoft.com/office/drawing/2014/main" id="{2805CE8F-3747-49EE-8993-044278E4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5245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Usage</a:t>
            </a:r>
          </a:p>
        </p:txBody>
      </p:sp>
      <p:sp>
        <p:nvSpPr>
          <p:cNvPr id="24" name="admin-item-body-3">
            <a:extLst xmlns:a="http://schemas.openxmlformats.org/drawingml/2006/main">
              <a:ext uri="{FF2B5EF4-FFF2-40B4-BE49-F238E27FC236}">
                <a16:creationId xmlns:a16="http://schemas.microsoft.com/office/drawing/2014/main" id="{1FB1844E-346E-4C08-9CE0-82189502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52450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See recorded uploads and training time across a 3, 6 or 12 month window.</a:t>
            </a:r>
          </a:p>
        </p:txBody>
      </p:sp>
      <p:sp>
        <p:nvSpPr>
          <p:cNvPr id="25" name="roles-divider">
            <a:extLst xmlns:a="http://schemas.openxmlformats.org/drawingml/2006/main">
              <a:ext uri="{FF2B5EF4-FFF2-40B4-BE49-F238E27FC236}">
                <a16:creationId xmlns:a16="http://schemas.microsoft.com/office/drawing/2014/main" id="{3D52C84C-BF01-49F5-BC9D-92C776C0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71700"/>
            <a:ext cx="95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oles-researcher-mark">
            <a:extLst xmlns:a="http://schemas.openxmlformats.org/drawingml/2006/main">
              <a:ext uri="{FF2B5EF4-FFF2-40B4-BE49-F238E27FC236}">
                <a16:creationId xmlns:a16="http://schemas.microsoft.com/office/drawing/2014/main" id="{83DD93B8-E90C-464F-A0FC-32E1C96E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38375"/>
            <a:ext cx="66675" cy="320992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0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oles-researcher-eyebrow">
            <a:extLst xmlns:a="http://schemas.openxmlformats.org/drawingml/2006/main">
              <a:ext uri="{FF2B5EF4-FFF2-40B4-BE49-F238E27FC236}">
                <a16:creationId xmlns:a16="http://schemas.microsoft.com/office/drawing/2014/main" id="{E964E9E1-50CE-4622-B349-7AB9C566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90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98F"/>
                </a:solidFill>
                <a:latin typeface="Arial"/>
                <a:ea typeface="Arial"/>
                <a:cs typeface="Arial"/>
              </a:rPr>
              <a:t>RESEARCHER</a:t>
            </a:r>
          </a:p>
        </p:txBody>
      </p:sp>
      <p:sp>
        <p:nvSpPr>
          <p:cNvPr id="28" name="roles-researcher-title">
            <a:extLst xmlns:a="http://schemas.openxmlformats.org/drawingml/2006/main">
              <a:ext uri="{FF2B5EF4-FFF2-40B4-BE49-F238E27FC236}">
                <a16:creationId xmlns:a16="http://schemas.microsoft.com/office/drawing/2014/main" id="{E4DA4172-DDA9-49B7-8FDC-F214F6DC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62225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Run the research loop</a:t>
            </a:r>
          </a:p>
        </p:txBody>
      </p:sp>
      <p:sp>
        <p:nvSpPr>
          <p:cNvPr id="29" name="roles-researcher-description">
            <a:extLst xmlns:a="http://schemas.openxmlformats.org/drawingml/2006/main">
              <a:ext uri="{FF2B5EF4-FFF2-40B4-BE49-F238E27FC236}">
                <a16:creationId xmlns:a16="http://schemas.microsoft.com/office/drawing/2014/main" id="{792A046B-56B7-48D7-AF7B-D697B7F7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14675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Work inside a project with dataset, run and collaboration history.</a:t>
            </a:r>
          </a:p>
        </p:txBody>
      </p:sp>
      <p:sp>
        <p:nvSpPr>
          <p:cNvPr id="30" name="researcher-item-no-0">
            <a:extLst xmlns:a="http://schemas.openxmlformats.org/drawingml/2006/main">
              <a:ext uri="{FF2B5EF4-FFF2-40B4-BE49-F238E27FC236}">
                <a16:creationId xmlns:a16="http://schemas.microsoft.com/office/drawing/2014/main" id="{987E8FA9-CBFA-40B7-A29D-AE7E6076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9147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50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98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1" name="researcher-item-title-0">
            <a:extLst xmlns:a="http://schemas.openxmlformats.org/drawingml/2006/main">
              <a:ext uri="{FF2B5EF4-FFF2-40B4-BE49-F238E27FC236}">
                <a16:creationId xmlns:a16="http://schemas.microsoft.com/office/drawing/2014/main" id="{078D9919-9ECE-458D-863E-88ACDF12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957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Datasets</a:t>
            </a:r>
          </a:p>
        </p:txBody>
      </p:sp>
      <p:sp>
        <p:nvSpPr>
          <p:cNvPr id="32" name="researcher-item-body-0">
            <a:extLst xmlns:a="http://schemas.openxmlformats.org/drawingml/2006/main">
              <a:ext uri="{FF2B5EF4-FFF2-40B4-BE49-F238E27FC236}">
                <a16:creationId xmlns:a16="http://schemas.microsoft.com/office/drawing/2014/main" id="{3FC86AC7-C1BA-42A0-9969-B1E6454D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95725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Upload, inspect, update and delete project CSVs.</a:t>
            </a:r>
          </a:p>
        </p:txBody>
      </p:sp>
      <p:sp>
        <p:nvSpPr>
          <p:cNvPr id="33" name="researcher-item-rule-0">
            <a:extLst xmlns:a="http://schemas.openxmlformats.org/drawingml/2006/main">
              <a:ext uri="{FF2B5EF4-FFF2-40B4-BE49-F238E27FC236}">
                <a16:creationId xmlns:a16="http://schemas.microsoft.com/office/drawing/2014/main" id="{2917AF92-ACD2-44A0-B0C3-1B84C43D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305300"/>
            <a:ext cx="4695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researcher-item-no-1">
            <a:extLst xmlns:a="http://schemas.openxmlformats.org/drawingml/2006/main">
              <a:ext uri="{FF2B5EF4-FFF2-40B4-BE49-F238E27FC236}">
                <a16:creationId xmlns:a16="http://schemas.microsoft.com/office/drawing/2014/main" id="{0668AA0E-0142-443D-A236-E409C18C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4577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50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98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5" name="researcher-item-title-1">
            <a:extLst xmlns:a="http://schemas.openxmlformats.org/drawingml/2006/main">
              <a:ext uri="{FF2B5EF4-FFF2-40B4-BE49-F238E27FC236}">
                <a16:creationId xmlns:a16="http://schemas.microsoft.com/office/drawing/2014/main" id="{D2D742FE-F732-4FC1-9541-B6FAE059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386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36" name="researcher-item-body-1">
            <a:extLst xmlns:a="http://schemas.openxmlformats.org/drawingml/2006/main">
              <a:ext uri="{FF2B5EF4-FFF2-40B4-BE49-F238E27FC236}">
                <a16:creationId xmlns:a16="http://schemas.microsoft.com/office/drawing/2014/main" id="{A34F2070-4D58-4BC4-8AD5-949630DE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3865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Start and follow a baseline model run.</a:t>
            </a:r>
          </a:p>
        </p:txBody>
      </p:sp>
      <p:sp>
        <p:nvSpPr>
          <p:cNvPr id="37" name="researcher-item-rule-1">
            <a:extLst xmlns:a="http://schemas.openxmlformats.org/drawingml/2006/main">
              <a:ext uri="{FF2B5EF4-FFF2-40B4-BE49-F238E27FC236}">
                <a16:creationId xmlns:a16="http://schemas.microsoft.com/office/drawing/2014/main" id="{5F4E410B-01E7-4B53-AEC3-A00EC38F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48225"/>
            <a:ext cx="4695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researcher-item-no-2">
            <a:extLst xmlns:a="http://schemas.openxmlformats.org/drawingml/2006/main">
              <a:ext uri="{FF2B5EF4-FFF2-40B4-BE49-F238E27FC236}">
                <a16:creationId xmlns:a16="http://schemas.microsoft.com/office/drawing/2014/main" id="{A0FFEC30-2ED3-4D55-A2E5-A85CFD9B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0006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50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98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9" name="researcher-item-title-2">
            <a:extLst xmlns:a="http://schemas.openxmlformats.org/drawingml/2006/main">
              <a:ext uri="{FF2B5EF4-FFF2-40B4-BE49-F238E27FC236}">
                <a16:creationId xmlns:a16="http://schemas.microsoft.com/office/drawing/2014/main" id="{6059DB9D-8C5D-4DEE-AAA7-17E498DD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9815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Experiments</a:t>
            </a:r>
          </a:p>
        </p:txBody>
      </p:sp>
      <p:sp>
        <p:nvSpPr>
          <p:cNvPr id="40" name="researcher-item-body-2">
            <a:extLst xmlns:a="http://schemas.openxmlformats.org/drawingml/2006/main">
              <a:ext uri="{FF2B5EF4-FFF2-40B4-BE49-F238E27FC236}">
                <a16:creationId xmlns:a16="http://schemas.microsoft.com/office/drawing/2014/main" id="{8BB1F7FB-F239-46FA-9C70-549270C1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81575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Inspect settings, progress, logs and calculated metrics.</a:t>
            </a:r>
          </a:p>
        </p:txBody>
      </p:sp>
      <p:sp>
        <p:nvSpPr>
          <p:cNvPr id="41" name="researcher-item-rule-2">
            <a:extLst xmlns:a="http://schemas.openxmlformats.org/drawingml/2006/main">
              <a:ext uri="{FF2B5EF4-FFF2-40B4-BE49-F238E27FC236}">
                <a16:creationId xmlns:a16="http://schemas.microsoft.com/office/drawing/2014/main" id="{905D46A2-B042-497C-88FE-9FA60ADA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391150"/>
            <a:ext cx="4695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researcher-item-no-3">
            <a:extLst xmlns:a="http://schemas.openxmlformats.org/drawingml/2006/main">
              <a:ext uri="{FF2B5EF4-FFF2-40B4-BE49-F238E27FC236}">
                <a16:creationId xmlns:a16="http://schemas.microsoft.com/office/drawing/2014/main" id="{F9187313-E174-4064-8F0F-E35DBDD4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5435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50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98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3" name="researcher-item-title-3">
            <a:extLst xmlns:a="http://schemas.openxmlformats.org/drawingml/2006/main">
              <a:ext uri="{FF2B5EF4-FFF2-40B4-BE49-F238E27FC236}">
                <a16:creationId xmlns:a16="http://schemas.microsoft.com/office/drawing/2014/main" id="{7DED769E-87D1-4B6C-9E67-BFB38B5F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5245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People &amp; profile</a:t>
            </a:r>
          </a:p>
        </p:txBody>
      </p:sp>
      <p:sp>
        <p:nvSpPr>
          <p:cNvPr id="44" name="researcher-item-body-3">
            <a:extLst xmlns:a="http://schemas.openxmlformats.org/drawingml/2006/main">
              <a:ext uri="{FF2B5EF4-FFF2-40B4-BE49-F238E27FC236}">
                <a16:creationId xmlns:a16="http://schemas.microsoft.com/office/drawing/2014/main" id="{F6C8B288-1C91-40F9-AE8C-654C9598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2450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Manage project members and update account details.</a:t>
            </a:r>
          </a:p>
        </p:txBody>
      </p:sp>
      <p:sp>
        <p:nvSpPr>
          <p:cNvPr id="45" name="footer-3">
            <a:extLst xmlns:a="http://schemas.openxmlformats.org/drawingml/2006/main">
              <a:ext uri="{FF2B5EF4-FFF2-40B4-BE49-F238E27FC236}">
                <a16:creationId xmlns:a16="http://schemas.microsoft.com/office/drawing/2014/main" id="{59A84CA4-8E61-4F40-813B-583370B7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48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00" b="1">
                <a:solidFill>
                  <a:srgbClr val="748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848B"/>
                </a:solidFill>
                <a:latin typeface="Arial"/>
                <a:ea typeface="Arial"/>
                <a:cs typeface="Arial"/>
              </a:rPr>
              <a:t>DATAHIVE  /  AI RESEARCH WORKSPACE</a:t>
            </a:r>
          </a:p>
        </p:txBody>
      </p:sp>
      <p:sp>
        <p:nvSpPr>
          <p:cNvPr id="46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1F0CA16C-DEED-4D0B-97ED-0BE6CE3F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48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1">
                <a:solidFill>
                  <a:srgbClr val="748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848B"/>
                </a:solidFill>
                <a:latin typeface="Arial"/>
                <a:ea typeface="Arial"/>
                <a:cs typeface="Arial"/>
              </a:rPr>
              <a:t>3 / 8</a:t>
            </a:r>
          </a:p>
        </p:txBody>
      </p:sp>
    </p:spTree>
    <p:extLst>
      <p:ext uri="{BB962C8B-B14F-4D97-AF65-F5344CB8AC3E}">
        <p14:creationId xmlns:p14="http://schemas.microsoft.com/office/powerpoint/2010/main" val="20091458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ection-4">
            <a:extLst xmlns:a="http://schemas.openxmlformats.org/drawingml/2006/main">
              <a:ext uri="{FF2B5EF4-FFF2-40B4-BE49-F238E27FC236}">
                <a16:creationId xmlns:a16="http://schemas.microsoft.com/office/drawing/2014/main" id="{5A5038A2-E41F-4562-8178-5AED992A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CBE8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CBE8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BE86B"/>
                </a:solidFill>
                <a:latin typeface="Arial"/>
                <a:ea typeface="Arial"/>
                <a:cs typeface="Arial"/>
              </a:rPr>
              <a:t>03 / APPLICATION ARCHITECTURE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34C17526-74A8-4BC7-8705-44034CFE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Java web stack with explicit service boundaries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58154192-D60B-48CC-A72F-1370DE8B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B7C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C9C9"/>
                </a:solidFill>
                <a:latin typeface="Arial"/>
                <a:ea typeface="Arial"/>
                <a:cs typeface="Arial"/>
              </a:rPr>
              <a:t>Browser forms go through role checks and Servlets before service logic touches JDBC or stored CSVs.</a:t>
            </a:r>
          </a:p>
        </p:txBody>
      </p:sp>
      <p:sp>
        <p:nvSpPr>
          <p:cNvPr id="4" name="header-rule-4">
            <a:extLst xmlns:a="http://schemas.openxmlformats.org/drawingml/2006/main">
              <a:ext uri="{FF2B5EF4-FFF2-40B4-BE49-F238E27FC236}">
                <a16:creationId xmlns:a16="http://schemas.microsoft.com/office/drawing/2014/main" id="{16D8EA23-716A-4F16-B588-64E273E9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0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E83B58DF-00DD-4C60-8B73-4129A01A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619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B7C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1125" b="1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7C9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arch-layer-0">
            <a:extLst xmlns:a="http://schemas.openxmlformats.org/drawingml/2006/main">
              <a:ext uri="{FF2B5EF4-FFF2-40B4-BE49-F238E27FC236}">
                <a16:creationId xmlns:a16="http://schemas.microsoft.com/office/drawing/2014/main" id="{FA66B995-E701-4759-BE43-41D6803E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2286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72B36"/>
          </a:solidFill>
          <a:ln xmlns:a="http://schemas.openxmlformats.org/drawingml/2006/main" w="9525">
            <a:solidFill>
              <a:srgbClr val="39505B"/>
            </a:solidFill>
            <a:prstDash val="solid"/>
          </a:ln>
        </p:spPr>
      </p:sp>
      <p:sp>
        <p:nvSpPr>
          <p:cNvPr id="7" name="arch-layer-mark-0">
            <a:extLst xmlns:a="http://schemas.openxmlformats.org/drawingml/2006/main">
              <a:ext uri="{FF2B5EF4-FFF2-40B4-BE49-F238E27FC236}">
                <a16:creationId xmlns:a16="http://schemas.microsoft.com/office/drawing/2014/main" id="{BCA7CA81-14B7-4FD0-A385-4560D911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47625" cy="20002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BE8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-tag-0">
            <a:extLst xmlns:a="http://schemas.openxmlformats.org/drawingml/2006/main">
              <a:ext uri="{FF2B5EF4-FFF2-40B4-BE49-F238E27FC236}">
                <a16:creationId xmlns:a16="http://schemas.microsoft.com/office/drawing/2014/main" id="{EF80902C-2A4A-4B6F-A923-F32FA50B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76525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CBE8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50" b="1">
                <a:solidFill>
                  <a:srgbClr val="CBE8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BE86B"/>
                </a:solidFill>
                <a:latin typeface="Arial"/>
                <a:ea typeface="Arial"/>
                <a:cs typeface="Arial"/>
              </a:rPr>
              <a:t>01  BROWSER</a:t>
            </a:r>
          </a:p>
        </p:txBody>
      </p:sp>
      <p:sp>
        <p:nvSpPr>
          <p:cNvPr id="9" name="arch-title-0">
            <a:extLst xmlns:a="http://schemas.openxmlformats.org/drawingml/2006/main">
              <a:ext uri="{FF2B5EF4-FFF2-40B4-BE49-F238E27FC236}">
                <a16:creationId xmlns:a16="http://schemas.microsoft.com/office/drawing/2014/main" id="{DF84D074-7217-4595-84D1-3B9A3FBF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19425"/>
            <a:ext cx="1885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JSP + HTML/CSS</a:t>
            </a:r>
          </a:p>
        </p:txBody>
      </p:sp>
      <p:sp>
        <p:nvSpPr>
          <p:cNvPr id="10" name="arch-body-0">
            <a:extLst xmlns:a="http://schemas.openxmlformats.org/drawingml/2006/main">
              <a:ext uri="{FF2B5EF4-FFF2-40B4-BE49-F238E27FC236}">
                <a16:creationId xmlns:a16="http://schemas.microsoft.com/office/drawing/2014/main" id="{9B19D7C1-86A0-4890-BFED-052FB81A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18669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>
            <a:defPPr algn="l">
              <a:defRPr sz="1350" b="0">
                <a:solidFill>
                  <a:srgbClr val="B7C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9C9"/>
                </a:solidFill>
                <a:latin typeface="Arial"/>
                <a:ea typeface="Arial"/>
                <a:cs typeface="Arial"/>
              </a:rPr>
              <a:t>Responsive views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9C9"/>
                </a:solidFill>
                <a:latin typeface="Arial"/>
                <a:ea typeface="Arial"/>
                <a:cs typeface="Arial"/>
              </a:rPr>
              <a:t>Form validation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9C9"/>
                </a:solidFill>
                <a:latin typeface="Arial"/>
                <a:ea typeface="Arial"/>
                <a:cs typeface="Arial"/>
              </a:rPr>
              <a:t>Small browser interactions</a:t>
            </a:r>
          </a:p>
        </p:txBody>
      </p:sp>
      <p:sp>
        <p:nvSpPr>
          <p:cNvPr id="11" name="arch-layer-1">
            <a:extLst xmlns:a="http://schemas.openxmlformats.org/drawingml/2006/main">
              <a:ext uri="{FF2B5EF4-FFF2-40B4-BE49-F238E27FC236}">
                <a16:creationId xmlns:a16="http://schemas.microsoft.com/office/drawing/2014/main" id="{4CE3D5AF-D0BB-46F2-9398-92EAAF62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66975"/>
            <a:ext cx="2286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72B36"/>
          </a:solidFill>
          <a:ln xmlns:a="http://schemas.openxmlformats.org/drawingml/2006/main" w="9525">
            <a:solidFill>
              <a:srgbClr val="39505B"/>
            </a:solidFill>
            <a:prstDash val="solid"/>
          </a:ln>
        </p:spPr>
      </p:sp>
      <p:sp>
        <p:nvSpPr>
          <p:cNvPr id="12" name="arch-layer-mark-1">
            <a:extLst xmlns:a="http://schemas.openxmlformats.org/drawingml/2006/main">
              <a:ext uri="{FF2B5EF4-FFF2-40B4-BE49-F238E27FC236}">
                <a16:creationId xmlns:a16="http://schemas.microsoft.com/office/drawing/2014/main" id="{AEC9CF66-EC4F-4D06-8D66-335A75A8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66975"/>
            <a:ext cx="47625" cy="20002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76B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rch-tag-1">
            <a:extLst xmlns:a="http://schemas.openxmlformats.org/drawingml/2006/main">
              <a:ext uri="{FF2B5EF4-FFF2-40B4-BE49-F238E27FC236}">
                <a16:creationId xmlns:a16="http://schemas.microsoft.com/office/drawing/2014/main" id="{315EBC6B-C2BF-46CB-8C46-8A8C4F8B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76525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76BC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50" b="1">
                <a:solidFill>
                  <a:srgbClr val="76BC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6BCE8"/>
                </a:solidFill>
                <a:latin typeface="Arial"/>
                <a:ea typeface="Arial"/>
                <a:cs typeface="Arial"/>
              </a:rPr>
              <a:t>02  WEB</a:t>
            </a:r>
          </a:p>
        </p:txBody>
      </p:sp>
      <p:sp>
        <p:nvSpPr>
          <p:cNvPr id="14" name="arch-title-1">
            <a:extLst xmlns:a="http://schemas.openxmlformats.org/drawingml/2006/main">
              <a:ext uri="{FF2B5EF4-FFF2-40B4-BE49-F238E27FC236}">
                <a16:creationId xmlns:a16="http://schemas.microsoft.com/office/drawing/2014/main" id="{E8818137-7AF0-4CC7-BBE1-666DE8FC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19425"/>
            <a:ext cx="1885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Servlets + filters</a:t>
            </a:r>
          </a:p>
        </p:txBody>
      </p:sp>
      <p:sp>
        <p:nvSpPr>
          <p:cNvPr id="15" name="arch-body-1">
            <a:extLst xmlns:a="http://schemas.openxmlformats.org/drawingml/2006/main">
              <a:ext uri="{FF2B5EF4-FFF2-40B4-BE49-F238E27FC236}">
                <a16:creationId xmlns:a16="http://schemas.microsoft.com/office/drawing/2014/main" id="{8F99ABB5-4EEF-4FEF-8BFB-E1F84C86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24250"/>
            <a:ext cx="18669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7C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9C9"/>
                </a:solidFill>
                <a:latin typeface="Arial"/>
                <a:ea typeface="Arial"/>
                <a:cs typeface="Arial"/>
              </a:rPr>
              <a:t>Routes and controllers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9C9"/>
                </a:solidFill>
                <a:latin typeface="Arial"/>
                <a:ea typeface="Arial"/>
                <a:cs typeface="Arial"/>
              </a:rPr>
              <a:t>Session + role checks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9C9"/>
                </a:solidFill>
                <a:latin typeface="Arial"/>
                <a:ea typeface="Arial"/>
                <a:cs typeface="Arial"/>
              </a:rPr>
              <a:t>CSRF-protected forms</a:t>
            </a:r>
          </a:p>
        </p:txBody>
      </p:sp>
      <p:sp>
        <p:nvSpPr>
          <p:cNvPr id="16" name="arch-layer-2">
            <a:extLst xmlns:a="http://schemas.openxmlformats.org/drawingml/2006/main">
              <a:ext uri="{FF2B5EF4-FFF2-40B4-BE49-F238E27FC236}">
                <a16:creationId xmlns:a16="http://schemas.microsoft.com/office/drawing/2014/main" id="{BFDCAD69-3076-45CC-9A92-D96187CB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66975"/>
            <a:ext cx="2286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72B36"/>
          </a:solidFill>
          <a:ln xmlns:a="http://schemas.openxmlformats.org/drawingml/2006/main" w="9525">
            <a:solidFill>
              <a:srgbClr val="39505B"/>
            </a:solidFill>
            <a:prstDash val="solid"/>
          </a:ln>
        </p:spPr>
      </p:sp>
      <p:sp>
        <p:nvSpPr>
          <p:cNvPr id="17" name="arch-layer-mark-2">
            <a:extLst xmlns:a="http://schemas.openxmlformats.org/drawingml/2006/main">
              <a:ext uri="{FF2B5EF4-FFF2-40B4-BE49-F238E27FC236}">
                <a16:creationId xmlns:a16="http://schemas.microsoft.com/office/drawing/2014/main" id="{A776381D-4B32-4B9F-A2DC-89C7E57B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66975"/>
            <a:ext cx="47625" cy="20002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2D7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rch-tag-2">
            <a:extLst xmlns:a="http://schemas.openxmlformats.org/drawingml/2006/main">
              <a:ext uri="{FF2B5EF4-FFF2-40B4-BE49-F238E27FC236}">
                <a16:creationId xmlns:a16="http://schemas.microsoft.com/office/drawing/2014/main" id="{7331BD4E-035C-4AED-8515-C418F130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76525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2D7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50" b="1">
                <a:solidFill>
                  <a:srgbClr val="62D7B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D7BD"/>
                </a:solidFill>
                <a:latin typeface="Arial"/>
                <a:ea typeface="Arial"/>
                <a:cs typeface="Arial"/>
              </a:rPr>
              <a:t>03  SERVICES</a:t>
            </a:r>
          </a:p>
        </p:txBody>
      </p:sp>
      <p:sp>
        <p:nvSpPr>
          <p:cNvPr id="19" name="arch-title-2">
            <a:extLst xmlns:a="http://schemas.openxmlformats.org/drawingml/2006/main">
              <a:ext uri="{FF2B5EF4-FFF2-40B4-BE49-F238E27FC236}">
                <a16:creationId xmlns:a16="http://schemas.microsoft.com/office/drawing/2014/main" id="{7F289472-BA8A-4BBA-9881-3B1DC06D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19425"/>
            <a:ext cx="1885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Java services</a:t>
            </a:r>
          </a:p>
        </p:txBody>
      </p:sp>
      <p:sp>
        <p:nvSpPr>
          <p:cNvPr id="20" name="arch-body-2">
            <a:extLst xmlns:a="http://schemas.openxmlformats.org/drawingml/2006/main">
              <a:ext uri="{FF2B5EF4-FFF2-40B4-BE49-F238E27FC236}">
                <a16:creationId xmlns:a16="http://schemas.microsoft.com/office/drawing/2014/main" id="{7E0B3BF0-AAE8-45D4-A16E-78768A9E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18669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7C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9C9"/>
                </a:solidFill>
                <a:latin typeface="Arial"/>
                <a:ea typeface="Arial"/>
                <a:cs typeface="Arial"/>
              </a:rPr>
              <a:t>CSV validation/profile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9C9"/>
                </a:solidFill>
                <a:latin typeface="Arial"/>
                <a:ea typeface="Arial"/>
                <a:cs typeface="Arial"/>
              </a:rPr>
              <a:t>Training worker queue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9C9"/>
                </a:solidFill>
                <a:latin typeface="Arial"/>
                <a:ea typeface="Arial"/>
                <a:cs typeface="Arial"/>
              </a:rPr>
              <a:t>Access and usage rules</a:t>
            </a:r>
          </a:p>
        </p:txBody>
      </p:sp>
      <p:sp>
        <p:nvSpPr>
          <p:cNvPr id="21" name="arch-layer-3">
            <a:extLst xmlns:a="http://schemas.openxmlformats.org/drawingml/2006/main">
              <a:ext uri="{FF2B5EF4-FFF2-40B4-BE49-F238E27FC236}">
                <a16:creationId xmlns:a16="http://schemas.microsoft.com/office/drawing/2014/main" id="{5497E370-D37C-4677-992B-11DDA72F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66975"/>
            <a:ext cx="2762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72B36"/>
          </a:solidFill>
          <a:ln xmlns:a="http://schemas.openxmlformats.org/drawingml/2006/main" w="9525">
            <a:solidFill>
              <a:srgbClr val="39505B"/>
            </a:solidFill>
            <a:prstDash val="solid"/>
          </a:ln>
        </p:spPr>
      </p:sp>
      <p:sp>
        <p:nvSpPr>
          <p:cNvPr id="22" name="arch-layer-mark-3">
            <a:extLst xmlns:a="http://schemas.openxmlformats.org/drawingml/2006/main">
              <a:ext uri="{FF2B5EF4-FFF2-40B4-BE49-F238E27FC236}">
                <a16:creationId xmlns:a16="http://schemas.microsoft.com/office/drawing/2014/main" id="{31FDEC19-3B61-49F5-BCD0-C71DE02D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66975"/>
            <a:ext cx="47625" cy="20002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A9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rch-tag-3">
            <a:extLst xmlns:a="http://schemas.openxmlformats.org/drawingml/2006/main">
              <a:ext uri="{FF2B5EF4-FFF2-40B4-BE49-F238E27FC236}">
                <a16:creationId xmlns:a16="http://schemas.microsoft.com/office/drawing/2014/main" id="{ADA5F9DC-0EDD-4BAF-B46C-EA461A53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7652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E8A9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50" b="1">
                <a:solidFill>
                  <a:srgbClr val="E8A95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8A95A"/>
                </a:solidFill>
                <a:latin typeface="Arial"/>
                <a:ea typeface="Arial"/>
                <a:cs typeface="Arial"/>
              </a:rPr>
              <a:t>04  PERSISTENCE</a:t>
            </a:r>
          </a:p>
        </p:txBody>
      </p:sp>
      <p:sp>
        <p:nvSpPr>
          <p:cNvPr id="24" name="arch-title-3">
            <a:extLst xmlns:a="http://schemas.openxmlformats.org/drawingml/2006/main">
              <a:ext uri="{FF2B5EF4-FFF2-40B4-BE49-F238E27FC236}">
                <a16:creationId xmlns:a16="http://schemas.microsoft.com/office/drawing/2014/main" id="{F1F23E52-F7F0-421D-94B4-ED5914C0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19425"/>
            <a:ext cx="236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JDBC + local storage</a:t>
            </a:r>
          </a:p>
        </p:txBody>
      </p:sp>
      <p:sp>
        <p:nvSpPr>
          <p:cNvPr id="25" name="arch-body-3">
            <a:extLst xmlns:a="http://schemas.openxmlformats.org/drawingml/2006/main">
              <a:ext uri="{FF2B5EF4-FFF2-40B4-BE49-F238E27FC236}">
                <a16:creationId xmlns:a16="http://schemas.microsoft.com/office/drawing/2014/main" id="{D29D1591-23B4-468A-9C93-3564123E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24250"/>
            <a:ext cx="23431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7C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9C9"/>
                </a:solidFill>
                <a:latin typeface="Arial"/>
                <a:ea typeface="Arial"/>
                <a:cs typeface="Arial"/>
              </a:rPr>
              <a:t>H2 relational database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9C9"/>
                </a:solidFill>
                <a:latin typeface="Arial"/>
                <a:ea typeface="Arial"/>
                <a:cs typeface="Arial"/>
              </a:rPr>
              <a:t>Prepared-statement DAOs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9C9"/>
                </a:solidFill>
                <a:latin typeface="Arial"/>
                <a:ea typeface="Arial"/>
                <a:cs typeface="Arial"/>
              </a:rPr>
              <a:t>UUID-named CSV uploads</a:t>
            </a:r>
          </a:p>
        </p:txBody>
      </p:sp>
      <p:sp>
        <p:nvSpPr>
          <p:cNvPr id="26" name="arch-arrow-0">
            <a:extLst xmlns:a="http://schemas.openxmlformats.org/drawingml/2006/main">
              <a:ext uri="{FF2B5EF4-FFF2-40B4-BE49-F238E27FC236}">
                <a16:creationId xmlns:a16="http://schemas.microsoft.com/office/drawing/2014/main" id="{A7C4F901-EFD5-4483-89BC-1E6A863D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209925"/>
            <a:ext cx="30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700" b="1">
                <a:solidFill>
                  <a:srgbClr val="CBE8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700" b="1">
                <a:solidFill>
                  <a:srgbClr val="CBE86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BE86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7" name="arch-arrow-1">
            <a:extLst xmlns:a="http://schemas.openxmlformats.org/drawingml/2006/main">
              <a:ext uri="{FF2B5EF4-FFF2-40B4-BE49-F238E27FC236}">
                <a16:creationId xmlns:a16="http://schemas.microsoft.com/office/drawing/2014/main" id="{B68F6AFF-53B0-4D5F-B118-2E985C71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209925"/>
            <a:ext cx="30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700" b="1">
                <a:solidFill>
                  <a:srgbClr val="CBE8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700" b="1">
                <a:solidFill>
                  <a:srgbClr val="CBE86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BE86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8" name="arch-arrow-2">
            <a:extLst xmlns:a="http://schemas.openxmlformats.org/drawingml/2006/main">
              <a:ext uri="{FF2B5EF4-FFF2-40B4-BE49-F238E27FC236}">
                <a16:creationId xmlns:a16="http://schemas.microsoft.com/office/drawing/2014/main" id="{03B3BDCC-B93D-408A-9BE5-9F67B646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209925"/>
            <a:ext cx="30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700" b="1">
                <a:solidFill>
                  <a:srgbClr val="CBE8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700" b="1">
                <a:solidFill>
                  <a:srgbClr val="CBE86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BE86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9" name="arch-separator">
            <a:extLst xmlns:a="http://schemas.openxmlformats.org/drawingml/2006/main">
              <a:ext uri="{FF2B5EF4-FFF2-40B4-BE49-F238E27FC236}">
                <a16:creationId xmlns:a16="http://schemas.microsoft.com/office/drawing/2014/main" id="{47BFE0AD-8A5D-40A8-B945-60276BEC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0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arch-trust-title">
            <a:extLst xmlns:a="http://schemas.openxmlformats.org/drawingml/2006/main">
              <a:ext uri="{FF2B5EF4-FFF2-40B4-BE49-F238E27FC236}">
                <a16:creationId xmlns:a16="http://schemas.microsoft.com/office/drawing/2014/main" id="{618C1594-A7B8-4658-BC47-C650D2B4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BE8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CBE8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BE86B"/>
                </a:solidFill>
                <a:latin typeface="Arial"/>
                <a:ea typeface="Arial"/>
                <a:cs typeface="Arial"/>
              </a:rPr>
              <a:t>Request boundary</a:t>
            </a:r>
          </a:p>
        </p:txBody>
      </p:sp>
      <p:sp>
        <p:nvSpPr>
          <p:cNvPr id="31" name="arch-trust-body">
            <a:extLst xmlns:a="http://schemas.openxmlformats.org/drawingml/2006/main">
              <a:ext uri="{FF2B5EF4-FFF2-40B4-BE49-F238E27FC236}">
                <a16:creationId xmlns:a16="http://schemas.microsoft.com/office/drawing/2014/main" id="{324DA709-A0A2-4CF3-8A5F-FD3BE6A2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076825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Authentication and Admin / Researcher authorization are checked server-side. Project membership is checked for shared records; uploaded filenames are generated by the server.</a:t>
            </a:r>
          </a:p>
        </p:txBody>
      </p:sp>
      <p:sp>
        <p:nvSpPr>
          <p:cNvPr id="32" name="footer-4">
            <a:extLst xmlns:a="http://schemas.openxmlformats.org/drawingml/2006/main">
              <a:ext uri="{FF2B5EF4-FFF2-40B4-BE49-F238E27FC236}">
                <a16:creationId xmlns:a16="http://schemas.microsoft.com/office/drawing/2014/main" id="{F710B398-B99E-4ED4-A99D-42FDC2E2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B7C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00" b="1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7C9C9"/>
                </a:solidFill>
                <a:latin typeface="Arial"/>
                <a:ea typeface="Arial"/>
                <a:cs typeface="Arial"/>
              </a:rPr>
              <a:t>DATAHIVE  /  AI RESEARCH WORKSPACE</a:t>
            </a:r>
          </a:p>
        </p:txBody>
      </p:sp>
      <p:sp>
        <p:nvSpPr>
          <p:cNvPr id="33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DEE06025-1211-45DC-9EF5-9A4321D0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B7C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1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7C9C9"/>
                </a:solidFill>
                <a:latin typeface="Arial"/>
                <a:ea typeface="Arial"/>
                <a:cs typeface="Arial"/>
              </a:rPr>
              <a:t>4 / 8</a:t>
            </a:r>
          </a:p>
        </p:txBody>
      </p:sp>
    </p:spTree>
    <p:extLst>
      <p:ext uri="{BB962C8B-B14F-4D97-AF65-F5344CB8AC3E}">
        <p14:creationId xmlns:p14="http://schemas.microsoft.com/office/powerpoint/2010/main" val="16890403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section-5">
            <a:extLst xmlns:a="http://schemas.openxmlformats.org/drawingml/2006/main">
              <a:ext uri="{FF2B5EF4-FFF2-40B4-BE49-F238E27FC236}">
                <a16:creationId xmlns:a16="http://schemas.microsoft.com/office/drawing/2014/main" id="{39FCE5C1-4F65-4D45-831C-0A304DB2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98F"/>
                </a:solidFill>
                <a:latin typeface="Arial"/>
                <a:ea typeface="Arial"/>
                <a:cs typeface="Arial"/>
              </a:rPr>
              <a:t>04 / DATABASE DESIGN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94B3D9BC-9472-434E-803E-196EEEBD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Relational records preserve experiment lineage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4BC74039-E9D8-4082-8928-B3AFD98A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Project membership anchors access; each result can be traced from a run to its experiment and dataset.</a:t>
            </a:r>
          </a:p>
        </p:txBody>
      </p:sp>
      <p:sp>
        <p:nvSpPr>
          <p:cNvPr id="4" name="header-rule-5">
            <a:extLst xmlns:a="http://schemas.openxmlformats.org/drawingml/2006/main">
              <a:ext uri="{FF2B5EF4-FFF2-40B4-BE49-F238E27FC236}">
                <a16:creationId xmlns:a16="http://schemas.microsoft.com/office/drawing/2014/main" id="{E33EAA44-48CE-4093-84B6-ED5869D6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89E97F63-0005-4BAA-B5F3-FBF6F933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619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1125" b="1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061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db-users-box">
            <a:extLst xmlns:a="http://schemas.openxmlformats.org/drawingml/2006/main">
              <a:ext uri="{FF2B5EF4-FFF2-40B4-BE49-F238E27FC236}">
                <a16:creationId xmlns:a16="http://schemas.microsoft.com/office/drawing/2014/main" id="{91C21DEC-C654-4A96-A1A7-C47D785E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2383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B"/>
            </a:solidFill>
            <a:prstDash val="solid"/>
          </a:ln>
        </p:spPr>
      </p:sp>
      <p:sp>
        <p:nvSpPr>
          <p:cNvPr id="7" name="db-users-top">
            <a:extLst xmlns:a="http://schemas.openxmlformats.org/drawingml/2006/main">
              <a:ext uri="{FF2B5EF4-FFF2-40B4-BE49-F238E27FC236}">
                <a16:creationId xmlns:a16="http://schemas.microsoft.com/office/drawing/2014/main" id="{E5150A19-A613-4172-AC72-67250F72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238375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b-users-title">
            <a:extLst xmlns:a="http://schemas.openxmlformats.org/drawingml/2006/main">
              <a:ext uri="{FF2B5EF4-FFF2-40B4-BE49-F238E27FC236}">
                <a16:creationId xmlns:a16="http://schemas.microsoft.com/office/drawing/2014/main" id="{05CD17D2-15ED-4B15-8EA0-CA92AAE1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81225"/>
            <a:ext cx="1990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9" name="db-users-fields">
            <a:extLst xmlns:a="http://schemas.openxmlformats.org/drawingml/2006/main">
              <a:ext uri="{FF2B5EF4-FFF2-40B4-BE49-F238E27FC236}">
                <a16:creationId xmlns:a16="http://schemas.microsoft.com/office/drawing/2014/main" id="{FE12E843-50BF-4E99-BF1C-66801D4F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19907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1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role · active · password hash</a:t>
            </a:r>
          </a:p>
        </p:txBody>
      </p:sp>
      <p:sp>
        <p:nvSpPr>
          <p:cNvPr id="10" name="db-members-box">
            <a:extLst xmlns:a="http://schemas.openxmlformats.org/drawingml/2006/main">
              <a:ext uri="{FF2B5EF4-FFF2-40B4-BE49-F238E27FC236}">
                <a16:creationId xmlns:a16="http://schemas.microsoft.com/office/drawing/2014/main" id="{F8343561-5F7A-4758-A462-329D1B0E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22383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B"/>
            </a:solidFill>
            <a:prstDash val="solid"/>
          </a:ln>
        </p:spPr>
      </p:sp>
      <p:sp>
        <p:nvSpPr>
          <p:cNvPr id="11" name="db-members-top">
            <a:extLst xmlns:a="http://schemas.openxmlformats.org/drawingml/2006/main">
              <a:ext uri="{FF2B5EF4-FFF2-40B4-BE49-F238E27FC236}">
                <a16:creationId xmlns:a16="http://schemas.microsoft.com/office/drawing/2014/main" id="{94AFD664-984E-4F45-AAE2-D551F0F9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2238375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b-members-title">
            <a:extLst xmlns:a="http://schemas.openxmlformats.org/drawingml/2006/main">
              <a:ext uri="{FF2B5EF4-FFF2-40B4-BE49-F238E27FC236}">
                <a16:creationId xmlns:a16="http://schemas.microsoft.com/office/drawing/2014/main" id="{FF286032-DF98-4A10-A279-F81A9E82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81225"/>
            <a:ext cx="1990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project_members</a:t>
            </a:r>
          </a:p>
        </p:txBody>
      </p:sp>
      <p:sp>
        <p:nvSpPr>
          <p:cNvPr id="13" name="db-members-fields">
            <a:extLst xmlns:a="http://schemas.openxmlformats.org/drawingml/2006/main">
              <a:ext uri="{FF2B5EF4-FFF2-40B4-BE49-F238E27FC236}">
                <a16:creationId xmlns:a16="http://schemas.microsoft.com/office/drawing/2014/main" id="{914E99E3-DA81-4350-AFAB-BC3E8FDB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57450"/>
            <a:ext cx="19907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1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project_id · user_id · member_role</a:t>
            </a:r>
          </a:p>
        </p:txBody>
      </p:sp>
      <p:sp>
        <p:nvSpPr>
          <p:cNvPr id="14" name="db-projects-box">
            <a:extLst xmlns:a="http://schemas.openxmlformats.org/drawingml/2006/main">
              <a:ext uri="{FF2B5EF4-FFF2-40B4-BE49-F238E27FC236}">
                <a16:creationId xmlns:a16="http://schemas.microsoft.com/office/drawing/2014/main" id="{4680D38B-BC53-43E0-8F50-CD345648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095500"/>
            <a:ext cx="22383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B"/>
            </a:solidFill>
            <a:prstDash val="solid"/>
          </a:ln>
        </p:spPr>
      </p:sp>
      <p:sp>
        <p:nvSpPr>
          <p:cNvPr id="15" name="db-projects-top">
            <a:extLst xmlns:a="http://schemas.openxmlformats.org/drawingml/2006/main">
              <a:ext uri="{FF2B5EF4-FFF2-40B4-BE49-F238E27FC236}">
                <a16:creationId xmlns:a16="http://schemas.microsoft.com/office/drawing/2014/main" id="{17C54B05-1CD3-4F03-B775-28B224B9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095500"/>
            <a:ext cx="2238375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b-projects-title">
            <a:extLst xmlns:a="http://schemas.openxmlformats.org/drawingml/2006/main">
              <a:ext uri="{FF2B5EF4-FFF2-40B4-BE49-F238E27FC236}">
                <a16:creationId xmlns:a16="http://schemas.microsoft.com/office/drawing/2014/main" id="{01B24294-F440-4209-B7ED-FFE5C262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81225"/>
            <a:ext cx="1990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projects</a:t>
            </a:r>
          </a:p>
        </p:txBody>
      </p:sp>
      <p:sp>
        <p:nvSpPr>
          <p:cNvPr id="17" name="db-projects-fields">
            <a:extLst xmlns:a="http://schemas.openxmlformats.org/drawingml/2006/main">
              <a:ext uri="{FF2B5EF4-FFF2-40B4-BE49-F238E27FC236}">
                <a16:creationId xmlns:a16="http://schemas.microsoft.com/office/drawing/2014/main" id="{95BF0418-3CC5-4759-BD41-401C6F13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57450"/>
            <a:ext cx="19907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1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owner_id · title · status</a:t>
            </a:r>
          </a:p>
        </p:txBody>
      </p:sp>
      <p:sp>
        <p:nvSpPr>
          <p:cNvPr id="18" name="rel-users-members-line">
            <a:extLst xmlns:a="http://schemas.openxmlformats.org/drawingml/2006/main">
              <a:ext uri="{FF2B5EF4-FFF2-40B4-BE49-F238E27FC236}">
                <a16:creationId xmlns:a16="http://schemas.microsoft.com/office/drawing/2014/main" id="{49B90476-C5EA-4365-9F6C-20C811C2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33625"/>
            <a:ext cx="1819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l-users-members-head">
            <a:extLst xmlns:a="http://schemas.openxmlformats.org/drawingml/2006/main">
              <a:ext uri="{FF2B5EF4-FFF2-40B4-BE49-F238E27FC236}">
                <a16:creationId xmlns:a16="http://schemas.microsoft.com/office/drawing/2014/main" id="{0F0773F3-3B34-4335-880B-AA9BD5B1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09800"/>
            <a:ext cx="19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98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0" name="rel-users-members-label">
            <a:extLst xmlns:a="http://schemas.openxmlformats.org/drawingml/2006/main">
              <a:ext uri="{FF2B5EF4-FFF2-40B4-BE49-F238E27FC236}">
                <a16:creationId xmlns:a16="http://schemas.microsoft.com/office/drawing/2014/main" id="{19A0C439-85AC-4F30-9720-DE299CE2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19350"/>
            <a:ext cx="1952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6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86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 : N</a:t>
            </a:r>
          </a:p>
        </p:txBody>
      </p:sp>
      <p:sp>
        <p:nvSpPr>
          <p:cNvPr id="21" name="rel-projects-members-line">
            <a:extLst xmlns:a="http://schemas.openxmlformats.org/drawingml/2006/main">
              <a:ext uri="{FF2B5EF4-FFF2-40B4-BE49-F238E27FC236}">
                <a16:creationId xmlns:a16="http://schemas.microsoft.com/office/drawing/2014/main" id="{32EF9555-9540-4F0B-AE85-9847D135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33625"/>
            <a:ext cx="1828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l-projects-members-head">
            <a:extLst xmlns:a="http://schemas.openxmlformats.org/drawingml/2006/main">
              <a:ext uri="{FF2B5EF4-FFF2-40B4-BE49-F238E27FC236}">
                <a16:creationId xmlns:a16="http://schemas.microsoft.com/office/drawing/2014/main" id="{C7B2CC4D-E8B3-4CFC-A3D8-4D2D8459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9800"/>
            <a:ext cx="19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3" name="rel-projects-members-label">
            <a:extLst xmlns:a="http://schemas.openxmlformats.org/drawingml/2006/main">
              <a:ext uri="{FF2B5EF4-FFF2-40B4-BE49-F238E27FC236}">
                <a16:creationId xmlns:a16="http://schemas.microsoft.com/office/drawing/2014/main" id="{4925F9C7-DAF9-4B7C-9115-C6BD235E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19350"/>
            <a:ext cx="1962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6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86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 : N</a:t>
            </a:r>
          </a:p>
        </p:txBody>
      </p:sp>
      <p:sp>
        <p:nvSpPr>
          <p:cNvPr id="24" name="db-projects-data-box">
            <a:extLst xmlns:a="http://schemas.openxmlformats.org/drawingml/2006/main">
              <a:ext uri="{FF2B5EF4-FFF2-40B4-BE49-F238E27FC236}">
                <a16:creationId xmlns:a16="http://schemas.microsoft.com/office/drawing/2014/main" id="{23E9529F-E521-4B59-8155-93876997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2190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B"/>
            </a:solidFill>
            <a:prstDash val="solid"/>
          </a:ln>
        </p:spPr>
      </p:sp>
      <p:sp>
        <p:nvSpPr>
          <p:cNvPr id="25" name="db-projects-data-top">
            <a:extLst xmlns:a="http://schemas.openxmlformats.org/drawingml/2006/main">
              <a:ext uri="{FF2B5EF4-FFF2-40B4-BE49-F238E27FC236}">
                <a16:creationId xmlns:a16="http://schemas.microsoft.com/office/drawing/2014/main" id="{87C6C8F8-7B01-4BAA-B41C-04A36637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21907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b-projects-data-title">
            <a:extLst xmlns:a="http://schemas.openxmlformats.org/drawingml/2006/main">
              <a:ext uri="{FF2B5EF4-FFF2-40B4-BE49-F238E27FC236}">
                <a16:creationId xmlns:a16="http://schemas.microsoft.com/office/drawing/2014/main" id="{15BE8A90-C805-41F8-B927-2BADF75D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81350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projects</a:t>
            </a:r>
          </a:p>
        </p:txBody>
      </p:sp>
      <p:sp>
        <p:nvSpPr>
          <p:cNvPr id="27" name="db-projects-data-fields">
            <a:extLst xmlns:a="http://schemas.openxmlformats.org/drawingml/2006/main">
              <a:ext uri="{FF2B5EF4-FFF2-40B4-BE49-F238E27FC236}">
                <a16:creationId xmlns:a16="http://schemas.microsoft.com/office/drawing/2014/main" id="{B79A84C1-587C-41EF-A8EC-BADA18F4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5757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1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owner_id · title · status</a:t>
            </a:r>
          </a:p>
        </p:txBody>
      </p:sp>
      <p:sp>
        <p:nvSpPr>
          <p:cNvPr id="28" name="db-datasets-box">
            <a:extLst xmlns:a="http://schemas.openxmlformats.org/drawingml/2006/main">
              <a:ext uri="{FF2B5EF4-FFF2-40B4-BE49-F238E27FC236}">
                <a16:creationId xmlns:a16="http://schemas.microsoft.com/office/drawing/2014/main" id="{4D6319BE-631B-49D3-B8A7-5D78A428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95625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B"/>
            </a:solidFill>
            <a:prstDash val="solid"/>
          </a:ln>
        </p:spPr>
      </p:sp>
      <p:sp>
        <p:nvSpPr>
          <p:cNvPr id="29" name="db-datasets-top">
            <a:extLst xmlns:a="http://schemas.openxmlformats.org/drawingml/2006/main">
              <a:ext uri="{FF2B5EF4-FFF2-40B4-BE49-F238E27FC236}">
                <a16:creationId xmlns:a16="http://schemas.microsoft.com/office/drawing/2014/main" id="{529E4BCB-A7E7-4AC0-83D3-CB0856B9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95625"/>
            <a:ext cx="2381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b-datasets-title">
            <a:extLst xmlns:a="http://schemas.openxmlformats.org/drawingml/2006/main">
              <a:ext uri="{FF2B5EF4-FFF2-40B4-BE49-F238E27FC236}">
                <a16:creationId xmlns:a16="http://schemas.microsoft.com/office/drawing/2014/main" id="{9470B244-4915-4D0F-AD21-784A9CF0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81350"/>
            <a:ext cx="213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datasets</a:t>
            </a:r>
          </a:p>
        </p:txBody>
      </p:sp>
      <p:sp>
        <p:nvSpPr>
          <p:cNvPr id="31" name="db-datasets-fields">
            <a:extLst xmlns:a="http://schemas.openxmlformats.org/drawingml/2006/main">
              <a:ext uri="{FF2B5EF4-FFF2-40B4-BE49-F238E27FC236}">
                <a16:creationId xmlns:a16="http://schemas.microsoft.com/office/drawing/2014/main" id="{7611C012-7E34-4401-BFC0-0819D873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457575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1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project_id · uploader · CSV path</a:t>
            </a:r>
          </a:p>
        </p:txBody>
      </p:sp>
      <p:sp>
        <p:nvSpPr>
          <p:cNvPr id="32" name="db-columns-box">
            <a:extLst xmlns:a="http://schemas.openxmlformats.org/drawingml/2006/main">
              <a:ext uri="{FF2B5EF4-FFF2-40B4-BE49-F238E27FC236}">
                <a16:creationId xmlns:a16="http://schemas.microsoft.com/office/drawing/2014/main" id="{ED143E84-EF6B-410A-9B43-52F7CD89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95625"/>
            <a:ext cx="26479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B"/>
            </a:solidFill>
            <a:prstDash val="solid"/>
          </a:ln>
        </p:spPr>
      </p:sp>
      <p:sp>
        <p:nvSpPr>
          <p:cNvPr id="33" name="db-columns-top">
            <a:extLst xmlns:a="http://schemas.openxmlformats.org/drawingml/2006/main">
              <a:ext uri="{FF2B5EF4-FFF2-40B4-BE49-F238E27FC236}">
                <a16:creationId xmlns:a16="http://schemas.microsoft.com/office/drawing/2014/main" id="{99CF6890-E0B7-418C-908A-1E4F240F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95625"/>
            <a:ext cx="26479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db-columns-title">
            <a:extLst xmlns:a="http://schemas.openxmlformats.org/drawingml/2006/main">
              <a:ext uri="{FF2B5EF4-FFF2-40B4-BE49-F238E27FC236}">
                <a16:creationId xmlns:a16="http://schemas.microsoft.com/office/drawing/2014/main" id="{BD4CE5DA-7EC2-4633-A2C8-DA22EFEE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181350"/>
            <a:ext cx="2400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dataset_columns</a:t>
            </a:r>
          </a:p>
        </p:txBody>
      </p:sp>
      <p:sp>
        <p:nvSpPr>
          <p:cNvPr id="35" name="db-columns-fields">
            <a:extLst xmlns:a="http://schemas.openxmlformats.org/drawingml/2006/main">
              <a:ext uri="{FF2B5EF4-FFF2-40B4-BE49-F238E27FC236}">
                <a16:creationId xmlns:a16="http://schemas.microsoft.com/office/drawing/2014/main" id="{84A89B09-7DE3-43C7-9252-4E57DC20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457575"/>
            <a:ext cx="2400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1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dataset_id · type · profile stats</a:t>
            </a:r>
          </a:p>
        </p:txBody>
      </p:sp>
      <p:sp>
        <p:nvSpPr>
          <p:cNvPr id="36" name="rel-projects-datasets-line">
            <a:extLst xmlns:a="http://schemas.openxmlformats.org/drawingml/2006/main">
              <a:ext uri="{FF2B5EF4-FFF2-40B4-BE49-F238E27FC236}">
                <a16:creationId xmlns:a16="http://schemas.microsoft.com/office/drawing/2014/main" id="{9813A54F-33C5-4356-B90C-FC04DD62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33750"/>
            <a:ext cx="1657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rel-projects-datasets-head">
            <a:extLst xmlns:a="http://schemas.openxmlformats.org/drawingml/2006/main">
              <a:ext uri="{FF2B5EF4-FFF2-40B4-BE49-F238E27FC236}">
                <a16:creationId xmlns:a16="http://schemas.microsoft.com/office/drawing/2014/main" id="{598565A6-0597-4C21-9F18-AC842F76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09925"/>
            <a:ext cx="19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98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38" name="rel-projects-datasets-label">
            <a:extLst xmlns:a="http://schemas.openxmlformats.org/drawingml/2006/main">
              <a:ext uri="{FF2B5EF4-FFF2-40B4-BE49-F238E27FC236}">
                <a16:creationId xmlns:a16="http://schemas.microsoft.com/office/drawing/2014/main" id="{E0CF2691-0387-456D-B7D8-E692D519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419475"/>
            <a:ext cx="1790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6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86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 : N</a:t>
            </a:r>
          </a:p>
        </p:txBody>
      </p:sp>
      <p:sp>
        <p:nvSpPr>
          <p:cNvPr id="39" name="rel-datasets-columns-line">
            <a:extLst xmlns:a="http://schemas.openxmlformats.org/drawingml/2006/main">
              <a:ext uri="{FF2B5EF4-FFF2-40B4-BE49-F238E27FC236}">
                <a16:creationId xmlns:a16="http://schemas.microsoft.com/office/drawing/2014/main" id="{B4B8C316-A98A-4186-A3BB-FE257B19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33750"/>
            <a:ext cx="148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rel-datasets-columns-head">
            <a:extLst xmlns:a="http://schemas.openxmlformats.org/drawingml/2006/main">
              <a:ext uri="{FF2B5EF4-FFF2-40B4-BE49-F238E27FC236}">
                <a16:creationId xmlns:a16="http://schemas.microsoft.com/office/drawing/2014/main" id="{3AAFFEE2-F226-418C-9A2F-EDF1BDCE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09925"/>
            <a:ext cx="19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98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41" name="rel-datasets-columns-label">
            <a:extLst xmlns:a="http://schemas.openxmlformats.org/drawingml/2006/main">
              <a:ext uri="{FF2B5EF4-FFF2-40B4-BE49-F238E27FC236}">
                <a16:creationId xmlns:a16="http://schemas.microsoft.com/office/drawing/2014/main" id="{921BB409-6267-4026-877C-3082FDEE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19475"/>
            <a:ext cx="161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6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86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 : N</a:t>
            </a:r>
          </a:p>
        </p:txBody>
      </p:sp>
      <p:sp>
        <p:nvSpPr>
          <p:cNvPr id="42" name="db-datasets-lineage-box">
            <a:extLst xmlns:a="http://schemas.openxmlformats.org/drawingml/2006/main">
              <a:ext uri="{FF2B5EF4-FFF2-40B4-BE49-F238E27FC236}">
                <a16:creationId xmlns:a16="http://schemas.microsoft.com/office/drawing/2014/main" id="{1100C313-76FA-4F49-8D85-263FBADF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2047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B"/>
            </a:solidFill>
            <a:prstDash val="solid"/>
          </a:ln>
        </p:spPr>
      </p:sp>
      <p:sp>
        <p:nvSpPr>
          <p:cNvPr id="43" name="db-datasets-lineage-top">
            <a:extLst xmlns:a="http://schemas.openxmlformats.org/drawingml/2006/main">
              <a:ext uri="{FF2B5EF4-FFF2-40B4-BE49-F238E27FC236}">
                <a16:creationId xmlns:a16="http://schemas.microsoft.com/office/drawing/2014/main" id="{46178383-1499-4937-82A1-6C6005B4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2047875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db-datasets-lineage-title">
            <a:extLst xmlns:a="http://schemas.openxmlformats.org/drawingml/2006/main">
              <a:ext uri="{FF2B5EF4-FFF2-40B4-BE49-F238E27FC236}">
                <a16:creationId xmlns:a16="http://schemas.microsoft.com/office/drawing/2014/main" id="{E6474C75-2996-49DF-BB75-DCE29FCC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81475"/>
            <a:ext cx="1800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datasets</a:t>
            </a:r>
          </a:p>
        </p:txBody>
      </p:sp>
      <p:sp>
        <p:nvSpPr>
          <p:cNvPr id="45" name="db-datasets-lineage-fields">
            <a:extLst xmlns:a="http://schemas.openxmlformats.org/drawingml/2006/main">
              <a:ext uri="{FF2B5EF4-FFF2-40B4-BE49-F238E27FC236}">
                <a16:creationId xmlns:a16="http://schemas.microsoft.com/office/drawing/2014/main" id="{F33FF3A0-5767-4ED8-976F-FB4B7151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1800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1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project_id · uploader · bytes</a:t>
            </a:r>
          </a:p>
        </p:txBody>
      </p:sp>
      <p:sp>
        <p:nvSpPr>
          <p:cNvPr id="46" name="db-experiments-box">
            <a:extLst xmlns:a="http://schemas.openxmlformats.org/drawingml/2006/main">
              <a:ext uri="{FF2B5EF4-FFF2-40B4-BE49-F238E27FC236}">
                <a16:creationId xmlns:a16="http://schemas.microsoft.com/office/drawing/2014/main" id="{C0926CE4-47DD-4C95-9D17-A6CDA0C0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95750"/>
            <a:ext cx="2047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B"/>
            </a:solidFill>
            <a:prstDash val="solid"/>
          </a:ln>
        </p:spPr>
      </p:sp>
      <p:sp>
        <p:nvSpPr>
          <p:cNvPr id="47" name="db-experiments-top">
            <a:extLst xmlns:a="http://schemas.openxmlformats.org/drawingml/2006/main">
              <a:ext uri="{FF2B5EF4-FFF2-40B4-BE49-F238E27FC236}">
                <a16:creationId xmlns:a16="http://schemas.microsoft.com/office/drawing/2014/main" id="{97BBA0C6-BD20-487E-ABFC-9C6261ED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95750"/>
            <a:ext cx="2047875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db-experiments-title">
            <a:extLst xmlns:a="http://schemas.openxmlformats.org/drawingml/2006/main">
              <a:ext uri="{FF2B5EF4-FFF2-40B4-BE49-F238E27FC236}">
                <a16:creationId xmlns:a16="http://schemas.microsoft.com/office/drawing/2014/main" id="{499EE65E-C6DC-4CCA-81A5-1ECE6C37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181475"/>
            <a:ext cx="1800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experiments</a:t>
            </a:r>
          </a:p>
        </p:txBody>
      </p:sp>
      <p:sp>
        <p:nvSpPr>
          <p:cNvPr id="49" name="db-experiments-fields">
            <a:extLst xmlns:a="http://schemas.openxmlformats.org/drawingml/2006/main">
              <a:ext uri="{FF2B5EF4-FFF2-40B4-BE49-F238E27FC236}">
                <a16:creationId xmlns:a16="http://schemas.microsoft.com/office/drawing/2014/main" id="{1B31812B-C466-4493-B995-86E6FF8E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457700"/>
            <a:ext cx="1800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1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target · model settings</a:t>
            </a:r>
          </a:p>
        </p:txBody>
      </p:sp>
      <p:sp>
        <p:nvSpPr>
          <p:cNvPr id="50" name="db-runs-box">
            <a:extLst xmlns:a="http://schemas.openxmlformats.org/drawingml/2006/main">
              <a:ext uri="{FF2B5EF4-FFF2-40B4-BE49-F238E27FC236}">
                <a16:creationId xmlns:a16="http://schemas.microsoft.com/office/drawing/2014/main" id="{4FE68718-CC51-4029-A2BC-9BA364B4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095750"/>
            <a:ext cx="2047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B"/>
            </a:solidFill>
            <a:prstDash val="solid"/>
          </a:ln>
        </p:spPr>
      </p:sp>
      <p:sp>
        <p:nvSpPr>
          <p:cNvPr id="51" name="db-runs-top">
            <a:extLst xmlns:a="http://schemas.openxmlformats.org/drawingml/2006/main">
              <a:ext uri="{FF2B5EF4-FFF2-40B4-BE49-F238E27FC236}">
                <a16:creationId xmlns:a16="http://schemas.microsoft.com/office/drawing/2014/main" id="{21B60D88-B87D-4966-B06A-3DB941BA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095750"/>
            <a:ext cx="2047875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A9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db-runs-title">
            <a:extLst xmlns:a="http://schemas.openxmlformats.org/drawingml/2006/main">
              <a:ext uri="{FF2B5EF4-FFF2-40B4-BE49-F238E27FC236}">
                <a16:creationId xmlns:a16="http://schemas.microsoft.com/office/drawing/2014/main" id="{C55A3B87-CE45-4F5C-BDFD-9F27DAC5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81475"/>
            <a:ext cx="1800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training_runs</a:t>
            </a:r>
          </a:p>
        </p:txBody>
      </p:sp>
      <p:sp>
        <p:nvSpPr>
          <p:cNvPr id="53" name="db-runs-fields">
            <a:extLst xmlns:a="http://schemas.openxmlformats.org/drawingml/2006/main">
              <a:ext uri="{FF2B5EF4-FFF2-40B4-BE49-F238E27FC236}">
                <a16:creationId xmlns:a16="http://schemas.microsoft.com/office/drawing/2014/main" id="{99862122-5433-4D46-A0C1-A40EBB7C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57700"/>
            <a:ext cx="1800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1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status · progress · seed</a:t>
            </a:r>
          </a:p>
        </p:txBody>
      </p:sp>
      <p:sp>
        <p:nvSpPr>
          <p:cNvPr id="54" name="db-output-box">
            <a:extLst xmlns:a="http://schemas.openxmlformats.org/drawingml/2006/main">
              <a:ext uri="{FF2B5EF4-FFF2-40B4-BE49-F238E27FC236}">
                <a16:creationId xmlns:a16="http://schemas.microsoft.com/office/drawing/2014/main" id="{C77AC295-BD94-422C-994F-66ABB1D7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95750"/>
            <a:ext cx="2609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B"/>
            </a:solidFill>
            <a:prstDash val="solid"/>
          </a:ln>
        </p:spPr>
      </p:sp>
      <p:sp>
        <p:nvSpPr>
          <p:cNvPr id="55" name="db-output-top">
            <a:extLst xmlns:a="http://schemas.openxmlformats.org/drawingml/2006/main">
              <a:ext uri="{FF2B5EF4-FFF2-40B4-BE49-F238E27FC236}">
                <a16:creationId xmlns:a16="http://schemas.microsoft.com/office/drawing/2014/main" id="{6EAA52C1-D81A-45A2-ADD4-D00A2EC1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95750"/>
            <a:ext cx="26098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A9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db-output-title">
            <a:extLst xmlns:a="http://schemas.openxmlformats.org/drawingml/2006/main">
              <a:ext uri="{FF2B5EF4-FFF2-40B4-BE49-F238E27FC236}">
                <a16:creationId xmlns:a16="http://schemas.microsoft.com/office/drawing/2014/main" id="{1F6A6C98-058A-4A70-B80E-12331D44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181475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run_metrics + run_logs</a:t>
            </a:r>
          </a:p>
        </p:txBody>
      </p:sp>
      <p:sp>
        <p:nvSpPr>
          <p:cNvPr id="57" name="db-output-fields">
            <a:extLst xmlns:a="http://schemas.openxmlformats.org/drawingml/2006/main">
              <a:ext uri="{FF2B5EF4-FFF2-40B4-BE49-F238E27FC236}">
                <a16:creationId xmlns:a16="http://schemas.microsoft.com/office/drawing/2014/main" id="{379F5F4C-6A4E-4FFE-A1CD-AD2178FF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457700"/>
            <a:ext cx="2362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1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metric values · timestamped events</a:t>
            </a:r>
          </a:p>
        </p:txBody>
      </p:sp>
      <p:sp>
        <p:nvSpPr>
          <p:cNvPr id="58" name="rel-dataset-experiments-line">
            <a:extLst xmlns:a="http://schemas.openxmlformats.org/drawingml/2006/main">
              <a:ext uri="{FF2B5EF4-FFF2-40B4-BE49-F238E27FC236}">
                <a16:creationId xmlns:a16="http://schemas.microsoft.com/office/drawing/2014/main" id="{550AAE01-72CC-496F-BF94-0C60AC1B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338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rel-dataset-experiments-head">
            <a:extLst xmlns:a="http://schemas.openxmlformats.org/drawingml/2006/main">
              <a:ext uri="{FF2B5EF4-FFF2-40B4-BE49-F238E27FC236}">
                <a16:creationId xmlns:a16="http://schemas.microsoft.com/office/drawing/2014/main" id="{582D4D9E-4A19-4F73-A802-06D4CC68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10050"/>
            <a:ext cx="19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98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60" name="rel-dataset-experiments-label">
            <a:extLst xmlns:a="http://schemas.openxmlformats.org/drawingml/2006/main">
              <a:ext uri="{FF2B5EF4-FFF2-40B4-BE49-F238E27FC236}">
                <a16:creationId xmlns:a16="http://schemas.microsoft.com/office/drawing/2014/main" id="{C7ECC2B7-D90C-4DC3-BA27-34C58A95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419600"/>
            <a:ext cx="64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6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86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 : N</a:t>
            </a:r>
          </a:p>
        </p:txBody>
      </p:sp>
      <p:sp>
        <p:nvSpPr>
          <p:cNvPr id="61" name="rel-experiments-runs-line">
            <a:extLst xmlns:a="http://schemas.openxmlformats.org/drawingml/2006/main">
              <a:ext uri="{FF2B5EF4-FFF2-40B4-BE49-F238E27FC236}">
                <a16:creationId xmlns:a16="http://schemas.microsoft.com/office/drawing/2014/main" id="{479BB971-E5CF-48F6-AADC-A91BC63D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3338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rel-experiments-runs-head">
            <a:extLst xmlns:a="http://schemas.openxmlformats.org/drawingml/2006/main">
              <a:ext uri="{FF2B5EF4-FFF2-40B4-BE49-F238E27FC236}">
                <a16:creationId xmlns:a16="http://schemas.microsoft.com/office/drawing/2014/main" id="{4622ABA6-CC43-41A5-B68A-591CCB89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210050"/>
            <a:ext cx="19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98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63" name="rel-experiments-runs-label">
            <a:extLst xmlns:a="http://schemas.openxmlformats.org/drawingml/2006/main">
              <a:ext uri="{FF2B5EF4-FFF2-40B4-BE49-F238E27FC236}">
                <a16:creationId xmlns:a16="http://schemas.microsoft.com/office/drawing/2014/main" id="{A2678005-D31B-4F2F-9584-D177FB64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19600"/>
            <a:ext cx="64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6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86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 : N</a:t>
            </a:r>
          </a:p>
        </p:txBody>
      </p:sp>
      <p:sp>
        <p:nvSpPr>
          <p:cNvPr id="64" name="rel-runs-output-line">
            <a:extLst xmlns:a="http://schemas.openxmlformats.org/drawingml/2006/main">
              <a:ext uri="{FF2B5EF4-FFF2-40B4-BE49-F238E27FC236}">
                <a16:creationId xmlns:a16="http://schemas.microsoft.com/office/drawing/2014/main" id="{9F1DAF4A-1E13-48B6-B06A-26191A75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338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9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rel-runs-output-head">
            <a:extLst xmlns:a="http://schemas.openxmlformats.org/drawingml/2006/main">
              <a:ext uri="{FF2B5EF4-FFF2-40B4-BE49-F238E27FC236}">
                <a16:creationId xmlns:a16="http://schemas.microsoft.com/office/drawing/2014/main" id="{4C9FD704-4C69-4966-A12F-1045FDBC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10050"/>
            <a:ext cx="19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E8A9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E8A95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8A95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66" name="rel-runs-output-label">
            <a:extLst xmlns:a="http://schemas.openxmlformats.org/drawingml/2006/main">
              <a:ext uri="{FF2B5EF4-FFF2-40B4-BE49-F238E27FC236}">
                <a16:creationId xmlns:a16="http://schemas.microsoft.com/office/drawing/2014/main" id="{4DDEF102-25FC-4F5B-9BBB-249E5B7D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419600"/>
            <a:ext cx="64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6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86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 : N</a:t>
            </a:r>
          </a:p>
        </p:txBody>
      </p:sp>
      <p:sp>
        <p:nvSpPr>
          <p:cNvPr id="67" name="db-resources-box">
            <a:extLst xmlns:a="http://schemas.openxmlformats.org/drawingml/2006/main">
              <a:ext uri="{FF2B5EF4-FFF2-40B4-BE49-F238E27FC236}">
                <a16:creationId xmlns:a16="http://schemas.microsoft.com/office/drawing/2014/main" id="{C202F7E4-467C-4D1B-B189-D5035BCE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95875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B"/>
            </a:solidFill>
            <a:prstDash val="solid"/>
          </a:ln>
        </p:spPr>
      </p:sp>
      <p:sp>
        <p:nvSpPr>
          <p:cNvPr id="68" name="db-resources-top">
            <a:extLst xmlns:a="http://schemas.openxmlformats.org/drawingml/2006/main">
              <a:ext uri="{FF2B5EF4-FFF2-40B4-BE49-F238E27FC236}">
                <a16:creationId xmlns:a16="http://schemas.microsoft.com/office/drawing/2014/main" id="{43BFFC56-C889-433E-8705-A164C46D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95875"/>
            <a:ext cx="2381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db-resources-title">
            <a:extLst xmlns:a="http://schemas.openxmlformats.org/drawingml/2006/main">
              <a:ext uri="{FF2B5EF4-FFF2-40B4-BE49-F238E27FC236}">
                <a16:creationId xmlns:a16="http://schemas.microsoft.com/office/drawing/2014/main" id="{3D9E4506-4811-400D-AC4B-5DBB3A53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181600"/>
            <a:ext cx="213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resources</a:t>
            </a:r>
          </a:p>
        </p:txBody>
      </p:sp>
      <p:sp>
        <p:nvSpPr>
          <p:cNvPr id="70" name="db-resources-fields">
            <a:extLst xmlns:a="http://schemas.openxmlformats.org/drawingml/2006/main">
              <a:ext uri="{FF2B5EF4-FFF2-40B4-BE49-F238E27FC236}">
                <a16:creationId xmlns:a16="http://schemas.microsoft.com/office/drawing/2014/main" id="{DECDB8BE-ACE0-4B84-ADFF-B914FF42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457825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1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type · capacity · status</a:t>
            </a:r>
          </a:p>
        </p:txBody>
      </p:sp>
      <p:sp>
        <p:nvSpPr>
          <p:cNvPr id="71" name="db-usage-box">
            <a:extLst xmlns:a="http://schemas.openxmlformats.org/drawingml/2006/main">
              <a:ext uri="{FF2B5EF4-FFF2-40B4-BE49-F238E27FC236}">
                <a16:creationId xmlns:a16="http://schemas.microsoft.com/office/drawing/2014/main" id="{F0CD6C4D-430D-4766-9953-23D529F6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95875"/>
            <a:ext cx="266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B"/>
            </a:solidFill>
            <a:prstDash val="solid"/>
          </a:ln>
        </p:spPr>
      </p:sp>
      <p:sp>
        <p:nvSpPr>
          <p:cNvPr id="72" name="db-usage-top">
            <a:extLst xmlns:a="http://schemas.openxmlformats.org/drawingml/2006/main">
              <a:ext uri="{FF2B5EF4-FFF2-40B4-BE49-F238E27FC236}">
                <a16:creationId xmlns:a16="http://schemas.microsoft.com/office/drawing/2014/main" id="{C502D704-093B-4059-9705-59EB4E1F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95875"/>
            <a:ext cx="26670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db-usage-title">
            <a:extLst xmlns:a="http://schemas.openxmlformats.org/drawingml/2006/main">
              <a:ext uri="{FF2B5EF4-FFF2-40B4-BE49-F238E27FC236}">
                <a16:creationId xmlns:a16="http://schemas.microsoft.com/office/drawing/2014/main" id="{891CEB10-F3A0-48A2-96E9-62CE6F69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181600"/>
            <a:ext cx="2419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usage_records</a:t>
            </a:r>
          </a:p>
        </p:txBody>
      </p:sp>
      <p:sp>
        <p:nvSpPr>
          <p:cNvPr id="74" name="db-usage-fields">
            <a:extLst xmlns:a="http://schemas.openxmlformats.org/drawingml/2006/main">
              <a:ext uri="{FF2B5EF4-FFF2-40B4-BE49-F238E27FC236}">
                <a16:creationId xmlns:a16="http://schemas.microsoft.com/office/drawing/2014/main" id="{7495533B-48C8-4F55-9B46-361F2E80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457825"/>
            <a:ext cx="2419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1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resource · project · amount · date</a:t>
            </a:r>
          </a:p>
        </p:txBody>
      </p:sp>
      <p:sp>
        <p:nvSpPr>
          <p:cNvPr id="75" name="rel-resources-usage-line">
            <a:extLst xmlns:a="http://schemas.openxmlformats.org/drawingml/2006/main">
              <a:ext uri="{FF2B5EF4-FFF2-40B4-BE49-F238E27FC236}">
                <a16:creationId xmlns:a16="http://schemas.microsoft.com/office/drawing/2014/main" id="{AB275088-26FC-4BA5-A3C2-5BFF1113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334000"/>
            <a:ext cx="1009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rel-resources-usage-head">
            <a:extLst xmlns:a="http://schemas.openxmlformats.org/drawingml/2006/main">
              <a:ext uri="{FF2B5EF4-FFF2-40B4-BE49-F238E27FC236}">
                <a16:creationId xmlns:a16="http://schemas.microsoft.com/office/drawing/2014/main" id="{B4343428-9560-4800-9427-1C4E35EB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10175"/>
            <a:ext cx="19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77" name="rel-resources-usage-label">
            <a:extLst xmlns:a="http://schemas.openxmlformats.org/drawingml/2006/main">
              <a:ext uri="{FF2B5EF4-FFF2-40B4-BE49-F238E27FC236}">
                <a16:creationId xmlns:a16="http://schemas.microsoft.com/office/drawing/2014/main" id="{1FF20EB8-D79E-4A6A-9D99-E68C86A4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419725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6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863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 : N</a:t>
            </a:r>
          </a:p>
        </p:txBody>
      </p:sp>
      <p:sp>
        <p:nvSpPr>
          <p:cNvPr id="78" name="footer-5">
            <a:extLst xmlns:a="http://schemas.openxmlformats.org/drawingml/2006/main">
              <a:ext uri="{FF2B5EF4-FFF2-40B4-BE49-F238E27FC236}">
                <a16:creationId xmlns:a16="http://schemas.microsoft.com/office/drawing/2014/main" id="{75525303-F6B5-41E9-B0EE-436517A4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48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00" b="1">
                <a:solidFill>
                  <a:srgbClr val="748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848B"/>
                </a:solidFill>
                <a:latin typeface="Arial"/>
                <a:ea typeface="Arial"/>
                <a:cs typeface="Arial"/>
              </a:rPr>
              <a:t>DATAHIVE  /  AI RESEARCH WORKSPACE</a:t>
            </a:r>
          </a:p>
        </p:txBody>
      </p:sp>
      <p:sp>
        <p:nvSpPr>
          <p:cNvPr id="79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B7F9A5C3-F751-490C-A19E-CA35165E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48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1">
                <a:solidFill>
                  <a:srgbClr val="748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848B"/>
                </a:solidFill>
                <a:latin typeface="Arial"/>
                <a:ea typeface="Arial"/>
                <a:cs typeface="Arial"/>
              </a:rPr>
              <a:t>5 / 8</a:t>
            </a:r>
          </a:p>
        </p:txBody>
      </p:sp>
    </p:spTree>
    <p:extLst>
      <p:ext uri="{BB962C8B-B14F-4D97-AF65-F5344CB8AC3E}">
        <p14:creationId xmlns:p14="http://schemas.microsoft.com/office/powerpoint/2010/main" val="4318694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ection-6">
            <a:extLst xmlns:a="http://schemas.openxmlformats.org/drawingml/2006/main">
              <a:ext uri="{FF2B5EF4-FFF2-40B4-BE49-F238E27FC236}">
                <a16:creationId xmlns:a16="http://schemas.microsoft.com/office/drawing/2014/main" id="{863F2E0C-C8DE-4542-943E-7B13729F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98F"/>
                </a:solidFill>
                <a:latin typeface="Arial"/>
                <a:ea typeface="Arial"/>
                <a:cs typeface="Arial"/>
              </a:rPr>
              <a:t>05 / TRAINING BASELINE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2AC19403-1634-4D41-8A21-BD8D0132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Metrics are calculated from a real CPU run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30C03F45-BB00-4459-9F5F-A4C5284F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The MVP executes a bounded binary logistic-regression workflow on a selected project CSV.</a:t>
            </a:r>
          </a:p>
        </p:txBody>
      </p:sp>
      <p:sp>
        <p:nvSpPr>
          <p:cNvPr id="4" name="header-rule-6">
            <a:extLst xmlns:a="http://schemas.openxmlformats.org/drawingml/2006/main">
              <a:ext uri="{FF2B5EF4-FFF2-40B4-BE49-F238E27FC236}">
                <a16:creationId xmlns:a16="http://schemas.microsoft.com/office/drawing/2014/main" id="{EF56FA46-0543-486D-9B52-49D18126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1AA6A047-3957-47DE-AD5E-1F2287FC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619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1125" b="1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061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train-step-0-top">
            <a:extLst xmlns:a="http://schemas.openxmlformats.org/drawingml/2006/main">
              <a:ext uri="{FF2B5EF4-FFF2-40B4-BE49-F238E27FC236}">
                <a16:creationId xmlns:a16="http://schemas.microsoft.com/office/drawing/2014/main" id="{DBAFAE5E-7099-4C4D-99DA-CA21BB41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1828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rain-step-0-num">
            <a:extLst xmlns:a="http://schemas.openxmlformats.org/drawingml/2006/main">
              <a:ext uri="{FF2B5EF4-FFF2-40B4-BE49-F238E27FC236}">
                <a16:creationId xmlns:a16="http://schemas.microsoft.com/office/drawing/2014/main" id="{49ACE8E4-7115-4C68-B7A1-C70BA6E3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train-step-0-title">
            <a:extLst xmlns:a="http://schemas.openxmlformats.org/drawingml/2006/main">
              <a:ext uri="{FF2B5EF4-FFF2-40B4-BE49-F238E27FC236}">
                <a16:creationId xmlns:a16="http://schemas.microsoft.com/office/drawing/2014/main" id="{1D56A7D1-D201-436B-99A5-2BA769E6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Select CSV</a:t>
            </a:r>
          </a:p>
        </p:txBody>
      </p:sp>
      <p:sp>
        <p:nvSpPr>
          <p:cNvPr id="9" name="train-step-0-body">
            <a:extLst xmlns:a="http://schemas.openxmlformats.org/drawingml/2006/main">
              <a:ext uri="{FF2B5EF4-FFF2-40B4-BE49-F238E27FC236}">
                <a16:creationId xmlns:a16="http://schemas.microsoft.com/office/drawing/2014/main" id="{EB2026B6-C763-44FA-BBDC-0ADC330C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828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Choose the dataset and binary target header.</a:t>
            </a:r>
          </a:p>
        </p:txBody>
      </p:sp>
      <p:sp>
        <p:nvSpPr>
          <p:cNvPr id="10" name="train-step-arrow-0">
            <a:extLst xmlns:a="http://schemas.openxmlformats.org/drawingml/2006/main">
              <a:ext uri="{FF2B5EF4-FFF2-40B4-BE49-F238E27FC236}">
                <a16:creationId xmlns:a16="http://schemas.microsoft.com/office/drawing/2014/main" id="{968E1717-459C-45E0-83C7-92291AE4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527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A98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train-step-1-top">
            <a:extLst xmlns:a="http://schemas.openxmlformats.org/drawingml/2006/main">
              <a:ext uri="{FF2B5EF4-FFF2-40B4-BE49-F238E27FC236}">
                <a16:creationId xmlns:a16="http://schemas.microsoft.com/office/drawing/2014/main" id="{55691C00-09E6-46DD-BAA1-8F17D8D3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76475"/>
            <a:ext cx="1828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rain-step-1-num">
            <a:extLst xmlns:a="http://schemas.openxmlformats.org/drawingml/2006/main">
              <a:ext uri="{FF2B5EF4-FFF2-40B4-BE49-F238E27FC236}">
                <a16:creationId xmlns:a16="http://schemas.microsoft.com/office/drawing/2014/main" id="{AEF70CBB-4A1F-45A0-B1EE-2087B2AA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669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50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98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train-step-1-title">
            <a:extLst xmlns:a="http://schemas.openxmlformats.org/drawingml/2006/main">
              <a:ext uri="{FF2B5EF4-FFF2-40B4-BE49-F238E27FC236}">
                <a16:creationId xmlns:a16="http://schemas.microsoft.com/office/drawing/2014/main" id="{D44FCD5B-E5C7-4F08-8721-6712BD63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432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14" name="train-step-1-body">
            <a:extLst xmlns:a="http://schemas.openxmlformats.org/drawingml/2006/main">
              <a:ext uri="{FF2B5EF4-FFF2-40B4-BE49-F238E27FC236}">
                <a16:creationId xmlns:a16="http://schemas.microsoft.com/office/drawing/2014/main" id="{26DBC61B-1012-4B9C-A231-44C3E663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1828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86"/>
          </a:bodyPr>
          <a:lstStyle xmlns:a="http://schemas.openxmlformats.org/drawingml/2006/main">
            <a:defPPr algn="l"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Stratified 80 / 20 split; impute missing numeric features from train means.</a:t>
            </a:r>
          </a:p>
        </p:txBody>
      </p:sp>
      <p:sp>
        <p:nvSpPr>
          <p:cNvPr id="15" name="train-step-arrow-1">
            <a:extLst xmlns:a="http://schemas.openxmlformats.org/drawingml/2006/main">
              <a:ext uri="{FF2B5EF4-FFF2-40B4-BE49-F238E27FC236}">
                <a16:creationId xmlns:a16="http://schemas.microsoft.com/office/drawing/2014/main" id="{6E3DF577-B5D9-42D2-9418-BF7B6141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527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A98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train-step-2-top">
            <a:extLst xmlns:a="http://schemas.openxmlformats.org/drawingml/2006/main">
              <a:ext uri="{FF2B5EF4-FFF2-40B4-BE49-F238E27FC236}">
                <a16:creationId xmlns:a16="http://schemas.microsoft.com/office/drawing/2014/main" id="{A56319A3-2859-445F-BB2B-5E8A3320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76475"/>
            <a:ext cx="1828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A9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rain-step-2-num">
            <a:extLst xmlns:a="http://schemas.openxmlformats.org/drawingml/2006/main">
              <a:ext uri="{FF2B5EF4-FFF2-40B4-BE49-F238E27FC236}">
                <a16:creationId xmlns:a16="http://schemas.microsoft.com/office/drawing/2014/main" id="{9AE9202D-16DC-48F4-98E4-6BBD656E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669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E8A9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50" b="1">
                <a:solidFill>
                  <a:srgbClr val="E8A95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8A95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train-step-2-title">
            <a:extLst xmlns:a="http://schemas.openxmlformats.org/drawingml/2006/main">
              <a:ext uri="{FF2B5EF4-FFF2-40B4-BE49-F238E27FC236}">
                <a16:creationId xmlns:a16="http://schemas.microsoft.com/office/drawing/2014/main" id="{130AC79C-E84D-4BDE-9ECC-09A93152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432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Fit</a:t>
            </a:r>
          </a:p>
        </p:txBody>
      </p:sp>
      <p:sp>
        <p:nvSpPr>
          <p:cNvPr id="19" name="train-step-2-body">
            <a:extLst xmlns:a="http://schemas.openxmlformats.org/drawingml/2006/main">
              <a:ext uri="{FF2B5EF4-FFF2-40B4-BE49-F238E27FC236}">
                <a16:creationId xmlns:a16="http://schemas.microsoft.com/office/drawing/2014/main" id="{D569A7AA-06CA-41FA-8121-E14ACC42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86100"/>
            <a:ext cx="1828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86"/>
          </a:bodyPr>
          <a:lstStyle xmlns:a="http://schemas.openxmlformats.org/drawingml/2006/main">
            <a:defPPr algn="l"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Standardize using train data; logistic regression on CPU.</a:t>
            </a:r>
          </a:p>
        </p:txBody>
      </p:sp>
      <p:sp>
        <p:nvSpPr>
          <p:cNvPr id="20" name="train-step-arrow-2">
            <a:extLst xmlns:a="http://schemas.openxmlformats.org/drawingml/2006/main">
              <a:ext uri="{FF2B5EF4-FFF2-40B4-BE49-F238E27FC236}">
                <a16:creationId xmlns:a16="http://schemas.microsoft.com/office/drawing/2014/main" id="{10B2EE7E-3013-4241-97DD-B44D38D5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527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A98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train-step-3-top">
            <a:extLst xmlns:a="http://schemas.openxmlformats.org/drawingml/2006/main">
              <a:ext uri="{FF2B5EF4-FFF2-40B4-BE49-F238E27FC236}">
                <a16:creationId xmlns:a16="http://schemas.microsoft.com/office/drawing/2014/main" id="{39C190EC-55BD-4A49-BD43-0A44DE59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76475"/>
            <a:ext cx="1828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rain-step-3-num">
            <a:extLst xmlns:a="http://schemas.openxmlformats.org/drawingml/2006/main">
              <a:ext uri="{FF2B5EF4-FFF2-40B4-BE49-F238E27FC236}">
                <a16:creationId xmlns:a16="http://schemas.microsoft.com/office/drawing/2014/main" id="{7F4E0EF8-2F4D-40F4-9B84-3D9A4B3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669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rain-step-3-title">
            <a:extLst xmlns:a="http://schemas.openxmlformats.org/drawingml/2006/main">
              <a:ext uri="{FF2B5EF4-FFF2-40B4-BE49-F238E27FC236}">
                <a16:creationId xmlns:a16="http://schemas.microsoft.com/office/drawing/2014/main" id="{978B3917-D7B3-4E96-B97D-40ED1CF5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432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24" name="train-step-3-body">
            <a:extLst xmlns:a="http://schemas.openxmlformats.org/drawingml/2006/main">
              <a:ext uri="{FF2B5EF4-FFF2-40B4-BE49-F238E27FC236}">
                <a16:creationId xmlns:a16="http://schemas.microsoft.com/office/drawing/2014/main" id="{BDFEDA2B-EDE5-4A75-A745-18720224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86100"/>
            <a:ext cx="1828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86"/>
          </a:bodyPr>
          <a:lstStyle xmlns:a="http://schemas.openxmlformats.org/drawingml/2006/main">
            <a:defPPr algn="l"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Calculate accuracy, precision, recall and F1 on held-out rows.</a:t>
            </a:r>
          </a:p>
        </p:txBody>
      </p:sp>
      <p:sp>
        <p:nvSpPr>
          <p:cNvPr id="25" name="train-step-arrow-3">
            <a:extLst xmlns:a="http://schemas.openxmlformats.org/drawingml/2006/main">
              <a:ext uri="{FF2B5EF4-FFF2-40B4-BE49-F238E27FC236}">
                <a16:creationId xmlns:a16="http://schemas.microsoft.com/office/drawing/2014/main" id="{EDDC9F77-C3C1-4B17-ACF3-F1B0DFA5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527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A98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train-step-4-top">
            <a:extLst xmlns:a="http://schemas.openxmlformats.org/drawingml/2006/main">
              <a:ext uri="{FF2B5EF4-FFF2-40B4-BE49-F238E27FC236}">
                <a16:creationId xmlns:a16="http://schemas.microsoft.com/office/drawing/2014/main" id="{C9971E3E-7652-49B3-9D08-6BDEC987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76475"/>
            <a:ext cx="1828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rain-step-4-num">
            <a:extLst xmlns:a="http://schemas.openxmlformats.org/drawingml/2006/main">
              <a:ext uri="{FF2B5EF4-FFF2-40B4-BE49-F238E27FC236}">
                <a16:creationId xmlns:a16="http://schemas.microsoft.com/office/drawing/2014/main" id="{55EB52D4-A8C7-4DA8-9176-8E42A390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669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50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98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train-step-4-title">
            <a:extLst xmlns:a="http://schemas.openxmlformats.org/drawingml/2006/main">
              <a:ext uri="{FF2B5EF4-FFF2-40B4-BE49-F238E27FC236}">
                <a16:creationId xmlns:a16="http://schemas.microsoft.com/office/drawing/2014/main" id="{DC0F9AC6-FE9A-4E55-954C-EA19D17D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432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Persist</a:t>
            </a:r>
          </a:p>
        </p:txBody>
      </p:sp>
      <p:sp>
        <p:nvSpPr>
          <p:cNvPr id="29" name="train-step-4-body">
            <a:extLst xmlns:a="http://schemas.openxmlformats.org/drawingml/2006/main">
              <a:ext uri="{FF2B5EF4-FFF2-40B4-BE49-F238E27FC236}">
                <a16:creationId xmlns:a16="http://schemas.microsoft.com/office/drawing/2014/main" id="{F8B7C543-D4E7-4D4F-9EA4-934B99B7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86100"/>
            <a:ext cx="1828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86"/>
          </a:bodyPr>
          <a:lstStyle xmlns:a="http://schemas.openxmlformats.org/drawingml/2006/main">
            <a:defPPr algn="l"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Save configuration, state, progress, logs, metrics and duration.</a:t>
            </a:r>
          </a:p>
        </p:txBody>
      </p:sp>
      <p:sp>
        <p:nvSpPr>
          <p:cNvPr id="30" name="train-control-rule">
            <a:extLst xmlns:a="http://schemas.openxmlformats.org/drawingml/2006/main">
              <a:ext uri="{FF2B5EF4-FFF2-40B4-BE49-F238E27FC236}">
                <a16:creationId xmlns:a16="http://schemas.microsoft.com/office/drawing/2014/main" id="{089B0E6C-A7A5-410F-89B2-50B19F4E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rain-controls-heading">
            <a:extLst xmlns:a="http://schemas.openxmlformats.org/drawingml/2006/main">
              <a:ext uri="{FF2B5EF4-FFF2-40B4-BE49-F238E27FC236}">
                <a16:creationId xmlns:a16="http://schemas.microsoft.com/office/drawing/2014/main" id="{D6C1492B-BE50-43B1-8CED-43C721AF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1876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Run controls</a:t>
            </a:r>
          </a:p>
        </p:txBody>
      </p:sp>
      <p:sp>
        <p:nvSpPr>
          <p:cNvPr id="32" name="control-epochs-shape">
            <a:extLst xmlns:a="http://schemas.openxmlformats.org/drawingml/2006/main">
              <a:ext uri="{FF2B5EF4-FFF2-40B4-BE49-F238E27FC236}">
                <a16:creationId xmlns:a16="http://schemas.microsoft.com/office/drawing/2014/main" id="{08D262B5-0F97-4C9E-94E5-E4094B97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22288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ontrol-epochs-text">
            <a:extLst xmlns:a="http://schemas.openxmlformats.org/drawingml/2006/main">
              <a:ext uri="{FF2B5EF4-FFF2-40B4-BE49-F238E27FC236}">
                <a16:creationId xmlns:a16="http://schemas.microsoft.com/office/drawing/2014/main" id="{5F00709F-DDEB-4276-B4CD-A30651D1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815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60 / 120 / 180 epochs</a:t>
            </a:r>
          </a:p>
        </p:txBody>
      </p:sp>
      <p:sp>
        <p:nvSpPr>
          <p:cNvPr id="34" name="control-rate-shape">
            <a:extLst xmlns:a="http://schemas.openxmlformats.org/drawingml/2006/main">
              <a:ext uri="{FF2B5EF4-FFF2-40B4-BE49-F238E27FC236}">
                <a16:creationId xmlns:a16="http://schemas.microsoft.com/office/drawing/2014/main" id="{4B1DFE04-D00E-43A0-96B7-D440B51A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772025"/>
            <a:ext cx="29813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ontrol-rate-text">
            <a:extLst xmlns:a="http://schemas.openxmlformats.org/drawingml/2006/main">
              <a:ext uri="{FF2B5EF4-FFF2-40B4-BE49-F238E27FC236}">
                <a16:creationId xmlns:a16="http://schemas.microsoft.com/office/drawing/2014/main" id="{21060A37-FDB7-4FC1-AE56-72F05FA2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781550"/>
            <a:ext cx="2771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7E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7E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E6D"/>
                </a:solidFill>
                <a:latin typeface="Arial"/>
                <a:ea typeface="Arial"/>
                <a:cs typeface="Arial"/>
              </a:rPr>
              <a:t>0.05 / 0.12 / 0.20 learning rate</a:t>
            </a:r>
          </a:p>
        </p:txBody>
      </p:sp>
      <p:sp>
        <p:nvSpPr>
          <p:cNvPr id="36" name="control-seed-shape">
            <a:extLst xmlns:a="http://schemas.openxmlformats.org/drawingml/2006/main">
              <a:ext uri="{FF2B5EF4-FFF2-40B4-BE49-F238E27FC236}">
                <a16:creationId xmlns:a16="http://schemas.microsoft.com/office/drawing/2014/main" id="{F08121B9-4FB5-4D29-818F-66152910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772025"/>
            <a:ext cx="15621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ontrol-seed-text">
            <a:extLst xmlns:a="http://schemas.openxmlformats.org/drawingml/2006/main">
              <a:ext uri="{FF2B5EF4-FFF2-40B4-BE49-F238E27FC236}">
                <a16:creationId xmlns:a16="http://schemas.microsoft.com/office/drawing/2014/main" id="{EDB800B0-58C7-4B80-8C1C-5D762F67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8155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Fixed seed: 42</a:t>
            </a:r>
          </a:p>
        </p:txBody>
      </p:sp>
      <p:sp>
        <p:nvSpPr>
          <p:cNvPr id="38" name="control-queue-shape">
            <a:extLst xmlns:a="http://schemas.openxmlformats.org/drawingml/2006/main">
              <a:ext uri="{FF2B5EF4-FFF2-40B4-BE49-F238E27FC236}">
                <a16:creationId xmlns:a16="http://schemas.microsoft.com/office/drawing/2014/main" id="{A477D31E-2BDD-4B3A-BA7F-9C7BAF6D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772025"/>
            <a:ext cx="19716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ontrol-queue-text">
            <a:extLst xmlns:a="http://schemas.openxmlformats.org/drawingml/2006/main">
              <a:ext uri="{FF2B5EF4-FFF2-40B4-BE49-F238E27FC236}">
                <a16:creationId xmlns:a16="http://schemas.microsoft.com/office/drawing/2014/main" id="{93168A88-D397-4C29-BF4A-C3D1390E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815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2 workers · queue 12</a:t>
            </a:r>
          </a:p>
        </p:txBody>
      </p:sp>
      <p:sp>
        <p:nvSpPr>
          <p:cNvPr id="40" name="train-limit-label">
            <a:extLst xmlns:a="http://schemas.openxmlformats.org/drawingml/2006/main">
              <a:ext uri="{FF2B5EF4-FFF2-40B4-BE49-F238E27FC236}">
                <a16:creationId xmlns:a16="http://schemas.microsoft.com/office/drawing/2014/main" id="{70CC92D6-78A1-4652-BD9D-8EF2ED1B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953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B9535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5353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41" name="train-limit">
            <a:extLst xmlns:a="http://schemas.openxmlformats.org/drawingml/2006/main">
              <a:ext uri="{FF2B5EF4-FFF2-40B4-BE49-F238E27FC236}">
                <a16:creationId xmlns:a16="http://schemas.microsoft.com/office/drawing/2014/main" id="{E5D417CA-5854-4CA2-BAC6-3A71424E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448300"/>
            <a:ext cx="984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Numeric features only · CSV only · no GPU/cloud provisioning or arbitrary Python execution.</a:t>
            </a:r>
          </a:p>
        </p:txBody>
      </p:sp>
      <p:sp>
        <p:nvSpPr>
          <p:cNvPr id="42" name="footer-6">
            <a:extLst xmlns:a="http://schemas.openxmlformats.org/drawingml/2006/main">
              <a:ext uri="{FF2B5EF4-FFF2-40B4-BE49-F238E27FC236}">
                <a16:creationId xmlns:a16="http://schemas.microsoft.com/office/drawing/2014/main" id="{4049B40B-916B-49D8-A7E7-A745CE1D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48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00" b="1">
                <a:solidFill>
                  <a:srgbClr val="748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848B"/>
                </a:solidFill>
                <a:latin typeface="Arial"/>
                <a:ea typeface="Arial"/>
                <a:cs typeface="Arial"/>
              </a:rPr>
              <a:t>DATAHIVE  /  AI RESEARCH WORKSPACE</a:t>
            </a:r>
          </a:p>
        </p:txBody>
      </p:sp>
      <p:sp>
        <p:nvSpPr>
          <p:cNvPr id="43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15FC957D-AE9F-4027-A9A7-6F270F39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48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1">
                <a:solidFill>
                  <a:srgbClr val="748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848B"/>
                </a:solidFill>
                <a:latin typeface="Arial"/>
                <a:ea typeface="Arial"/>
                <a:cs typeface="Arial"/>
              </a:rPr>
              <a:t>6 / 8</a:t>
            </a:r>
          </a:p>
        </p:txBody>
      </p:sp>
    </p:spTree>
    <p:extLst>
      <p:ext uri="{BB962C8B-B14F-4D97-AF65-F5344CB8AC3E}">
        <p14:creationId xmlns:p14="http://schemas.microsoft.com/office/powerpoint/2010/main" val="16180926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-7">
            <a:extLst xmlns:a="http://schemas.openxmlformats.org/drawingml/2006/main">
              <a:ext uri="{FF2B5EF4-FFF2-40B4-BE49-F238E27FC236}">
                <a16:creationId xmlns:a16="http://schemas.microsoft.com/office/drawing/2014/main" id="{FDDFF02B-07A1-41A7-BFF6-166B1CDD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CBE8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CBE8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BE86B"/>
                </a:solidFill>
                <a:latin typeface="Arial"/>
                <a:ea typeface="Arial"/>
                <a:cs typeface="Arial"/>
              </a:rPr>
              <a:t>06 / JAVA WEB RUBRIC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BCB94F76-F892-46F9-9EC3-3C80C232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against the Java Web rubric</a:t>
            </a:r>
          </a:p>
        </p:txBody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131E9591-752D-442C-9B2C-1B87256A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B7C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C9C9"/>
                </a:solidFill>
                <a:latin typeface="Arial"/>
                <a:ea typeface="Arial"/>
                <a:cs typeface="Arial"/>
              </a:rPr>
              <a:t>The GUI rubric shown separately in the brief does not apply to this browser-based Java project.</a:t>
            </a:r>
          </a:p>
        </p:txBody>
      </p:sp>
      <p:sp>
        <p:nvSpPr>
          <p:cNvPr id="4" name="header-rule-7">
            <a:extLst xmlns:a="http://schemas.openxmlformats.org/drawingml/2006/main">
              <a:ext uri="{FF2B5EF4-FFF2-40B4-BE49-F238E27FC236}">
                <a16:creationId xmlns:a16="http://schemas.microsoft.com/office/drawing/2014/main" id="{90DDE56A-3FCD-4544-96E5-1DC7BC91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0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B5A0E466-8B0A-4BCC-B7B5-578BDB72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619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B7C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1125" b="1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7C9C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rubric-score-0">
            <a:extLst xmlns:a="http://schemas.openxmlformats.org/drawingml/2006/main">
              <a:ext uri="{FF2B5EF4-FFF2-40B4-BE49-F238E27FC236}">
                <a16:creationId xmlns:a16="http://schemas.microsoft.com/office/drawing/2014/main" id="{176DFA28-530F-4868-AC3C-6B250BFC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876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CBE8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925" b="1">
                <a:solidFill>
                  <a:srgbClr val="CBE86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CBE8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rubric-marks-0">
            <a:extLst xmlns:a="http://schemas.openxmlformats.org/drawingml/2006/main">
              <a:ext uri="{FF2B5EF4-FFF2-40B4-BE49-F238E27FC236}">
                <a16:creationId xmlns:a16="http://schemas.microsoft.com/office/drawing/2014/main" id="{C8AB4C29-78FF-4337-968F-33531F56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289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B7C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825" b="1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7C9C9"/>
                </a:solidFill>
                <a:latin typeface="Arial"/>
                <a:ea typeface="Arial"/>
                <a:cs typeface="Arial"/>
              </a:rPr>
              <a:t>MARKS</a:t>
            </a:r>
          </a:p>
        </p:txBody>
      </p:sp>
      <p:sp>
        <p:nvSpPr>
          <p:cNvPr id="8" name="rubric-title-0">
            <a:extLst xmlns:a="http://schemas.openxmlformats.org/drawingml/2006/main">
              <a:ext uri="{FF2B5EF4-FFF2-40B4-BE49-F238E27FC236}">
                <a16:creationId xmlns:a16="http://schemas.microsoft.com/office/drawing/2014/main" id="{7271D68E-2125-4A3E-89BE-F17A88C5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1526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131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understanding &amp; solution design</a:t>
            </a:r>
          </a:p>
        </p:txBody>
      </p:sp>
      <p:sp>
        <p:nvSpPr>
          <p:cNvPr id="9" name="rubric-evidence-0">
            <a:extLst xmlns:a="http://schemas.openxmlformats.org/drawingml/2006/main">
              <a:ext uri="{FF2B5EF4-FFF2-40B4-BE49-F238E27FC236}">
                <a16:creationId xmlns:a16="http://schemas.microsoft.com/office/drawing/2014/main" id="{A8729857-7BFF-4198-B12C-B8E486A5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527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7C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C9C9"/>
                </a:solidFill>
                <a:latin typeface="Arial"/>
                <a:ea typeface="Arial"/>
                <a:cs typeface="Arial"/>
              </a:rPr>
              <a:t>Role workflows, bounded MVP scope, architecture and relational data model.</a:t>
            </a:r>
          </a:p>
        </p:txBody>
      </p:sp>
      <p:sp>
        <p:nvSpPr>
          <p:cNvPr id="10" name="rubric-rule-0">
            <a:extLst xmlns:a="http://schemas.openxmlformats.org/drawingml/2006/main">
              <a:ext uri="{FF2B5EF4-FFF2-40B4-BE49-F238E27FC236}">
                <a16:creationId xmlns:a16="http://schemas.microsoft.com/office/drawing/2014/main" id="{6B8EF9DF-1953-4A68-B4CE-6A165930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0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ubric-score-1">
            <a:extLst xmlns:a="http://schemas.openxmlformats.org/drawingml/2006/main">
              <a:ext uri="{FF2B5EF4-FFF2-40B4-BE49-F238E27FC236}">
                <a16:creationId xmlns:a16="http://schemas.microsoft.com/office/drawing/2014/main" id="{EE9D4BA8-AEF3-4AB5-A7F0-D5465F13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876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76BC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925" b="1">
                <a:solidFill>
                  <a:srgbClr val="76BCE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76BCE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2" name="rubric-marks-1">
            <a:extLst xmlns:a="http://schemas.openxmlformats.org/drawingml/2006/main">
              <a:ext uri="{FF2B5EF4-FFF2-40B4-BE49-F238E27FC236}">
                <a16:creationId xmlns:a16="http://schemas.microsoft.com/office/drawing/2014/main" id="{A98871C8-5BFE-4396-9071-7B6F9B68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5282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B7C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825" b="1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7C9C9"/>
                </a:solidFill>
                <a:latin typeface="Arial"/>
                <a:ea typeface="Arial"/>
                <a:cs typeface="Arial"/>
              </a:rPr>
              <a:t>MARKS</a:t>
            </a:r>
          </a:p>
        </p:txBody>
      </p:sp>
      <p:sp>
        <p:nvSpPr>
          <p:cNvPr id="13" name="rubric-title-1">
            <a:extLst xmlns:a="http://schemas.openxmlformats.org/drawingml/2006/main">
              <a:ext uri="{FF2B5EF4-FFF2-40B4-BE49-F238E27FC236}">
                <a16:creationId xmlns:a16="http://schemas.microsoft.com/office/drawing/2014/main" id="{6F0FE20A-BE58-4B69-874C-F3E18B8D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765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Core Java concepts</a:t>
            </a:r>
          </a:p>
        </p:txBody>
      </p:sp>
      <p:sp>
        <p:nvSpPr>
          <p:cNvPr id="14" name="rubric-evidence-1">
            <a:extLst xmlns:a="http://schemas.openxmlformats.org/drawingml/2006/main">
              <a:ext uri="{FF2B5EF4-FFF2-40B4-BE49-F238E27FC236}">
                <a16:creationId xmlns:a16="http://schemas.microsoft.com/office/drawing/2014/main" id="{F9FA6D9A-A7C3-4F0B-BC48-8D3FC171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57525"/>
            <a:ext cx="527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7C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C9C9"/>
                </a:solidFill>
                <a:latin typeface="Arial"/>
                <a:ea typeface="Arial"/>
                <a:cs typeface="Arial"/>
              </a:rPr>
              <a:t>Typed models, collections for tabular/profile data, validation, exceptions and a bounded worker.</a:t>
            </a:r>
          </a:p>
        </p:txBody>
      </p:sp>
      <p:sp>
        <p:nvSpPr>
          <p:cNvPr id="15" name="rubric-rule-1">
            <a:extLst xmlns:a="http://schemas.openxmlformats.org/drawingml/2006/main">
              <a:ext uri="{FF2B5EF4-FFF2-40B4-BE49-F238E27FC236}">
                <a16:creationId xmlns:a16="http://schemas.microsoft.com/office/drawing/2014/main" id="{801B5710-0FAF-4602-844C-AB35CFCD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0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ubric-score-2">
            <a:extLst xmlns:a="http://schemas.openxmlformats.org/drawingml/2006/main">
              <a:ext uri="{FF2B5EF4-FFF2-40B4-BE49-F238E27FC236}">
                <a16:creationId xmlns:a16="http://schemas.microsoft.com/office/drawing/2014/main" id="{86EFA7DA-4EDA-4669-A348-9E78A71A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876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62D7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925" b="1">
                <a:solidFill>
                  <a:srgbClr val="62D7B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62D7B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17" name="rubric-marks-2">
            <a:extLst xmlns:a="http://schemas.openxmlformats.org/drawingml/2006/main">
              <a:ext uri="{FF2B5EF4-FFF2-40B4-BE49-F238E27FC236}">
                <a16:creationId xmlns:a16="http://schemas.microsoft.com/office/drawing/2014/main" id="{F38710A1-AC06-4117-8D4E-0F170ABC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767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B7C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825" b="1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7C9C9"/>
                </a:solidFill>
                <a:latin typeface="Arial"/>
                <a:ea typeface="Arial"/>
                <a:cs typeface="Arial"/>
              </a:rPr>
              <a:t>MARKS</a:t>
            </a:r>
          </a:p>
        </p:txBody>
      </p:sp>
      <p:sp>
        <p:nvSpPr>
          <p:cNvPr id="18" name="rubric-title-2">
            <a:extLst xmlns:a="http://schemas.openxmlformats.org/drawingml/2006/main">
              <a:ext uri="{FF2B5EF4-FFF2-40B4-BE49-F238E27FC236}">
                <a16:creationId xmlns:a16="http://schemas.microsoft.com/office/drawing/2014/main" id="{FCB0542F-A2A6-4EE1-AC40-5F8A69A8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005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Database integration · JDBC</a:t>
            </a:r>
          </a:p>
        </p:txBody>
      </p:sp>
      <p:sp>
        <p:nvSpPr>
          <p:cNvPr id="19" name="rubric-evidence-2">
            <a:extLst xmlns:a="http://schemas.openxmlformats.org/drawingml/2006/main">
              <a:ext uri="{FF2B5EF4-FFF2-40B4-BE49-F238E27FC236}">
                <a16:creationId xmlns:a16="http://schemas.microsoft.com/office/drawing/2014/main" id="{C3AD7AEC-D1BF-4691-9C23-3D236734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981450"/>
            <a:ext cx="527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7C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C9C9"/>
                </a:solidFill>
                <a:latin typeface="Arial"/>
                <a:ea typeface="Arial"/>
                <a:cs typeface="Arial"/>
              </a:rPr>
              <a:t>Connection/configuration layer, relational schema, DAOs, prepared statements and persisted run history.</a:t>
            </a:r>
          </a:p>
        </p:txBody>
      </p:sp>
      <p:sp>
        <p:nvSpPr>
          <p:cNvPr id="20" name="rubric-rule-2">
            <a:extLst xmlns:a="http://schemas.openxmlformats.org/drawingml/2006/main">
              <a:ext uri="{FF2B5EF4-FFF2-40B4-BE49-F238E27FC236}">
                <a16:creationId xmlns:a16="http://schemas.microsoft.com/office/drawing/2014/main" id="{3460E081-4AED-46FC-A056-2E2CAA00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0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ubric-score-3">
            <a:extLst xmlns:a="http://schemas.openxmlformats.org/drawingml/2006/main">
              <a:ext uri="{FF2B5EF4-FFF2-40B4-BE49-F238E27FC236}">
                <a16:creationId xmlns:a16="http://schemas.microsoft.com/office/drawing/2014/main" id="{43A061A7-F855-4AD8-BB91-9B83B9D1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876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E8A9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925" b="1">
                <a:solidFill>
                  <a:srgbClr val="E8A95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E8A95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2" name="rubric-marks-3">
            <a:extLst xmlns:a="http://schemas.openxmlformats.org/drawingml/2006/main">
              <a:ext uri="{FF2B5EF4-FFF2-40B4-BE49-F238E27FC236}">
                <a16:creationId xmlns:a16="http://schemas.microsoft.com/office/drawing/2014/main" id="{E14031B2-EDC7-4113-9B49-9BFDD7CD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006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B7C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825" b="1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7C9C9"/>
                </a:solidFill>
                <a:latin typeface="Arial"/>
                <a:ea typeface="Arial"/>
                <a:cs typeface="Arial"/>
              </a:rPr>
              <a:t>MARKS</a:t>
            </a:r>
          </a:p>
        </p:txBody>
      </p:sp>
      <p:sp>
        <p:nvSpPr>
          <p:cNvPr id="23" name="rubric-title-3">
            <a:extLst xmlns:a="http://schemas.openxmlformats.org/drawingml/2006/main">
              <a:ext uri="{FF2B5EF4-FFF2-40B4-BE49-F238E27FC236}">
                <a16:creationId xmlns:a16="http://schemas.microsoft.com/office/drawing/2014/main" id="{F7A70AC8-49A6-440E-BF51-01E3D967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9244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Servlets &amp; web integration</a:t>
            </a:r>
          </a:p>
        </p:txBody>
      </p:sp>
      <p:sp>
        <p:nvSpPr>
          <p:cNvPr id="24" name="rubric-evidence-3">
            <a:extLst xmlns:a="http://schemas.openxmlformats.org/drawingml/2006/main">
              <a:ext uri="{FF2B5EF4-FFF2-40B4-BE49-F238E27FC236}">
                <a16:creationId xmlns:a16="http://schemas.microsoft.com/office/drawing/2014/main" id="{C30D2558-0E9E-4406-85E2-A6033DFA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905375"/>
            <a:ext cx="527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7C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C9C9"/>
                </a:solidFill>
                <a:latin typeface="Arial"/>
                <a:ea typeface="Arial"/>
                <a:cs typeface="Arial"/>
              </a:rPr>
              <a:t>Servlet routes, authentication/role filters, JSP views, browser interactions and responsive styling.</a:t>
            </a:r>
          </a:p>
        </p:txBody>
      </p:sp>
      <p:sp>
        <p:nvSpPr>
          <p:cNvPr id="25" name="footer-7">
            <a:extLst xmlns:a="http://schemas.openxmlformats.org/drawingml/2006/main">
              <a:ext uri="{FF2B5EF4-FFF2-40B4-BE49-F238E27FC236}">
                <a16:creationId xmlns:a16="http://schemas.microsoft.com/office/drawing/2014/main" id="{3AE94378-EAC1-4390-B3AD-1D6F8347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B7C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00" b="1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7C9C9"/>
                </a:solidFill>
                <a:latin typeface="Arial"/>
                <a:ea typeface="Arial"/>
                <a:cs typeface="Arial"/>
              </a:rPr>
              <a:t>DATAHIVE  /  AI RESEARCH WORKSPACE</a:t>
            </a:r>
          </a:p>
        </p:txBody>
      </p:sp>
      <p:sp>
        <p:nvSpPr>
          <p:cNvPr id="26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016D8072-E177-4D58-B2A3-AAB2C4F9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B7C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1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7C9C9"/>
                </a:solidFill>
                <a:latin typeface="Arial"/>
                <a:ea typeface="Arial"/>
                <a:cs typeface="Arial"/>
              </a:rPr>
              <a:t>7 / 8</a:t>
            </a:r>
          </a:p>
        </p:txBody>
      </p:sp>
    </p:spTree>
    <p:extLst>
      <p:ext uri="{BB962C8B-B14F-4D97-AF65-F5344CB8AC3E}">
        <p14:creationId xmlns:p14="http://schemas.microsoft.com/office/powerpoint/2010/main" val="11645717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ection-8">
            <a:extLst xmlns:a="http://schemas.openxmlformats.org/drawingml/2006/main">
              <a:ext uri="{FF2B5EF4-FFF2-40B4-BE49-F238E27FC236}">
                <a16:creationId xmlns:a16="http://schemas.microsoft.com/office/drawing/2014/main" id="{0D627A2D-3A76-4D9C-AFEF-D6736F21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98F"/>
                </a:solidFill>
                <a:latin typeface="Arial"/>
                <a:ea typeface="Arial"/>
                <a:cs typeface="Arial"/>
              </a:rPr>
              <a:t>07 / DEMO + SUBMISSION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582F085E-C051-437E-A2F0-0B105E44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A short walkthrough shows the complete path</a:t>
            </a:r>
          </a:p>
        </p:txBody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9E8BF2F9-E5B3-4AB2-B9BA-506366DA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The WAR is built; deploy it on Tomcat before capturing browser screens.</a:t>
            </a:r>
          </a:p>
        </p:txBody>
      </p:sp>
      <p:sp>
        <p:nvSpPr>
          <p:cNvPr id="4" name="header-rule-8">
            <a:extLst xmlns:a="http://schemas.openxmlformats.org/drawingml/2006/main">
              <a:ext uri="{FF2B5EF4-FFF2-40B4-BE49-F238E27FC236}">
                <a16:creationId xmlns:a16="http://schemas.microsoft.com/office/drawing/2014/main" id="{15CC4475-B4C5-40F0-B147-224CDDDB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87324BE7-7128-431D-8D66-8086A617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619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1125" b="1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061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demo-no-0">
            <a:extLst xmlns:a="http://schemas.openxmlformats.org/drawingml/2006/main">
              <a:ext uri="{FF2B5EF4-FFF2-40B4-BE49-F238E27FC236}">
                <a16:creationId xmlns:a16="http://schemas.microsoft.com/office/drawing/2014/main" id="{B1FA7494-015C-40F6-A584-1C383584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98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demo-role-0">
            <a:extLst xmlns:a="http://schemas.openxmlformats.org/drawingml/2006/main">
              <a:ext uri="{FF2B5EF4-FFF2-40B4-BE49-F238E27FC236}">
                <a16:creationId xmlns:a16="http://schemas.microsoft.com/office/drawing/2014/main" id="{538F9492-43F0-4E32-BD3F-34F8D0E1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526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Researcher</a:t>
            </a:r>
          </a:p>
        </p:txBody>
      </p:sp>
      <p:sp>
        <p:nvSpPr>
          <p:cNvPr id="8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5F4F8A08-DE91-4888-B838-339D0B11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152650"/>
            <a:ext cx="5267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Sign in → open the demo project → inspect “Synthetic churn baseline”.</a:t>
            </a:r>
          </a:p>
        </p:txBody>
      </p:sp>
      <p:sp>
        <p:nvSpPr>
          <p:cNvPr id="9" name="demo-row-rule-0">
            <a:extLst xmlns:a="http://schemas.openxmlformats.org/drawingml/2006/main">
              <a:ext uri="{FF2B5EF4-FFF2-40B4-BE49-F238E27FC236}">
                <a16:creationId xmlns:a16="http://schemas.microsoft.com/office/drawing/2014/main" id="{52E51F98-00F5-429A-AC91-8DE151FF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28900"/>
            <a:ext cx="680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emo-no-1">
            <a:extLst xmlns:a="http://schemas.openxmlformats.org/drawingml/2006/main">
              <a:ext uri="{FF2B5EF4-FFF2-40B4-BE49-F238E27FC236}">
                <a16:creationId xmlns:a16="http://schemas.microsoft.com/office/drawing/2014/main" id="{3CA4C25D-DC7A-4DB8-8B29-57A0E360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98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demo-role-1">
            <a:extLst xmlns:a="http://schemas.openxmlformats.org/drawingml/2006/main">
              <a:ext uri="{FF2B5EF4-FFF2-40B4-BE49-F238E27FC236}">
                <a16:creationId xmlns:a16="http://schemas.microsoft.com/office/drawing/2014/main" id="{43E92C08-C907-4F8C-AFF9-695F93BA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575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12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841C87B2-69CC-4C52-A058-6A7BD28C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857500"/>
            <a:ext cx="5267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Show row / column profile and select `churned` as the binary target.</a:t>
            </a:r>
          </a:p>
        </p:txBody>
      </p:sp>
      <p:sp>
        <p:nvSpPr>
          <p:cNvPr id="13" name="demo-row-rule-1">
            <a:extLst xmlns:a="http://schemas.openxmlformats.org/drawingml/2006/main">
              <a:ext uri="{FF2B5EF4-FFF2-40B4-BE49-F238E27FC236}">
                <a16:creationId xmlns:a16="http://schemas.microsoft.com/office/drawing/2014/main" id="{DC8835D2-4961-4795-986A-964AB68D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680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emo-no-2">
            <a:extLst xmlns:a="http://schemas.openxmlformats.org/drawingml/2006/main">
              <a:ext uri="{FF2B5EF4-FFF2-40B4-BE49-F238E27FC236}">
                <a16:creationId xmlns:a16="http://schemas.microsoft.com/office/drawing/2014/main" id="{1ABD116B-5B62-4B00-8954-D05DDC1F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98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demo-role-2">
            <a:extLst xmlns:a="http://schemas.openxmlformats.org/drawingml/2006/main">
              <a:ext uri="{FF2B5EF4-FFF2-40B4-BE49-F238E27FC236}">
                <a16:creationId xmlns:a16="http://schemas.microsoft.com/office/drawing/2014/main" id="{529806C5-9A36-4C7E-BE27-DE3BC1B0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623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Experiment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C6162050-75F4-4C68-A6B0-0DAFE780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562350"/>
            <a:ext cx="5267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Start a run; show status and logs, then open saved holdout metrics.</a:t>
            </a:r>
          </a:p>
        </p:txBody>
      </p:sp>
      <p:sp>
        <p:nvSpPr>
          <p:cNvPr id="17" name="demo-row-rule-2">
            <a:extLst xmlns:a="http://schemas.openxmlformats.org/drawingml/2006/main">
              <a:ext uri="{FF2B5EF4-FFF2-40B4-BE49-F238E27FC236}">
                <a16:creationId xmlns:a16="http://schemas.microsoft.com/office/drawing/2014/main" id="{B1D711EC-BBB2-4ACE-9D04-7BE91EB5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38600"/>
            <a:ext cx="680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emo-no-3">
            <a:extLst xmlns:a="http://schemas.openxmlformats.org/drawingml/2006/main">
              <a:ext uri="{FF2B5EF4-FFF2-40B4-BE49-F238E27FC236}">
                <a16:creationId xmlns:a16="http://schemas.microsoft.com/office/drawing/2014/main" id="{97FE5CB1-0554-4BA9-B6BE-8143D575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00A9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98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demo-role-3">
            <a:extLst xmlns:a="http://schemas.openxmlformats.org/drawingml/2006/main">
              <a:ext uri="{FF2B5EF4-FFF2-40B4-BE49-F238E27FC236}">
                <a16:creationId xmlns:a16="http://schemas.microsoft.com/office/drawing/2014/main" id="{E9205E5D-6097-489D-BD53-B3264AF9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672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0" name="demo-detail-3">
            <a:extLst xmlns:a="http://schemas.openxmlformats.org/drawingml/2006/main">
              <a:ext uri="{FF2B5EF4-FFF2-40B4-BE49-F238E27FC236}">
                <a16:creationId xmlns:a16="http://schemas.microsoft.com/office/drawing/2014/main" id="{F03F1CBC-37C2-498C-9005-731D777E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267200"/>
            <a:ext cx="5267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Review user, project and resource tables; change the usage window.</a:t>
            </a:r>
          </a:p>
        </p:txBody>
      </p:sp>
      <p:sp>
        <p:nvSpPr>
          <p:cNvPr id="21" name="submission-divider">
            <a:extLst xmlns:a="http://schemas.openxmlformats.org/drawingml/2006/main">
              <a:ext uri="{FF2B5EF4-FFF2-40B4-BE49-F238E27FC236}">
                <a16:creationId xmlns:a16="http://schemas.microsoft.com/office/drawing/2014/main" id="{239FF0D9-1FA7-424E-9411-F00C0668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33600"/>
            <a:ext cx="9525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adiness-title">
            <a:extLst xmlns:a="http://schemas.openxmlformats.org/drawingml/2006/main">
              <a:ext uri="{FF2B5EF4-FFF2-40B4-BE49-F238E27FC236}">
                <a16:creationId xmlns:a16="http://schemas.microsoft.com/office/drawing/2014/main" id="{BA8AF6C5-AC2E-4D10-BD97-77DA8996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62175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Submission checklist</a:t>
            </a:r>
          </a:p>
        </p:txBody>
      </p:sp>
      <p:sp>
        <p:nvSpPr>
          <p:cNvPr id="23" name="readiness-pill-0-shape">
            <a:extLst xmlns:a="http://schemas.openxmlformats.org/drawingml/2006/main">
              <a:ext uri="{FF2B5EF4-FFF2-40B4-BE49-F238E27FC236}">
                <a16:creationId xmlns:a16="http://schemas.microsoft.com/office/drawing/2014/main" id="{22E30BB0-5B36-451B-A902-7611B3E5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7143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eadiness-pill-0-text">
            <a:extLst xmlns:a="http://schemas.openxmlformats.org/drawingml/2006/main">
              <a:ext uri="{FF2B5EF4-FFF2-40B4-BE49-F238E27FC236}">
                <a16:creationId xmlns:a16="http://schemas.microsoft.com/office/drawing/2014/main" id="{1EF0C5A0-0E6B-48F1-883E-24B275CE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695575"/>
            <a:ext cx="504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7E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7E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E6D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25" name="readiness-text-0">
            <a:extLst xmlns:a="http://schemas.openxmlformats.org/drawingml/2006/main">
              <a:ext uri="{FF2B5EF4-FFF2-40B4-BE49-F238E27FC236}">
                <a16:creationId xmlns:a16="http://schemas.microsoft.com/office/drawing/2014/main" id="{A5F4C1D5-D991-44C8-84A4-297BCFB1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86050"/>
            <a:ext cx="1876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850"/>
          </a:bodyPr>
          <a:lstStyle xmlns:a="http://schemas.openxmlformats.org/drawingml/2006/main">
            <a:defPPr algn="l">
              <a:defRPr sz="112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Source structure and README</a:t>
            </a:r>
          </a:p>
        </p:txBody>
      </p:sp>
      <p:sp>
        <p:nvSpPr>
          <p:cNvPr id="26" name="readiness-pill-1-shape">
            <a:extLst xmlns:a="http://schemas.openxmlformats.org/drawingml/2006/main">
              <a:ext uri="{FF2B5EF4-FFF2-40B4-BE49-F238E27FC236}">
                <a16:creationId xmlns:a16="http://schemas.microsoft.com/office/drawing/2014/main" id="{32ACA114-83FC-43A1-BAF4-71CE9004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71825"/>
            <a:ext cx="7143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eadiness-pill-1-text">
            <a:extLst xmlns:a="http://schemas.openxmlformats.org/drawingml/2006/main">
              <a:ext uri="{FF2B5EF4-FFF2-40B4-BE49-F238E27FC236}">
                <a16:creationId xmlns:a16="http://schemas.microsoft.com/office/drawing/2014/main" id="{F658BBBE-A674-443C-8114-26ADE354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181350"/>
            <a:ext cx="504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7E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7E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E6D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28" name="readiness-text-1">
            <a:extLst xmlns:a="http://schemas.openxmlformats.org/drawingml/2006/main">
              <a:ext uri="{FF2B5EF4-FFF2-40B4-BE49-F238E27FC236}">
                <a16:creationId xmlns:a16="http://schemas.microsoft.com/office/drawing/2014/main" id="{1803AAAB-FB81-4E96-A4AD-EE3F0860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71825"/>
            <a:ext cx="1876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889"/>
          </a:bodyPr>
          <a:lstStyle xmlns:a="http://schemas.openxmlformats.org/drawingml/2006/main">
            <a:defPPr algn="l">
              <a:defRPr sz="112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Editable PPT presentation + diagrams</a:t>
            </a:r>
          </a:p>
        </p:txBody>
      </p:sp>
      <p:sp>
        <p:nvSpPr>
          <p:cNvPr id="29" name="readiness-pill-2-shape">
            <a:extLst xmlns:a="http://schemas.openxmlformats.org/drawingml/2006/main">
              <a:ext uri="{FF2B5EF4-FFF2-40B4-BE49-F238E27FC236}">
                <a16:creationId xmlns:a16="http://schemas.microsoft.com/office/drawing/2014/main" id="{F75322B8-0F7E-4B2F-B3EB-57F166B2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57600"/>
            <a:ext cx="7143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readiness-pill-2-text">
            <a:extLst xmlns:a="http://schemas.openxmlformats.org/drawingml/2006/main">
              <a:ext uri="{FF2B5EF4-FFF2-40B4-BE49-F238E27FC236}">
                <a16:creationId xmlns:a16="http://schemas.microsoft.com/office/drawing/2014/main" id="{F1D160D3-856A-46E4-95E3-5C4CCA81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667125"/>
            <a:ext cx="504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7E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93621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E6D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31" name="readiness-text-2">
            <a:extLst xmlns:a="http://schemas.openxmlformats.org/drawingml/2006/main">
              <a:ext uri="{FF2B5EF4-FFF2-40B4-BE49-F238E27FC236}">
                <a16:creationId xmlns:a16="http://schemas.microsoft.com/office/drawing/2014/main" id="{94C99808-94FE-4B42-B586-15492534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57600"/>
            <a:ext cx="1876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Maven WAR package built</a:t>
            </a:r>
          </a:p>
        </p:txBody>
      </p:sp>
      <p:sp>
        <p:nvSpPr>
          <p:cNvPr id="32" name="readiness-pill-3-shape">
            <a:extLst xmlns:a="http://schemas.openxmlformats.org/drawingml/2006/main">
              <a:ext uri="{FF2B5EF4-FFF2-40B4-BE49-F238E27FC236}">
                <a16:creationId xmlns:a16="http://schemas.microsoft.com/office/drawing/2014/main" id="{589D5F3E-B3DA-4A9A-A7D6-68A1162D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43375"/>
            <a:ext cx="7143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B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adiness-pill-3-text">
            <a:extLst xmlns:a="http://schemas.openxmlformats.org/drawingml/2006/main">
              <a:ext uri="{FF2B5EF4-FFF2-40B4-BE49-F238E27FC236}">
                <a16:creationId xmlns:a16="http://schemas.microsoft.com/office/drawing/2014/main" id="{E1B6DC9A-61CC-418D-9AA8-0EA238C6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152900"/>
            <a:ext cx="504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9362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93621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3621C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34" name="readiness-text-3">
            <a:extLst xmlns:a="http://schemas.openxmlformats.org/drawingml/2006/main">
              <a:ext uri="{FF2B5EF4-FFF2-40B4-BE49-F238E27FC236}">
                <a16:creationId xmlns:a16="http://schemas.microsoft.com/office/drawing/2014/main" id="{FD211454-9062-4001-8141-FC446990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1876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889"/>
          </a:bodyPr>
          <a:lstStyle xmlns:a="http://schemas.openxmlformats.org/drawingml/2006/main">
            <a:defPPr algn="l">
              <a:defRPr sz="112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Verify Tomcat; capture real UI screens</a:t>
            </a:r>
          </a:p>
        </p:txBody>
      </p:sp>
      <p:sp>
        <p:nvSpPr>
          <p:cNvPr id="35" name="readiness-pill-4-shape">
            <a:extLst xmlns:a="http://schemas.openxmlformats.org/drawingml/2006/main">
              <a:ext uri="{FF2B5EF4-FFF2-40B4-BE49-F238E27FC236}">
                <a16:creationId xmlns:a16="http://schemas.microsoft.com/office/drawing/2014/main" id="{76048D8A-CD78-4E09-A0F3-A173EF6F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29150"/>
            <a:ext cx="7143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B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readiness-pill-4-text">
            <a:extLst xmlns:a="http://schemas.openxmlformats.org/drawingml/2006/main">
              <a:ext uri="{FF2B5EF4-FFF2-40B4-BE49-F238E27FC236}">
                <a16:creationId xmlns:a16="http://schemas.microsoft.com/office/drawing/2014/main" id="{EF492F53-CD7E-4ACA-880A-EB0A6BE1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638675"/>
            <a:ext cx="504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9362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93621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3621C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37" name="readiness-text-4">
            <a:extLst xmlns:a="http://schemas.openxmlformats.org/drawingml/2006/main">
              <a:ext uri="{FF2B5EF4-FFF2-40B4-BE49-F238E27FC236}">
                <a16:creationId xmlns:a16="http://schemas.microsoft.com/office/drawing/2014/main" id="{C1E81CBA-E60A-4D1F-BBA1-BEFADC44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29150"/>
            <a:ext cx="1876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910"/>
          </a:bodyPr>
          <a:lstStyle xmlns:a="http://schemas.openxmlformats.org/drawingml/2006/main">
            <a:defPPr algn="l">
              <a:defRPr sz="112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Check GitHub access and submit</a:t>
            </a:r>
          </a:p>
        </p:txBody>
      </p:sp>
      <p:sp>
        <p:nvSpPr>
          <p:cNvPr id="38" name="deadline-strip">
            <a:extLst xmlns:a="http://schemas.openxmlformats.org/drawingml/2006/main">
              <a:ext uri="{FF2B5EF4-FFF2-40B4-BE49-F238E27FC236}">
                <a16:creationId xmlns:a16="http://schemas.microsoft.com/office/drawing/2014/main" id="{61419023-B157-4C87-9FB4-241E6E45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8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deadline-copy">
            <a:extLst xmlns:a="http://schemas.openxmlformats.org/drawingml/2006/main">
              <a:ext uri="{FF2B5EF4-FFF2-40B4-BE49-F238E27FC236}">
                <a16:creationId xmlns:a16="http://schemas.microsoft.com/office/drawing/2014/main" id="{B048D84A-4CFB-48D3-B473-22A8D01F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619750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Brief deadline: 10 Oct 2026 · 11:59 PM  |  Confirm the submission form timezone.</a:t>
            </a:r>
          </a:p>
        </p:txBody>
      </p:sp>
      <p:sp>
        <p:nvSpPr>
          <p:cNvPr id="40" name="footer-8">
            <a:extLst xmlns:a="http://schemas.openxmlformats.org/drawingml/2006/main">
              <a:ext uri="{FF2B5EF4-FFF2-40B4-BE49-F238E27FC236}">
                <a16:creationId xmlns:a16="http://schemas.microsoft.com/office/drawing/2014/main" id="{B6B55418-2658-4902-938E-AC099A2F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48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00" b="1">
                <a:solidFill>
                  <a:srgbClr val="748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848B"/>
                </a:solidFill>
                <a:latin typeface="Arial"/>
                <a:ea typeface="Arial"/>
                <a:cs typeface="Arial"/>
              </a:rPr>
              <a:t>DATAHIVE  /  AI RESEARCH WORKSPACE</a:t>
            </a:r>
          </a:p>
        </p:txBody>
      </p:sp>
      <p:sp>
        <p:nvSpPr>
          <p:cNvPr id="41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360F502A-A0D5-4E05-9655-023B8B96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48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00" b="1">
                <a:solidFill>
                  <a:srgbClr val="748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848B"/>
                </a:solidFill>
                <a:latin typeface="Arial"/>
                <a:ea typeface="Arial"/>
                <a:cs typeface="Arial"/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4817916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2026-10-08T10:28:05.9130000Z</dcterms:created>
  <dcterms:modified xsi:type="dcterms:W3CDTF">2026-10-08T10:28:05.9130000Z</dcterms:modified>
</coreProperties>
</file>